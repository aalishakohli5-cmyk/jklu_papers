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g"/>
  <Override PartName="/ppt/notesSlides/notesSlide3.xml" ContentType="application/vnd.openxmlformats-officedocument.presentationml.notesSlide+xml"/>
  <Override PartName="/ppt/media/image3.jpg" ContentType="image/jpg"/>
  <Override PartName="/ppt/notesSlides/notesSlide4.xml" ContentType="application/vnd.openxmlformats-officedocument.presentationml.notesSlide+xml"/>
  <Override PartName="/ppt/media/image5.jpg" ContentType="image/jpg"/>
  <Override PartName="/ppt/notesSlides/notesSlide5.xml" ContentType="application/vnd.openxmlformats-officedocument.presentationml.notesSlide+xml"/>
  <Override PartName="/ppt/media/image6.jpg" ContentType="image/jpg"/>
  <Override PartName="/ppt/notesSlides/notesSlide6.xml" ContentType="application/vnd.openxmlformats-officedocument.presentationml.notesSlide+xml"/>
  <Override PartName="/ppt/media/image7.jpg" ContentType="image/jpg"/>
  <Override PartName="/ppt/notesSlides/notesSlide7.xml" ContentType="application/vnd.openxmlformats-officedocument.presentationml.notesSlide+xml"/>
  <Override PartName="/ppt/media/image8.jpg" ContentType="image/jpg"/>
  <Override PartName="/ppt/notesSlides/notesSlide8.xml" ContentType="application/vnd.openxmlformats-officedocument.presentationml.notesSlide+xml"/>
  <Override PartName="/ppt/media/image9.jpg" ContentType="image/jpg"/>
  <Override PartName="/ppt/notesSlides/notesSlide9.xml" ContentType="application/vnd.openxmlformats-officedocument.presentationml.notesSlide+xml"/>
  <Override PartName="/ppt/media/image10.jpg" ContentType="image/jpg"/>
  <Override PartName="/ppt/notesSlides/notesSlide10.xml" ContentType="application/vnd.openxmlformats-officedocument.presentationml.notesSlide+xml"/>
  <Override PartName="/ppt/media/image11.jpg" ContentType="image/jpg"/>
  <Override PartName="/ppt/notesSlides/notesSlide11.xml" ContentType="application/vnd.openxmlformats-officedocument.presentationml.notesSlide+xml"/>
  <Override PartName="/ppt/media/image12.jpg" ContentType="image/jp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image13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14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6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5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9333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4602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0199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1066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2176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9402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7015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3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1579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6727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0720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6353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73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00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2646406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46521-50E1-4E3B-41C9-BE2FEF2957CD}"/>
              </a:ext>
            </a:extLst>
          </p:cNvPr>
          <p:cNvSpPr txBox="1"/>
          <p:nvPr/>
        </p:nvSpPr>
        <p:spPr>
          <a:xfrm>
            <a:off x="3855176" y="770952"/>
            <a:ext cx="4562781" cy="2783921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900" cap="all">
                <a:latin typeface="+mj-lt"/>
                <a:ea typeface="+mj-ea"/>
                <a:cs typeface="+mj-cs"/>
              </a:rPr>
              <a:t>Evolution of Bharatavarsha / Terms associated with the geography of the Indian subcontinent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031343"/>
            <a:ext cx="0" cy="226314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94ECC3-4348-263C-05FC-239F8307091A}"/>
              </a:ext>
            </a:extLst>
          </p:cNvPr>
          <p:cNvSpPr txBox="1"/>
          <p:nvPr/>
        </p:nvSpPr>
        <p:spPr>
          <a:xfrm>
            <a:off x="934830" y="1180319"/>
            <a:ext cx="2491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INDIAN KNOWLEDGE</a:t>
            </a:r>
          </a:p>
          <a:p>
            <a:pPr algn="ctr"/>
            <a:r>
              <a:rPr lang="en-US" dirty="0"/>
              <a:t>SYSTEMS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5BA523-819A-070A-E7AD-9FD72B4FB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133350"/>
            <a:ext cx="8960757" cy="494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0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A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20040"/>
            <a:ext cx="8138160" cy="4503420"/>
          </a:xfrm>
          <a:prstGeom prst="rect">
            <a:avLst/>
          </a:prstGeom>
          <a:solidFill>
            <a:srgbClr val="FBFBF6"/>
          </a:solidFill>
          <a:ln w="12700">
            <a:solidFill>
              <a:srgbClr val="8B9A3E"/>
            </a:solidFill>
            <a:prstDash val="solid"/>
          </a:ln>
          <a:effectLst>
            <a:outerShdw blurRad="1016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4879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Rise of Nationalism in India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During World War 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325880" y="2827782"/>
            <a:ext cx="6492240" cy="0"/>
          </a:xfrm>
          <a:prstGeom prst="line">
            <a:avLst/>
          </a:prstGeom>
          <a:noFill/>
          <a:ln w="12700">
            <a:solidFill>
              <a:srgbClr val="8B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93751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1914 – 1919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A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20040"/>
            <a:ext cx="8138160" cy="4503420"/>
          </a:xfrm>
          <a:prstGeom prst="rect">
            <a:avLst/>
          </a:prstGeom>
          <a:solidFill>
            <a:srgbClr val="FBFBF6"/>
          </a:solidFill>
          <a:ln w="12700">
            <a:solidFill>
              <a:srgbClr val="8B9A3E"/>
            </a:solidFill>
            <a:prstDash val="solid"/>
          </a:ln>
          <a:effectLst>
            <a:outerShdw blurRad="1016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 and the Great War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216152"/>
            <a:ext cx="7498080" cy="0"/>
          </a:xfrm>
          <a:prstGeom prst="line">
            <a:avLst/>
          </a:prstGeom>
          <a:noFill/>
          <a:ln w="12700">
            <a:solidFill>
              <a:srgbClr val="8B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 1.3 million Indian troops and labourers served overseas in WWI (1914–1918)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 supplied grain, raw materials, and finances to support the British war effort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Indian leaders expected greater self-governance in return for wartime loyalty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Rising prices, wartime taxation, and food shortages fuelled discontent at home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A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20040"/>
            <a:ext cx="8138160" cy="4503420"/>
          </a:xfrm>
          <a:prstGeom prst="rect">
            <a:avLst/>
          </a:prstGeom>
          <a:solidFill>
            <a:srgbClr val="FBFBF6"/>
          </a:solidFill>
          <a:ln w="12700">
            <a:solidFill>
              <a:srgbClr val="8B9A3E"/>
            </a:solidFill>
            <a:prstDash val="solid"/>
          </a:ln>
          <a:effectLst>
            <a:outerShdw blurRad="1016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Home Rule Movement (1916)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216152"/>
            <a:ext cx="7498080" cy="0"/>
          </a:xfrm>
          <a:prstGeom prst="line">
            <a:avLst/>
          </a:prstGeom>
          <a:noFill/>
          <a:ln w="12700">
            <a:solidFill>
              <a:srgbClr val="8B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Bal Gangadhar Tilak launched the Indian Home Rule League in April 1916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Annie Besant founded a parallel Home Rule League in September 1916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Demanded home rule (self-government) for India within the British Empire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“Swaraj is my birthright, and I shall have it” – Tilak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Spread nationalist sentiment beyond elite circles into towns and districts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A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20040"/>
            <a:ext cx="8138160" cy="4503420"/>
          </a:xfrm>
          <a:prstGeom prst="rect">
            <a:avLst/>
          </a:prstGeom>
          <a:solidFill>
            <a:srgbClr val="FBFBF6"/>
          </a:solidFill>
          <a:ln w="12700">
            <a:solidFill>
              <a:srgbClr val="8B9A3E"/>
            </a:solidFill>
            <a:prstDash val="solid"/>
          </a:ln>
          <a:effectLst>
            <a:outerShdw blurRad="1016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Lucknow Pact (1916)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216152"/>
            <a:ext cx="7498080" cy="0"/>
          </a:xfrm>
          <a:prstGeom prst="line">
            <a:avLst/>
          </a:prstGeom>
          <a:noFill/>
          <a:ln w="12700">
            <a:solidFill>
              <a:srgbClr val="8B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Indian National Congress and the All-India Muslim League came together at Lucknow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Agreed on a joint scheme of constitutional reforms and separate electorates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Marked a rare moment of Hindu–Muslim political unity against colonial rule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Tilak, Besant, and Jinnah were key figures in negotiating the pact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A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20040"/>
            <a:ext cx="8138160" cy="4503420"/>
          </a:xfrm>
          <a:prstGeom prst="rect">
            <a:avLst/>
          </a:prstGeom>
          <a:solidFill>
            <a:srgbClr val="FBFBF6"/>
          </a:solidFill>
          <a:ln w="12700">
            <a:solidFill>
              <a:srgbClr val="8B9A3E"/>
            </a:solidFill>
            <a:prstDash val="solid"/>
          </a:ln>
          <a:effectLst>
            <a:outerShdw blurRad="1016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Montagu Declaration &amp; Rowlatt Act (1917–19)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216152"/>
            <a:ext cx="7498080" cy="0"/>
          </a:xfrm>
          <a:prstGeom prst="line">
            <a:avLst/>
          </a:prstGeom>
          <a:noFill/>
          <a:ln w="12700">
            <a:solidFill>
              <a:srgbClr val="8B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1917: Secretary of State Montagu promised “responsible government” by stages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Montford Reforms (1919) fell far short of nationalist expectations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Rowlatt Act (1919) allowed detention without trial, curbing civil liberties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Widely condemned as the “Black Act”; sparked hartals and mass protest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A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20040"/>
            <a:ext cx="8138160" cy="4503420"/>
          </a:xfrm>
          <a:prstGeom prst="rect">
            <a:avLst/>
          </a:prstGeom>
          <a:solidFill>
            <a:srgbClr val="FBFBF6"/>
          </a:solidFill>
          <a:ln w="12700">
            <a:solidFill>
              <a:srgbClr val="8B9A3E"/>
            </a:solidFill>
            <a:prstDash val="solid"/>
          </a:ln>
          <a:effectLst>
            <a:outerShdw blurRad="1016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Jallianwala Bagh Massacre (1919)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216152"/>
            <a:ext cx="7498080" cy="0"/>
          </a:xfrm>
          <a:prstGeom prst="line">
            <a:avLst/>
          </a:prstGeom>
          <a:noFill/>
          <a:ln w="12700">
            <a:solidFill>
              <a:srgbClr val="8B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 April 1919: British troops under General Dyer fired on an unarmed crowd in Amritsar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Hundreds killed and many more wounded at the enclosed Jallianwala Bagh garden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Provoked nationwide outrage and discrediting of British claims to just rule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Rabindranath Tagore renounced his knighthood in protest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A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2011680"/>
            <a:ext cx="1005840" cy="1005840"/>
          </a:xfrm>
          <a:prstGeom prst="rect">
            <a:avLst/>
          </a:prstGeom>
          <a:solidFill>
            <a:srgbClr val="352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20040"/>
            <a:ext cx="8138160" cy="4503420"/>
          </a:xfrm>
          <a:prstGeom prst="rect">
            <a:avLst/>
          </a:prstGeom>
          <a:solidFill>
            <a:srgbClr val="FBFBF6"/>
          </a:solidFill>
          <a:ln w="12700">
            <a:solidFill>
              <a:srgbClr val="8B9A3E"/>
            </a:solidFill>
            <a:prstDash val="solid"/>
          </a:ln>
          <a:effectLst>
            <a:outerShdw blurRad="1016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Khilafat &amp; Non-Cooperation (1919–20)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216152"/>
            <a:ext cx="7498080" cy="0"/>
          </a:xfrm>
          <a:prstGeom prst="line">
            <a:avLst/>
          </a:prstGeom>
          <a:noFill/>
          <a:ln w="12700">
            <a:solidFill>
              <a:srgbClr val="8B9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Khilafat Movement: Indian Muslims protested the treatment of the Ottoman Caliph after WWI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Gandhi united the Khilafat cause with the nationalist movement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1920: Indian National Congress launched the Non-Cooperation Movement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Mass, countrywide participation transformed nationalism into a popular struggle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 the stage for the mass movements of the 1920s and beyond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rigslide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</TotalTime>
  <Words>395</Words>
  <Application>Microsoft Macintosh PowerPoint</Application>
  <PresentationFormat>On-screen Show (16:9)</PresentationFormat>
  <Paragraphs>57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Bookman Old Style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MISHRA</cp:lastModifiedBy>
  <cp:revision>5</cp:revision>
  <dcterms:created xsi:type="dcterms:W3CDTF">2026-07-22T15:19:22Z</dcterms:created>
  <dcterms:modified xsi:type="dcterms:W3CDTF">2026-08-04T07:05:35Z</dcterms:modified>
</cp:coreProperties>
</file>