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media/image2.jpg" ContentType="image/jpg"/>
  <Override PartName="/ppt/notesSlides/notesSlide3.xml" ContentType="application/vnd.openxmlformats-officedocument.presentationml.notesSlide+xml"/>
  <Override PartName="/ppt/media/image3.jpg" ContentType="image/jpg"/>
  <Override PartName="/ppt/notesSlides/notesSlide4.xml" ContentType="application/vnd.openxmlformats-officedocument.presentationml.notesSlide+xml"/>
  <Override PartName="/ppt/media/image5.jpg" ContentType="image/jpg"/>
  <Override PartName="/ppt/notesSlides/notesSlide5.xml" ContentType="application/vnd.openxmlformats-officedocument.presentationml.notesSlide+xml"/>
  <Override PartName="/ppt/media/image6.jpg" ContentType="image/jpg"/>
  <Override PartName="/ppt/notesSlides/notesSlide6.xml" ContentType="application/vnd.openxmlformats-officedocument.presentationml.notesSlide+xml"/>
  <Override PartName="/ppt/media/image7.jpg" ContentType="image/jpg"/>
  <Override PartName="/ppt/notesSlides/notesSlide7.xml" ContentType="application/vnd.openxmlformats-officedocument.presentationml.notesSlide+xml"/>
  <Override PartName="/ppt/media/image8.jpg" ContentType="image/jpg"/>
  <Override PartName="/ppt/notesSlides/notesSlide8.xml" ContentType="application/vnd.openxmlformats-officedocument.presentationml.notesSlide+xml"/>
  <Override PartName="/ppt/media/image9.jpg" ContentType="image/jpg"/>
  <Override PartName="/ppt/notesSlides/notesSlide9.xml" ContentType="application/vnd.openxmlformats-officedocument.presentationml.notesSlide+xml"/>
  <Override PartName="/ppt/media/image10.jpg" ContentType="image/jpg"/>
  <Override PartName="/ppt/notesSlides/notesSlide10.xml" ContentType="application/vnd.openxmlformats-officedocument.presentationml.notesSlide+xml"/>
  <Override PartName="/ppt/media/image11.jpg" ContentType="image/jpg"/>
  <Override PartName="/ppt/notesSlides/notesSlide11.xml" ContentType="application/vnd.openxmlformats-officedocument.presentationml.notesSlide+xml"/>
  <Override PartName="/ppt/media/image12.jpg" ContentType="image/jpg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media/image13.jpg" ContentType="image/jp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7" r:id="rId1"/>
  </p:sldMasterIdLst>
  <p:notesMasterIdLst>
    <p:notesMasterId r:id="rId22"/>
  </p:notesMasterIdLst>
  <p:sldIdLst>
    <p:sldId id="256" r:id="rId2"/>
    <p:sldId id="257" r:id="rId3"/>
    <p:sldId id="258" r:id="rId4"/>
    <p:sldId id="275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31"/>
    <p:restoredTop sz="94610"/>
  </p:normalViewPr>
  <p:slideViewPr>
    <p:cSldViewPr snapToGrid="0" snapToObjects="1">
      <p:cViewPr varScale="1">
        <p:scale>
          <a:sx n="191" d="100"/>
          <a:sy n="191" d="100"/>
        </p:scale>
        <p:origin x="2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0654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13335" y="601724"/>
            <a:ext cx="6477805" cy="1906073"/>
          </a:xfrm>
        </p:spPr>
        <p:txBody>
          <a:bodyPr bIns="0" anchor="b">
            <a:normAutofit/>
          </a:bodyPr>
          <a:lstStyle>
            <a:lvl1pPr algn="l">
              <a:defRPr sz="49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3335" y="2648403"/>
            <a:ext cx="6477804" cy="733216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35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12376" y="246981"/>
            <a:ext cx="3730436" cy="2319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8249" y="599230"/>
            <a:ext cx="608264" cy="377684"/>
          </a:xfr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813335" y="2646407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993338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446021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0679" y="1317097"/>
            <a:ext cx="6482366" cy="1415963"/>
          </a:xfrm>
        </p:spPr>
        <p:txBody>
          <a:bodyPr anchor="b">
            <a:normAutofit/>
          </a:bodyPr>
          <a:lstStyle>
            <a:lvl1pPr algn="l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0679" y="2854647"/>
            <a:ext cx="6472835" cy="759697"/>
          </a:xfrm>
        </p:spPr>
        <p:txBody>
          <a:bodyPr tIns="91440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90679" y="2853739"/>
            <a:ext cx="647283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501996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6913" y="603667"/>
            <a:ext cx="7204226" cy="794479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85498" y="1508159"/>
            <a:ext cx="3483864" cy="258644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10328" y="1513007"/>
            <a:ext cx="3483864" cy="258114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610662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5394" y="603123"/>
            <a:ext cx="7205746" cy="792239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5393" y="1514662"/>
            <a:ext cx="3483864" cy="60145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5393" y="2118202"/>
            <a:ext cx="3483864" cy="198334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9272" y="1517253"/>
            <a:ext cx="3483864" cy="60167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09272" y="2116119"/>
            <a:ext cx="3483864" cy="197802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321764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894022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370157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3504" y="599230"/>
            <a:ext cx="2454824" cy="1685338"/>
          </a:xfrm>
        </p:spPr>
        <p:txBody>
          <a:bodyPr anchor="b">
            <a:normAutofit/>
          </a:bodyPr>
          <a:lstStyle>
            <a:lvl1pPr algn="l"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2785" y="599230"/>
            <a:ext cx="4509353" cy="3494120"/>
          </a:xfrm>
        </p:spPr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3503" y="2404119"/>
            <a:ext cx="2456260" cy="1686136"/>
          </a:xfrm>
        </p:spPr>
        <p:txBody>
          <a:bodyPr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086210" y="2404118"/>
            <a:ext cx="2452118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815796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5608041" y="361628"/>
            <a:ext cx="3055900" cy="3861826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8405" y="847135"/>
            <a:ext cx="4149246" cy="1372938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3292" y="841907"/>
            <a:ext cx="2093378" cy="2899745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7747" y="2359494"/>
            <a:ext cx="4143303" cy="1502807"/>
          </a:xfrm>
        </p:spPr>
        <p:txBody>
          <a:bodyPr>
            <a:normAutofit/>
          </a:bodyPr>
          <a:lstStyle>
            <a:lvl1pPr marL="0" indent="0" algn="l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85537" y="4102393"/>
            <a:ext cx="4145513" cy="240092"/>
          </a:xfrm>
        </p:spPr>
        <p:txBody>
          <a:bodyPr/>
          <a:lstStyle>
            <a:lvl1pPr algn="l">
              <a:defRPr/>
            </a:lvl1pPr>
          </a:lstStyle>
          <a:p>
            <a:fld id="{C764DE79-268F-4C1A-8933-263129D2AF90}" type="datetimeFigureOut">
              <a:rPr lang="en-US" smtClean="0"/>
              <a:t>10/12/26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85537" y="238981"/>
            <a:ext cx="4155753" cy="24069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085537" y="2357704"/>
            <a:ext cx="414551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267273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6072032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79333" y="599230"/>
            <a:ext cx="1211807" cy="3494917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83504" y="599230"/>
            <a:ext cx="5871623" cy="349491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7079333" y="599230"/>
            <a:ext cx="0" cy="3494917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363538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2738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14607"/>
            <a:ext cx="9144000" cy="3079456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3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88685" y="603390"/>
            <a:ext cx="7202456" cy="7869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8685" y="1511799"/>
            <a:ext cx="7202456" cy="25879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5604" y="247778"/>
            <a:ext cx="26255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684" y="246981"/>
            <a:ext cx="445412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0046" y="599230"/>
            <a:ext cx="608264" cy="37768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100">
                <a:solidFill>
                  <a:schemeClr val="accent1"/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4596310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9002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69" r:id="rId2"/>
    <p:sldLayoutId id="2147483770" r:id="rId3"/>
    <p:sldLayoutId id="2147483771" r:id="rId4"/>
    <p:sldLayoutId id="2147483772" r:id="rId5"/>
    <p:sldLayoutId id="2147483773" r:id="rId6"/>
    <p:sldLayoutId id="2147483774" r:id="rId7"/>
    <p:sldLayoutId id="2147483775" r:id="rId8"/>
    <p:sldLayoutId id="2147483776" r:id="rId9"/>
    <p:sldLayoutId id="2147483777" r:id="rId10"/>
    <p:sldLayoutId id="2147483778" r:id="rId11"/>
    <p:sldLayoutId id="2147483779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5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3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0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3522FE7-5A29-4EF6-B1EF-2CA55748A7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2192E09-EBC7-416C-B887-DFF915D7F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924498D-E084-44BE-A196-CFCE35564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BBC7667-C352-4842-9AFD-E5C16AD002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813335" y="2646406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EE485E7-7D6D-4CB0-A3AD-261D97B2E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55E3208-F0C4-4962-8946-065C94F89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A46521-50E1-4E3B-41C9-BE2FEF2957CD}"/>
              </a:ext>
            </a:extLst>
          </p:cNvPr>
          <p:cNvSpPr txBox="1"/>
          <p:nvPr/>
        </p:nvSpPr>
        <p:spPr>
          <a:xfrm>
            <a:off x="3855176" y="770952"/>
            <a:ext cx="4562781" cy="2783921"/>
          </a:xfrm>
          <a:prstGeom prst="rect">
            <a:avLst/>
          </a:prstGeom>
        </p:spPr>
        <p:txBody>
          <a:bodyPr vert="horz" lIns="91440" tIns="45720" rIns="91440" bIns="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900" cap="all">
                <a:latin typeface="+mj-lt"/>
                <a:ea typeface="+mj-ea"/>
                <a:cs typeface="+mj-cs"/>
              </a:rPr>
              <a:t>Evolution of Bharatavarsha / Terms associated with the geography of the Indian subcontinent 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FAE17D3-C2DC-4665-AF20-33C5BACD5E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031343"/>
            <a:ext cx="0" cy="226314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Picture 24">
            <a:extLst>
              <a:ext uri="{FF2B5EF4-FFF2-40B4-BE49-F238E27FC236}">
                <a16:creationId xmlns:a16="http://schemas.microsoft.com/office/drawing/2014/main" id="{7021C573-B3FF-44B8-A5DE-AB39E9AA6B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0B0CCD4-E9B0-43B2-806F-05EDF57A7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94ECC3-4348-263C-05FC-239F8307091A}"/>
              </a:ext>
            </a:extLst>
          </p:cNvPr>
          <p:cNvSpPr txBox="1"/>
          <p:nvPr/>
        </p:nvSpPr>
        <p:spPr>
          <a:xfrm>
            <a:off x="934830" y="1180319"/>
            <a:ext cx="24917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INDIAN KNOWLEDGE</a:t>
            </a:r>
          </a:p>
          <a:p>
            <a:pPr algn="ctr"/>
            <a:r>
              <a:rPr lang="en-US" dirty="0"/>
              <a:t>SYSTEMS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origslide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origslide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3419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B5BA523-819A-070A-E7AD-9FD72B4FB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" y="133350"/>
            <a:ext cx="8960757" cy="4944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102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origslide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origslide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origslide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origslide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origslide-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origslide-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origslide-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origslide-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A9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2011680"/>
            <a:ext cx="1005840" cy="1005840"/>
          </a:xfrm>
          <a:prstGeom prst="rect">
            <a:avLst/>
          </a:prstGeom>
          <a:solidFill>
            <a:srgbClr val="352A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412480" y="2011680"/>
            <a:ext cx="1005840" cy="1005840"/>
          </a:xfrm>
          <a:prstGeom prst="rect">
            <a:avLst/>
          </a:prstGeom>
          <a:solidFill>
            <a:srgbClr val="352A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02920" y="320040"/>
            <a:ext cx="8138160" cy="4503420"/>
          </a:xfrm>
          <a:prstGeom prst="rect">
            <a:avLst/>
          </a:prstGeom>
          <a:solidFill>
            <a:srgbClr val="FBFBF6"/>
          </a:solidFill>
          <a:ln w="12700">
            <a:solidFill>
              <a:srgbClr val="8B9A3E"/>
            </a:solidFill>
            <a:prstDash val="solid"/>
          </a:ln>
          <a:effectLst>
            <a:outerShdw blurRad="101600" dist="508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1748790"/>
            <a:ext cx="7406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2B2B2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Rise of Nationalism in India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dirty="0">
                <a:solidFill>
                  <a:srgbClr val="2B2B2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During World War I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1325880" y="2827782"/>
            <a:ext cx="6492240" cy="0"/>
          </a:xfrm>
          <a:prstGeom prst="line">
            <a:avLst/>
          </a:prstGeom>
          <a:noFill/>
          <a:ln w="12700">
            <a:solidFill>
              <a:srgbClr val="8B9A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8680" y="293751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1914 – 1919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8A9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2011680"/>
            <a:ext cx="1005840" cy="1005840"/>
          </a:xfrm>
          <a:prstGeom prst="rect">
            <a:avLst/>
          </a:prstGeom>
          <a:solidFill>
            <a:srgbClr val="352A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412480" y="2011680"/>
            <a:ext cx="1005840" cy="1005840"/>
          </a:xfrm>
          <a:prstGeom prst="rect">
            <a:avLst/>
          </a:prstGeom>
          <a:solidFill>
            <a:srgbClr val="352A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02920" y="320040"/>
            <a:ext cx="8138160" cy="4503420"/>
          </a:xfrm>
          <a:prstGeom prst="rect">
            <a:avLst/>
          </a:prstGeom>
          <a:solidFill>
            <a:srgbClr val="FBFBF6"/>
          </a:solidFill>
          <a:ln w="12700">
            <a:solidFill>
              <a:srgbClr val="8B9A3E"/>
            </a:solidFill>
            <a:prstDash val="solid"/>
          </a:ln>
          <a:effectLst>
            <a:outerShdw blurRad="101600" dist="508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2B2B2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India and the Great War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216152"/>
            <a:ext cx="7498080" cy="0"/>
          </a:xfrm>
          <a:prstGeom prst="line">
            <a:avLst/>
          </a:prstGeom>
          <a:noFill/>
          <a:ln w="12700">
            <a:solidFill>
              <a:srgbClr val="8B9A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417320"/>
            <a:ext cx="7498080" cy="31318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Over 1.3 million Indian troops and labourers served overseas in WWI (1914–1918)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India supplied grain, raw materials, and finances to support the British war effort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Indian leaders expected greater self-governance in return for wartime loyalty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Rising prices, wartime taxation, and food shortages fuelled discontent at home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A9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2011680"/>
            <a:ext cx="1005840" cy="1005840"/>
          </a:xfrm>
          <a:prstGeom prst="rect">
            <a:avLst/>
          </a:prstGeom>
          <a:solidFill>
            <a:srgbClr val="352A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412480" y="2011680"/>
            <a:ext cx="1005840" cy="1005840"/>
          </a:xfrm>
          <a:prstGeom prst="rect">
            <a:avLst/>
          </a:prstGeom>
          <a:solidFill>
            <a:srgbClr val="352A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02920" y="320040"/>
            <a:ext cx="8138160" cy="4503420"/>
          </a:xfrm>
          <a:prstGeom prst="rect">
            <a:avLst/>
          </a:prstGeom>
          <a:solidFill>
            <a:srgbClr val="FBFBF6"/>
          </a:solidFill>
          <a:ln w="12700">
            <a:solidFill>
              <a:srgbClr val="8B9A3E"/>
            </a:solidFill>
            <a:prstDash val="solid"/>
          </a:ln>
          <a:effectLst>
            <a:outerShdw blurRad="101600" dist="508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2B2B2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Home Rule Movement (1916)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216152"/>
            <a:ext cx="7498080" cy="0"/>
          </a:xfrm>
          <a:prstGeom prst="line">
            <a:avLst/>
          </a:prstGeom>
          <a:noFill/>
          <a:ln w="12700">
            <a:solidFill>
              <a:srgbClr val="8B9A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417320"/>
            <a:ext cx="7498080" cy="31318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Bal Gangadhar Tilak launched the Indian Home Rule League in April 1916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Annie Besant founded a parallel Home Rule League in September 1916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Demanded home rule (self-government) for India within the British Empire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“Swaraj is my birthright, and I shall have it” – Tilak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Spread nationalist sentiment beyond elite circles into towns and districts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8A9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2011680"/>
            <a:ext cx="1005840" cy="1005840"/>
          </a:xfrm>
          <a:prstGeom prst="rect">
            <a:avLst/>
          </a:prstGeom>
          <a:solidFill>
            <a:srgbClr val="352A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412480" y="2011680"/>
            <a:ext cx="1005840" cy="1005840"/>
          </a:xfrm>
          <a:prstGeom prst="rect">
            <a:avLst/>
          </a:prstGeom>
          <a:solidFill>
            <a:srgbClr val="352A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02920" y="320040"/>
            <a:ext cx="8138160" cy="4503420"/>
          </a:xfrm>
          <a:prstGeom prst="rect">
            <a:avLst/>
          </a:prstGeom>
          <a:solidFill>
            <a:srgbClr val="FBFBF6"/>
          </a:solidFill>
          <a:ln w="12700">
            <a:solidFill>
              <a:srgbClr val="8B9A3E"/>
            </a:solidFill>
            <a:prstDash val="solid"/>
          </a:ln>
          <a:effectLst>
            <a:outerShdw blurRad="101600" dist="508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2B2B2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Lucknow Pact (1916)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216152"/>
            <a:ext cx="7498080" cy="0"/>
          </a:xfrm>
          <a:prstGeom prst="line">
            <a:avLst/>
          </a:prstGeom>
          <a:noFill/>
          <a:ln w="12700">
            <a:solidFill>
              <a:srgbClr val="8B9A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417320"/>
            <a:ext cx="7498080" cy="31318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Indian National Congress and the All-India Muslim League came together at Lucknow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Agreed on a joint scheme of constitutional reforms and separate electorates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Marked a rare moment of Hindu–Muslim political unity against colonial rule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Tilak, Besant, and Jinnah were key figures in negotiating the pact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A9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2011680"/>
            <a:ext cx="1005840" cy="1005840"/>
          </a:xfrm>
          <a:prstGeom prst="rect">
            <a:avLst/>
          </a:prstGeom>
          <a:solidFill>
            <a:srgbClr val="352A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412480" y="2011680"/>
            <a:ext cx="1005840" cy="1005840"/>
          </a:xfrm>
          <a:prstGeom prst="rect">
            <a:avLst/>
          </a:prstGeom>
          <a:solidFill>
            <a:srgbClr val="352A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02920" y="320040"/>
            <a:ext cx="8138160" cy="4503420"/>
          </a:xfrm>
          <a:prstGeom prst="rect">
            <a:avLst/>
          </a:prstGeom>
          <a:solidFill>
            <a:srgbClr val="FBFBF6"/>
          </a:solidFill>
          <a:ln w="12700">
            <a:solidFill>
              <a:srgbClr val="8B9A3E"/>
            </a:solidFill>
            <a:prstDash val="solid"/>
          </a:ln>
          <a:effectLst>
            <a:outerShdw blurRad="101600" dist="508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2B2B2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Montagu Declaration &amp; Rowlatt Act (1917–19)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216152"/>
            <a:ext cx="7498080" cy="0"/>
          </a:xfrm>
          <a:prstGeom prst="line">
            <a:avLst/>
          </a:prstGeom>
          <a:noFill/>
          <a:ln w="12700">
            <a:solidFill>
              <a:srgbClr val="8B9A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417320"/>
            <a:ext cx="7498080" cy="31318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1917: Secretary of State Montagu promised “responsible government” by stages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Montford Reforms (1919) fell far short of nationalist expectations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Rowlatt Act (1919) allowed detention without trial, curbing civil liberties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Widely condemned as the “Black Act”; sparked hartals and mass protest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A9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2011680"/>
            <a:ext cx="1005840" cy="1005840"/>
          </a:xfrm>
          <a:prstGeom prst="rect">
            <a:avLst/>
          </a:prstGeom>
          <a:solidFill>
            <a:srgbClr val="352A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412480" y="2011680"/>
            <a:ext cx="1005840" cy="1005840"/>
          </a:xfrm>
          <a:prstGeom prst="rect">
            <a:avLst/>
          </a:prstGeom>
          <a:solidFill>
            <a:srgbClr val="352A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02920" y="320040"/>
            <a:ext cx="8138160" cy="4503420"/>
          </a:xfrm>
          <a:prstGeom prst="rect">
            <a:avLst/>
          </a:prstGeom>
          <a:solidFill>
            <a:srgbClr val="FBFBF6"/>
          </a:solidFill>
          <a:ln w="12700">
            <a:solidFill>
              <a:srgbClr val="8B9A3E"/>
            </a:solidFill>
            <a:prstDash val="solid"/>
          </a:ln>
          <a:effectLst>
            <a:outerShdw blurRad="101600" dist="508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2B2B2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Jallianwala Bagh Massacre (1919)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216152"/>
            <a:ext cx="7498080" cy="0"/>
          </a:xfrm>
          <a:prstGeom prst="line">
            <a:avLst/>
          </a:prstGeom>
          <a:noFill/>
          <a:ln w="12700">
            <a:solidFill>
              <a:srgbClr val="8B9A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417320"/>
            <a:ext cx="7498080" cy="31318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 April 1919: British troops under General Dyer fired on an unarmed crowd in Amritsar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Hundreds killed and many more wounded at the enclosed Jallianwala Bagh garden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Provoked nationwide outrage and discrediting of British claims to just rule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Rabindranath Tagore renounced his knighthood in protest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8A9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2011680"/>
            <a:ext cx="1005840" cy="1005840"/>
          </a:xfrm>
          <a:prstGeom prst="rect">
            <a:avLst/>
          </a:prstGeom>
          <a:solidFill>
            <a:srgbClr val="352A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412480" y="2011680"/>
            <a:ext cx="1005840" cy="1005840"/>
          </a:xfrm>
          <a:prstGeom prst="rect">
            <a:avLst/>
          </a:prstGeom>
          <a:solidFill>
            <a:srgbClr val="352A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02920" y="320040"/>
            <a:ext cx="8138160" cy="4503420"/>
          </a:xfrm>
          <a:prstGeom prst="rect">
            <a:avLst/>
          </a:prstGeom>
          <a:solidFill>
            <a:srgbClr val="FBFBF6"/>
          </a:solidFill>
          <a:ln w="12700">
            <a:solidFill>
              <a:srgbClr val="8B9A3E"/>
            </a:solidFill>
            <a:prstDash val="solid"/>
          </a:ln>
          <a:effectLst>
            <a:outerShdw blurRad="101600" dist="508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54864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2B2B2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Khilafat &amp; Non-Cooperation (1919–20)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216152"/>
            <a:ext cx="7498080" cy="0"/>
          </a:xfrm>
          <a:prstGeom prst="line">
            <a:avLst/>
          </a:prstGeom>
          <a:noFill/>
          <a:ln w="12700">
            <a:solidFill>
              <a:srgbClr val="8B9A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417320"/>
            <a:ext cx="7498080" cy="31318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Khilafat Movement: Indian Muslims protested the treatment of the Ottoman Caliph after WWI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Gandhi united the Khilafat cause with the nationalist movement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1920: Indian National Congress launched the Non-Cooperation Movement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Mass, countrywide participation transformed nationalism into a popular struggle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Set the stage for the mass movements of the 1920s and beyond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origslide-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73</TotalTime>
  <Words>395</Words>
  <Application>Microsoft Macintosh PowerPoint</Application>
  <PresentationFormat>On-screen Show (16:9)</PresentationFormat>
  <Paragraphs>57</Paragraphs>
  <Slides>20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Bookman Old Style</vt:lpstr>
      <vt:lpstr>Gill Sans MT</vt:lpstr>
      <vt:lpstr>Gallery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aalisha kohli</cp:lastModifiedBy>
  <cp:revision>6</cp:revision>
  <dcterms:created xsi:type="dcterms:W3CDTF">2026-07-22T15:19:22Z</dcterms:created>
  <dcterms:modified xsi:type="dcterms:W3CDTF">2026-10-12T15:11:15Z</dcterms:modified>
</cp:coreProperties>
</file>