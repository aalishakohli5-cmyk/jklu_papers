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2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8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594360"/>
            <a:ext cx="1371600" cy="13716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jainism/icons/lio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854964"/>
            <a:ext cx="850392" cy="850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1460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JAINISM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35204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D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Mahavira  •  The Early Texts  •  Philosophy &amp; Education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6th – 4th Century BCE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World of Mahavira: 6th-Century BCE India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India was a landscape of new cities, trade wealth, and expanding kingdoms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Vedic Brahmanism dominated religious life, centered on ritual sacrifice and caste hierarchy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wave of shramana movements — wandering renunciants — rejected ritualism in favor of ascetic discipline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tradition holds that Mahavira was the 24th and final Tirthankara (“ford-maker”) in a lineage stretching back to Rishabhanatha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23rd Tirthankara, Parshvanatha, had taught a community centuries earlier that Mahavira's family already followed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03720" y="1828800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0" y="21031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976872" y="2971800"/>
            <a:ext cx="1453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Tirthankaras in the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lineage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705088" y="1828800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50808" y="21031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6th c.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778240" y="2971800"/>
            <a:ext cx="1453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— age of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philosophies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06456" y="1828800"/>
            <a:ext cx="1600200" cy="3200400"/>
          </a:xfrm>
          <a:prstGeom prst="roundRect">
            <a:avLst>
              <a:gd name="adj" fmla="val 4571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52176" y="21031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Shramanas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579608" y="2971800"/>
            <a:ext cx="14538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renunciants seeking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68880"/>
            <a:ext cx="1737360" cy="173736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jainism/icons/l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816352"/>
            <a:ext cx="1042416" cy="1042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464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D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834640" y="2926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Mahavira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834640" y="37947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prince Vardhamana to the Jina, the Great Hero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MAHAVIRA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Birth and Early Life of Vardhamana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6</a:t>
            </a:r>
            <a:r>
              <a:rPr lang="en-US" sz="1400" baseline="300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Century BCE in Kundagrama, near Vaishali, to King Siddhartha and Queen Trishala of the Kshatriya Jnatr clan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name Vardhamana (“the ever-increasing”), as the kingdom is said to have prospered after his birth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texts describe auspicious signs at his conception and birth, celebrated among the gods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in royal comfort, and — according to Svetambara tradition — married Yashoda and had a daughter, Priyadarshana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youth, he displayed unusual courage and detachment, foreshadowing his renunciant path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828800"/>
            <a:ext cx="3840480" cy="4114800"/>
          </a:xfrm>
          <a:prstGeom prst="roundRect">
            <a:avLst>
              <a:gd name="adj" fmla="val 1905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0" y="2148840"/>
            <a:ext cx="914400" cy="9144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crow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3545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0100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Vardhamana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01000" y="36118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of the Jnatr clan,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Kundagrama, c. 599 – 527 BCE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(traditional dates)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MAHAVIRA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Great Renunciation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age 30, after the death of his parents, Vardhamana sought his elder brother's permission to renounce the world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gave away his wealth and possessions, and left his princely life behind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plucked out his hair by hand — a practice called loca — rather than shaving it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roughly a year, he wore a single garment, then abandoned even that, embracing complete nakedness as a mark of total non-attachment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took a vow of silence and began a wandering ascetic life across the region of Magadha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0" y="2148840"/>
            <a:ext cx="914400" cy="9144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pat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23545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2461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who is free of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attachment fears nothing.”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83880" y="4846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 of the Jain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renunciant ideal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MAHAVIRA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Years of Extreme Austerity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over twelve years, Mahavira practiced severe fasting, silence, and meditation across Magadha and neighboring regions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endured harsh weather, hunger, physical assaults, and the taunts of villagers with unwavering equanimity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undertook long fasts, some lasting many days, interrupted only by simple alms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texts describe repeated trials meant to test his resolve, including a well-known ordeal at a village called Chandrakaushika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period of radical self-discipline was aimed at burning away accumulated karma and freeing the soul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ASCETIC PATH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52560" y="2834640"/>
            <a:ext cx="1097280" cy="1097280"/>
          </a:xfrm>
          <a:prstGeom prst="ellipse">
            <a:avLst/>
          </a:prstGeom>
          <a:solidFill>
            <a:srgbClr val="DDA9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jainism/icons/meditation_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2989" y="3065069"/>
            <a:ext cx="636422" cy="6364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0" y="4160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 years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321040" y="4663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fasting, silence,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across Magadha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MAHAVIRA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Kevala Jnana: Attaining Omniscience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age 42, seated in deep meditation beneath a Sal tree on the bank of the river Rijupalika, Mahavira attained kevala jnana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Kevala jnana is total, direct, and unobstructed knowledge of all substances across all time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 point he was known as a Jina — “conqueror” — one who has conquered inner passions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Mahavira, “Great Hero,” reflects the courage of this spiritual victory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spent the remaining 30 years of his life teaching what he had directly realized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0" y="2148840"/>
            <a:ext cx="914400" cy="914400"/>
          </a:xfrm>
          <a:prstGeom prst="ellipse">
            <a:avLst/>
          </a:prstGeom>
          <a:solidFill>
            <a:srgbClr val="3E6B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tre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23545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Rijupalika River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83880" y="3657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site of Mahavira's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omniscience, near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present-day Jrimbhikagrama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MAHAVIRA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the Fourfold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Mahavira organized his followers into a fourfold community, or Sangha: monks, nuns, laymen, and laywomen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Notably, the order of nuns grew larger than the order of monks, reflecting Jainism's early inclusion of women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appointed eleven chief disciples, called Ganadharas, to lead and organize the teaching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Followers observed the Five Great Vows (Mahavratas) as monastics, or lighter versions (Anuvratas) as laypeople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spread rapidly across Magadha, Anga, and neighboring kingdoms during his lifetime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321040" y="182880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06840" y="2148840"/>
            <a:ext cx="914400" cy="9144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famil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23545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0" y="3200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503920" y="38862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monks, nuns,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laymen, and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laywomen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MAHAVIRA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Ganadharas and Key Disciples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Mahavira's teaching was organized and transmitted through eleven chief disciples, the Ganadharas — all learned Brahmins who became his followers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Foremost among them was Indrabhuti Gautama, who became his closest disciple and, according to tradition, attained omniscience only after Mahavira's death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disciples composed the Jain scriptural tradition from Mahavira's spoken teachings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Sudharman, another Ganadhara, is credited with transmitting the teachings that formed the core of the surviving Agamas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Indrabhuti Gautama and Sudharman are said to have outlived Mahavira among the eleven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0" y="2148840"/>
            <a:ext cx="914400" cy="914400"/>
          </a:xfrm>
          <a:prstGeom prst="ellipse">
            <a:avLst/>
          </a:prstGeom>
          <a:solidFill>
            <a:srgbClr val="DDA9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hand_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377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321040" y="38404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Ganadharas appointed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lead the teaching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 OF MAHAVIRA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Nirvana: Mahavira's Final Liberation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Mahavira attained final liberation (moksha) at Pavapuri, around 527 BCE, at approximately age 72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tradition holds he delivered his final teachings continuously through the night before his passing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soul, having shed all karma, is understood to have risen instantly to siddhashila — the abode of liberated souls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followers are said to have lit lamps to mark his passing — an origin often linked to the festival of Diwali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Pavapuri remains one of the most sacred pilgrimage sites in Jainism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869680" y="2148840"/>
            <a:ext cx="914400" cy="9144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cand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377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2104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527 BCE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21040" y="37033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Pavapuri, at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age 72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68880"/>
            <a:ext cx="1737360" cy="173736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jainism/icons/gem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66" y="2859786"/>
            <a:ext cx="955548" cy="9555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464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D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834640" y="292608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Teachings &amp; Philosophy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834640" y="3794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insights at the heart of the Jain path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TEACHINGS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Jewels (Ratnatraya)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philosophy holds that liberation requires the union of three jewels, cultivated together rather than in sequence.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11680" y="2468880"/>
            <a:ext cx="731520" cy="73152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01168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Faith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Darshana — a genuine conviction in the true nature of reality as taught by the Jinas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9976" y="224028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43016" y="2468880"/>
            <a:ext cx="731520" cy="73152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43016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17136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Knowledge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54296" y="38404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Jnana — accurate understanding of the soul, matter, and the universe, free of doubt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11312" y="2240280"/>
            <a:ext cx="3657600" cy="3566160"/>
          </a:xfrm>
          <a:prstGeom prst="roundRect">
            <a:avLst>
              <a:gd name="adj" fmla="val 2051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674352" y="2468880"/>
            <a:ext cx="731520" cy="73152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74352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48472" y="3337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Conduct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384048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Samyak Charitra — ethical living and ascetic discipline, above all the practice of ahimsa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TEACHINGS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Ahimsa and the Five Great Vows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Non-violence (ahimsa) is the foundation of Jain ethics; the five vows extend it into every area of conduct.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29868" y="2468880"/>
            <a:ext cx="777240" cy="777240"/>
          </a:xfrm>
          <a:prstGeom prst="ellipse">
            <a:avLst/>
          </a:prstGeom>
          <a:solidFill>
            <a:srgbClr val="DDA9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han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178" y="26631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Ahimsa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4069080"/>
            <a:ext cx="18653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Non-violence in thought, word, and deed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16352" y="22402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97580" y="2468880"/>
            <a:ext cx="777240" cy="77724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jainism/icons/medit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26631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07792" y="342900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Satya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953512" y="4069080"/>
            <a:ext cx="18653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Truthfulness, avoiding harmful speech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84064" y="22402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765292" y="2468880"/>
            <a:ext cx="777240" cy="77724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jainism/icons/medit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602" y="266319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75504" y="342900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Asteya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221224" y="4069080"/>
            <a:ext cx="18653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Non-stealing, taking nothing ungiven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351776" y="22402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033004" y="2468880"/>
            <a:ext cx="777240" cy="77724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jainism/icons/medit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7314" y="266319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3216" y="342900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Brahmacharya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488936" y="4069080"/>
            <a:ext cx="18653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Chastity and sexual restraint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619488" y="2240280"/>
            <a:ext cx="2139696" cy="3566160"/>
          </a:xfrm>
          <a:prstGeom prst="roundRect">
            <a:avLst>
              <a:gd name="adj" fmla="val 3419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10300716" y="2468880"/>
            <a:ext cx="777240" cy="77724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jainism/icons/medita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5026" y="2663190"/>
            <a:ext cx="388620" cy="3886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710928" y="3429000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Aparigraha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756648" y="4069080"/>
            <a:ext cx="186537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Non-attachment and limiting possessions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TEACHINGS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Anekantavada: The Doctrine of Many-Sidedness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Anekantavada holds that reality is complex and multifaceted, and no single viewpoint captures the whole truth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parable of the blind men and the elephant illustrates how partial perspectives mislead when taken as complete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Syadvada, the theory of conditional predication, qualifies every statement with “in some respect” (syat)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Nayavada, the doctrine of standpoints, systematically catalogues the partial viewpoints from which any claim can be examined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doctrines encouraged intellectual humility, tolerance, and rigorous logical debate among early Jain thinkers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0" y="2103120"/>
            <a:ext cx="914400" cy="914400"/>
          </a:xfrm>
          <a:prstGeom prst="ellipse">
            <a:avLst/>
          </a:prstGeom>
          <a:solidFill>
            <a:srgbClr val="3E6B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scal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23088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200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Viewpoints,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183880" y="38862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framework for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complexity without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TEACHINGS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Karma and the Path to Liberation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philosophy treats karma as a subtle physical substance that adheres to the soul (jiva), not merely a moral principle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Passions such as anger, pride, deceit, and greed act like glue, causing karmic particles to bind to the soul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Ascetic discipline, especially fasting and meditation, is understood to burn off accumulated karma (nirjara)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conduct also stops new karmic inflow (samvara) by restraining harmful thought, speech, and action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soul completely free of karma achieves moksha and rises to siddhashila, dwelling in eternal, blissful omniscience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0" y="2103120"/>
            <a:ext cx="914400" cy="9144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cyc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540" y="23088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8388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Samvara &amp; Nirjara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83880" y="37033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new karma while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shedding what has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bound the soul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68880"/>
            <a:ext cx="1737360" cy="173736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jainism/icons/scroll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66" y="2859786"/>
            <a:ext cx="955548" cy="9555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3464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DA9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834640" y="292608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Early Jain Texts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834640" y="37947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memorized teaching to a written canon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TEXTS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Councils and Oral Transmission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789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centuries after Mahavira's death, his teachings were preserved through memorization and oral recitation by monks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severe famine in Magadha, around the 3rd century BCE, scattered the monastic community and disrupted transmission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Council at Pataliputra attempted to consolidate the surviving teachings, but portions were already lost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later council convened at Mathura, while a separate recension developed in the south, deepening later differences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 was finally redacted and committed to writing at the Council of Valabhi, around the 5th century 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5840" y="4892040"/>
            <a:ext cx="10149840" cy="0"/>
          </a:xfrm>
          <a:prstGeom prst="line">
            <a:avLst/>
          </a:prstGeom>
          <a:noFill/>
          <a:ln w="25400">
            <a:solidFill>
              <a:srgbClr val="C7CC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5256" y="4791456"/>
            <a:ext cx="201168" cy="201168"/>
          </a:xfrm>
          <a:prstGeom prst="ellipse">
            <a:avLst/>
          </a:prstGeom>
          <a:solidFill>
            <a:srgbClr val="1E2A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3rd c. BCE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of Pataliputra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0176" y="4791456"/>
            <a:ext cx="201168" cy="201168"/>
          </a:xfrm>
          <a:prstGeom prst="ellipse">
            <a:avLst/>
          </a:prstGeom>
          <a:solidFill>
            <a:srgbClr val="1E2A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1st–2nd c. 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Recensions at Mathura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055096" y="4791456"/>
            <a:ext cx="201168" cy="201168"/>
          </a:xfrm>
          <a:prstGeom prst="ellipse">
            <a:avLst/>
          </a:prstGeom>
          <a:solidFill>
            <a:srgbClr val="1E2A4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54312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5th c. 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54312" y="5074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 written, Valabhi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 TEXTS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Agamas and the Svetambara–Digambara Divide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surviving scriptures, or Agamas, are traditionally grouped by content and closeness to Mahavira's own words.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97380" y="2606040"/>
            <a:ext cx="914400" cy="914400"/>
          </a:xfrm>
          <a:prstGeom prst="ellipse">
            <a:avLst/>
          </a:prstGeom>
          <a:solidFill>
            <a:srgbClr val="DDA9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book_in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8117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core texts said to derive directly from the Ganadharas, including the Acharanga Sutra on monastic conduct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692140" y="2606040"/>
            <a:ext cx="914400" cy="914400"/>
          </a:xfrm>
          <a:prstGeom prst="ellipse">
            <a:avLst/>
          </a:prstGeom>
          <a:solidFill>
            <a:srgbClr val="DDA9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jainism/icons/scroll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81178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Angabahya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texts elaborating doctrine, cosmology, and narrative, composed over succeeding centuries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2331720"/>
            <a:ext cx="3611880" cy="3474720"/>
          </a:xfrm>
          <a:prstGeom prst="roundRect">
            <a:avLst>
              <a:gd name="adj" fmla="val 2105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486900" y="2606040"/>
            <a:ext cx="914400" cy="914400"/>
          </a:xfrm>
          <a:prstGeom prst="ellipse">
            <a:avLst/>
          </a:prstGeom>
          <a:solidFill>
            <a:srgbClr val="3E6B5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jainism/icons/bookshelf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281178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21040" y="3657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Great Divide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12480" y="41605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Digambara tradition holds the original Agamas were lost entirely; the Svetambara tradition preserves a partial canon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088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PHILOSOPHY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Monastic Education and Philosophical Method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2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centered on the monastic order, built on oral memorization, recitation, and close study with a preceptor (guru)</a:t>
            </a:r>
            <a:endParaRPr lang="en-US" sz="132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2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Monks progressed through stages of scriptural study, tested and guided individually before advancing</a:t>
            </a:r>
            <a:endParaRPr lang="en-US" sz="132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2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Anekantavada and syadvada shaped a distinctive method of reasoned, multi-perspectival debate</a:t>
            </a:r>
            <a:endParaRPr lang="en-US" sz="132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2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logicians developed formal tools of inference (naya and pramana) still studied in Indian philosophy</a:t>
            </a:r>
            <a:endParaRPr lang="en-US" sz="132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2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was paired with strict ethical practice — study and conduct were never treated as separate pursuits</a:t>
            </a:r>
            <a:endParaRPr lang="en-US" sz="132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32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scholarly culture produced influential centers of learning that endured for centuries, such as those at Shravanabelagola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8321040" y="182880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EEF0F5"/>
          </a:solidFill>
          <a:ln/>
          <a:effectLst>
            <a:outerShdw blurRad="101600" dist="38100" dir="5400000" algn="bl" rotWithShape="0">
              <a:srgbClr val="1E2A4A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006840" y="2148840"/>
            <a:ext cx="914400" cy="9144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jainism/icons/pray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580" y="23545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0" y="32461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Reasoned Insight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Dogma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03920" y="40233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“Truth has many faces;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wise see them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all, and cling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alone.”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6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58D707-9F2D-2AEC-9EFD-28053DC0ABBB}"/>
              </a:ext>
            </a:extLst>
          </p:cNvPr>
          <p:cNvSpPr txBox="1"/>
          <p:nvPr/>
        </p:nvSpPr>
        <p:spPr>
          <a:xfrm>
            <a:off x="620111" y="851338"/>
            <a:ext cx="11140965" cy="51706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Sects within Jainism - 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There are two principal sects in Jainism:</a:t>
            </a:r>
          </a:p>
          <a:p>
            <a:pPr lvl="0"/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1. Digambara (“Sky-Clad”):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Monks practice complete nudity as a symbol of renunciation.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Believe women must be reborn as men to attain liberation.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The canon of scriptures differs from that of the </a:t>
            </a:r>
            <a:r>
              <a:rPr lang="en-IN" sz="2400" dirty="0" err="1">
                <a:solidFill>
                  <a:schemeClr val="accent5">
                    <a:lumMod val="50000"/>
                  </a:schemeClr>
                </a:solidFill>
              </a:rPr>
              <a:t>Svetambaras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  <a:p>
            <a:pPr lvl="0"/>
            <a:endParaRPr lang="en-IN"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lvl="0"/>
            <a:r>
              <a:rPr lang="en-IN" sz="2400" b="1" dirty="0">
                <a:solidFill>
                  <a:schemeClr val="accent5">
                    <a:lumMod val="50000"/>
                  </a:schemeClr>
                </a:solidFill>
              </a:rPr>
              <a:t>2. Svetambara (“White-Clad”):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Monks and nuns wear simple white robes.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Believe women can attain liberation directly.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Possess a larger body of canonical literature.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</a:rPr>
              <a:t>Though differences exist in ritual, dress, and doctrine, both sects share the foundational principles of Jainism.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099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8676" y="548640"/>
            <a:ext cx="1371600" cy="1371600"/>
          </a:xfrm>
          <a:prstGeom prst="ellipse">
            <a:avLst/>
          </a:prstGeom>
          <a:solidFill>
            <a:srgbClr val="1E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jainism/icons/dov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286" y="857250"/>
            <a:ext cx="754380" cy="7543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488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Legacy of Early Jainism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463040" y="3200400"/>
            <a:ext cx="9235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E4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patronage, including support from Magadhan and later Mauryan rulers, helped the Jain Sangha spread across India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E4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Svetambara and Digambara traditions, though divided on scripture and practice, preserved a shared core of Mahavira's teaching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E4E7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Ahimsa, anekantavada, and rigorous asceticism continue to shape ethics, logic, and interfaith dialogue worldwide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1171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7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JAINISM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2671</TotalTime>
  <Words>1924</Words>
  <Application>Microsoft Macintosh PowerPoint</Application>
  <PresentationFormat>Widescreen</PresentationFormat>
  <Paragraphs>261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MISHRA</cp:lastModifiedBy>
  <cp:revision>4</cp:revision>
  <dcterms:created xsi:type="dcterms:W3CDTF">2026-08-24T11:20:02Z</dcterms:created>
  <dcterms:modified xsi:type="dcterms:W3CDTF">2026-10-12T03:22:42Z</dcterms:modified>
</cp:coreProperties>
</file>