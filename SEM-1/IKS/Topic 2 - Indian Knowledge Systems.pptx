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37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00" y="1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9846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7A1F2B">
              <a:alpha val="6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-731520"/>
            <a:ext cx="3291840" cy="3291840"/>
          </a:xfrm>
          <a:prstGeom prst="ellipse">
            <a:avLst/>
          </a:prstGeom>
          <a:solidFill>
            <a:srgbClr val="D9A44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D9A441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INDIAN KNOWLEDGE SYSTEMS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49808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Are, Why They Matter, and Their Diverse Flows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1280160" cy="0"/>
          </a:xfrm>
          <a:prstGeom prst="line">
            <a:avLst/>
          </a:prstGeom>
          <a:noFill/>
          <a:ln w="31750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the philosophy, science, arts and living traditions of the Indian subcontinent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Are Indian Knowledge Systems?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86400" cy="448056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umbrella term </a:t>
            </a:r>
            <a:r>
              <a:rPr lang="en-US" sz="15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vast body of traditional knowledge, wisdom, and practices developed across the Indian subcontinent over thousands of years.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3063240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spans philosophy, science, arts, medicine, governance, and practical crafts — </a:t>
            </a:r>
            <a:r>
              <a:rPr lang="en-US" sz="1500" b="1" dirty="0">
                <a:solidFill>
                  <a:srgbClr val="1B4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as separate silos, but as an interconnected way of understanding the world.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4617720"/>
            <a:ext cx="4572000" cy="0"/>
          </a:xfrm>
          <a:prstGeom prst="line">
            <a:avLst/>
          </a:prstGeom>
          <a:noFill/>
          <a:ln w="1587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68680" y="4754880"/>
            <a:ext cx="4892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living heritage — still practiced, studied and evolving today, not a relic of the past.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46520" y="1325880"/>
            <a:ext cx="5166360" cy="4480560"/>
          </a:xfrm>
          <a:prstGeom prst="rect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66560" y="169164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6766560" y="260604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continuous knowledge production and transmission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66560" y="3337560"/>
            <a:ext cx="4206240" cy="0"/>
          </a:xfrm>
          <a:prstGeom prst="line">
            <a:avLst/>
          </a:prstGeom>
          <a:noFill/>
          <a:ln w="12700">
            <a:solidFill>
              <a:srgbClr val="D9A44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766560" y="3630168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967728" y="34930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Texts, oral traditions, and hands-on practice, together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4197096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67728" y="405993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Sanskrit, Tamil, Prakrit and many regional languages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4764024"/>
            <a:ext cx="91440" cy="9144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967728" y="462686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today under India’s NEP 2020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Indian Knowledge Systems Cover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major domains span the IKS landscape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31620" y="1801368"/>
            <a:ext cx="731520" cy="73152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hilosoph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815" y="1991563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&amp; Spirituality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85800" y="3108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Vedanta, Yoga, Nyaya, Buddhist &amp; Jain thought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366260" y="1801368"/>
            <a:ext cx="731520" cy="73152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scien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455" y="1991563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0440" y="3108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Mathematics, astronomy, metallurgy, chemistry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17920" y="160020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200900" y="1801368"/>
            <a:ext cx="731520" cy="73152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medic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1095" y="1991563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&amp; Wellness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355080" y="3108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Ayurveda, Siddha, Unani, yoga &amp; meditation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052560" y="160020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10035540" y="1801368"/>
            <a:ext cx="731520" cy="73152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linguis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5735" y="1991563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89720" y="26517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189720" y="310896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Panini's grammar, phonetics, poetics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1531620" y="4133088"/>
            <a:ext cx="731520" cy="7315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ar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21815" y="4323283"/>
            <a:ext cx="351130" cy="35113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5800" y="4983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 &amp; Aesthetics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85800" y="5440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dance, music, sculpture, Vastu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3383280" y="393192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4366260" y="4133088"/>
            <a:ext cx="731520" cy="7315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governan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6455" y="4323283"/>
            <a:ext cx="351130" cy="35113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520440" y="4983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Economics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20440" y="5440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Kautilya's Arthashastra, statecraft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6217920" y="393192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7200900" y="4133088"/>
            <a:ext cx="731520" cy="7315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agricultu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1095" y="4323283"/>
            <a:ext cx="351130" cy="35113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355080" y="4983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&amp; Ecology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355080" y="5440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Farming, water management, sustainability</a:t>
            </a:r>
            <a:endParaRPr lang="en-US" sz="950" dirty="0"/>
          </a:p>
        </p:txBody>
      </p:sp>
      <p:sp>
        <p:nvSpPr>
          <p:cNvPr id="39" name="Shape 30"/>
          <p:cNvSpPr/>
          <p:nvPr/>
        </p:nvSpPr>
        <p:spPr>
          <a:xfrm>
            <a:off x="9052560" y="3931920"/>
            <a:ext cx="2697480" cy="2148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10035540" y="4133088"/>
            <a:ext cx="731520" cy="73152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craft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25735" y="4323283"/>
            <a:ext cx="351130" cy="35113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189720" y="498348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 &amp; Technology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189720" y="544068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Textiles, shipbuilding, traditional engineering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7A1F2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Indian Knowledge Systems?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national education priority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64240" cy="1828800"/>
          </a:xfrm>
          <a:prstGeom prst="rect">
            <a:avLst/>
          </a:prstGeom>
          <a:solidFill>
            <a:srgbClr val="5A16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National Education Policy (NEP) 2020 </a:t>
            </a:r>
            <a:r>
              <a:rPr lang="en-US" sz="15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calls for integrating Indian Knowledge Systems into mainstream education — from school curricula to university research, treating traditional knowledge as a serious academic subject rather than a cultural footnote.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520440" cy="1965960"/>
          </a:xfrm>
          <a:prstGeom prst="rect">
            <a:avLst/>
          </a:prstGeom>
          <a:solidFill>
            <a:srgbClr val="7A1F2B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41788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Curriculum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4663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content woven into school and higher-ed syllabi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3977640"/>
            <a:ext cx="3520440" cy="1965960"/>
          </a:xfrm>
          <a:prstGeom prst="rect">
            <a:avLst/>
          </a:prstGeom>
          <a:solidFill>
            <a:srgbClr val="7A1F2B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0" y="41788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4663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IKS divisions, centres and funded projects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38160" y="3977640"/>
            <a:ext cx="3520440" cy="1965960"/>
          </a:xfrm>
          <a:prstGeom prst="rect">
            <a:avLst/>
          </a:prstGeom>
          <a:solidFill>
            <a:srgbClr val="7A1F2B"/>
          </a:solidFill>
          <a:ln w="9525">
            <a:solidFill>
              <a:srgbClr val="D9A4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366760" y="4178808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66760" y="466344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knowledge studied with modern scientific methods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Indian Knowledge Systems Are Emphasized (1/2)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868680" cy="8686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heri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7" y="1780337"/>
            <a:ext cx="416966" cy="41696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83080" y="14173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Reclaiming Intellectual Heritage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783080" y="187452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Colonial-era education sidelined indigenous knowledge; IKS restores visibility to India’s contributions to global thought and science.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9966960" cy="0"/>
          </a:xfrm>
          <a:prstGeom prst="line">
            <a:avLst/>
          </a:prstGeom>
          <a:noFill/>
          <a:ln w="12700">
            <a:solidFill>
              <a:srgbClr val="E3D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868680" cy="86868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holis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937" y="328909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83080" y="292608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Holistic, Interdisciplinary Learning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783080" y="338328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rarely separate ethics, science and philosophy — offering an integrated approach modern disciplines often lack.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389120"/>
            <a:ext cx="9966960" cy="0"/>
          </a:xfrm>
          <a:prstGeom prst="line">
            <a:avLst/>
          </a:prstGeom>
          <a:noFill/>
          <a:ln w="12700">
            <a:solidFill>
              <a:srgbClr val="E3D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0080" y="4572000"/>
            <a:ext cx="868680" cy="86868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actic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7" y="479785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783080" y="443484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Relevance Today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1783080" y="4892040"/>
            <a:ext cx="9601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Ayurveda, yoga, sustainable agriculture and ecological knowledge speak directly to mental health, sustainability and wellness needs.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Indian Knowledge Systems Are Emphasized (2/2)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49240" cy="429768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20340" y="1828800"/>
            <a:ext cx="1005840" cy="100584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dent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1858" y="209031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Identity &amp; Cultural Continuity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393192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students with civilizational roots builds confidence and a sense of rootedness alongside modern education.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63640" y="1463040"/>
            <a:ext cx="5349240" cy="429768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435340" y="1828800"/>
            <a:ext cx="1005840" cy="100584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6858" y="2090318"/>
            <a:ext cx="482803" cy="48280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629400" y="3063240"/>
            <a:ext cx="4617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B1B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Academic Interest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720840" y="3931920"/>
            <a:ext cx="44348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Yoga, meditation and Ayurveda already have worldwide followings, driving interest in studying and validating this knowledge scientifically.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B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486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Diverse Methodology of Indian Knowledge System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IKS is not monolithic — it moves through multiple, interweaving streams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64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340864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225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&amp; Classical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64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2960" y="3136392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31181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34440" y="2944368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&amp; Folk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739896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64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2960" y="3931920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739896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Practice-Based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4535424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64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22960" y="4727448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709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34440" y="4535424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Linguistic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5120640" cy="658368"/>
          </a:xfrm>
          <a:prstGeom prst="roundRect">
            <a:avLst>
              <a:gd name="adj" fmla="val 11111"/>
            </a:avLst>
          </a:prstGeom>
          <a:solidFill>
            <a:srgbClr val="1640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5522976"/>
            <a:ext cx="274320" cy="27432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2960" y="55046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12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34440" y="5330952"/>
            <a:ext cx="43891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&amp; Philosophical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309360" y="3108960"/>
            <a:ext cx="52120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stream carries its own methods of transmission — from written shastras to lived, hands-on tradition — yet together they form one continuous fabric of knowledge.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1 &amp; 2: Textual and Oral Traditions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34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text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37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&amp; Classical Traditions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Vedas, Upanishads and the great epics
• Shastras — systematic treatises on specific fields
• Commentaries (bhashyas) building on earlier texts
• Preserved and transmitted with rigorous textual fidelity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434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7960" y="1691640"/>
            <a:ext cx="822960" cy="82296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or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19056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737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&amp; Folk Traditions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Regional folklore passed down through generations
• Tribal and indigenous community knowledge
• Oral epics, ballads and storytelling traditions
• Living memory, adapted and renewed with each telling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7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3 &amp; 4: Practice-Based and Regional Streams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434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68680" y="1691640"/>
            <a:ext cx="822960" cy="822960"/>
          </a:xfrm>
          <a:prstGeom prst="ellipse">
            <a:avLst/>
          </a:prstGeom>
          <a:solidFill>
            <a:srgbClr val="7A1F2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act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19056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74520" y="1737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Practice-Based Traditions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Craftsmanship passed down through family and guild
• Martial arts such as Kalaripayattu
• Skills learned by doing, not only by reading
• Apprenticeship as the primary mode of transfer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217920" y="1371600"/>
            <a:ext cx="5394960" cy="4434840"/>
          </a:xfrm>
          <a:prstGeom prst="rect">
            <a:avLst/>
          </a:prstGeom>
          <a:solidFill>
            <a:srgbClr val="FB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37960" y="1691640"/>
            <a:ext cx="822960" cy="822960"/>
          </a:xfrm>
          <a:prstGeom prst="ellipse">
            <a:avLst/>
          </a:prstGeom>
          <a:solidFill>
            <a:srgbClr val="1B4B4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reg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190561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43800" y="173736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&amp; Linguistic Diversity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37960" y="2606040"/>
            <a:ext cx="47548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B1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Tamil Sangam literature and its own canon
• Kashmiri Shaivism as a distinct philosophical school
• Bengali Vaishnavism and its devotional literature
• Each region contributing a distinct school of thought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E12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474720"/>
            <a:ext cx="5029200" cy="5029200"/>
          </a:xfrm>
          <a:prstGeom prst="ellipse">
            <a:avLst/>
          </a:prstGeom>
          <a:solidFill>
            <a:srgbClr val="7A1F2B">
              <a:alpha val="6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-1828800"/>
            <a:ext cx="4572000" cy="4572000"/>
          </a:xfrm>
          <a:prstGeom prst="ellipse">
            <a:avLst/>
          </a:prstGeom>
          <a:solidFill>
            <a:srgbClr val="D9A441">
              <a:alpha val="1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5: Religious &amp; Philosophical Plurality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914400" cy="914400"/>
          </a:xfrm>
          <a:prstGeom prst="ellipse">
            <a:avLst/>
          </a:prstGeom>
          <a:solidFill>
            <a:srgbClr val="D9A44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lura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16550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463040"/>
            <a:ext cx="9509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5E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Hindu, Buddhist, Jain, Sikh, and Islamic-influenced Indian traditions all feed into the broader IKS pool — each contributing distinct philosophies, ethics and practices that in turn enrich one another.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0080" y="2788920"/>
            <a:ext cx="10698480" cy="0"/>
          </a:xfrm>
          <a:prstGeom prst="line">
            <a:avLst/>
          </a:prstGeom>
          <a:noFill/>
          <a:ln w="12700">
            <a:solidFill>
              <a:srgbClr val="8A5A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40080" y="30175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A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Summary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 are a vast, living, and plural heritage — spanning philosophy, science, art and craft — now being consciously woven back into education for their historical, practical and global relevance.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51206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Textual  •  Oral  •  Practice-Based  •  Regional  •  Plural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097280"/>
            <a:ext cx="4754880" cy="4754880"/>
          </a:xfrm>
          <a:prstGeom prst="ellipse">
            <a:avLst/>
          </a:prstGeom>
          <a:noFill/>
          <a:ln w="1905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11247120" y="1280160"/>
            <a:ext cx="237744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1247120" y="1280160"/>
            <a:ext cx="2058923" cy="118872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1247120" y="1280160"/>
            <a:ext cx="1188720" cy="2058923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1247120" y="1280160"/>
            <a:ext cx="0" cy="237744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1247120" y="1280160"/>
            <a:ext cx="0" cy="2058923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1247120" y="1280160"/>
            <a:ext cx="0" cy="118872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1247120" y="1280160"/>
            <a:ext cx="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247120" y="1280160"/>
            <a:ext cx="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1247120" y="1280160"/>
            <a:ext cx="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1247120" y="1280160"/>
            <a:ext cx="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1247120" y="1280160"/>
            <a:ext cx="1188720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1247120" y="1280160"/>
            <a:ext cx="2058923" cy="0"/>
          </a:xfrm>
          <a:prstGeom prst="line">
            <a:avLst/>
          </a:prstGeom>
          <a:noFill/>
          <a:ln w="12700">
            <a:solidFill>
              <a:srgbClr val="7A3A2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1192256" y="1225296"/>
            <a:ext cx="109728" cy="109728"/>
          </a:xfrm>
          <a:prstGeom prst="ellipse">
            <a:avLst/>
          </a:prstGeom>
          <a:solidFill>
            <a:srgbClr val="7A3A2A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-1554480" y="4389120"/>
            <a:ext cx="3840480" cy="3840480"/>
          </a:xfrm>
          <a:prstGeom prst="ellipse">
            <a:avLst/>
          </a:prstGeom>
          <a:noFill/>
          <a:ln w="1905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65760" y="6309360"/>
            <a:ext cx="192024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6309360"/>
            <a:ext cx="1662977" cy="96012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6309360"/>
            <a:ext cx="960120" cy="1662977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6309360"/>
            <a:ext cx="0" cy="192024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6309360"/>
            <a:ext cx="0" cy="1662977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365760" y="6309360"/>
            <a:ext cx="0" cy="96012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65760" y="6309360"/>
            <a:ext cx="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6309360"/>
            <a:ext cx="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365760" y="6309360"/>
            <a:ext cx="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6309360"/>
            <a:ext cx="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" y="6309360"/>
            <a:ext cx="960120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65760" y="6309360"/>
            <a:ext cx="1662977" cy="0"/>
          </a:xfrm>
          <a:prstGeom prst="line">
            <a:avLst/>
          </a:prstGeom>
          <a:noFill/>
          <a:ln w="12700">
            <a:solidFill>
              <a:srgbClr val="6A2A2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310896" y="6254496"/>
            <a:ext cx="109728" cy="109728"/>
          </a:xfrm>
          <a:prstGeom prst="ellipse">
            <a:avLst/>
          </a:prstGeom>
          <a:solidFill>
            <a:srgbClr val="6A2A2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INDIAN KNOWLEDGE SYSTEMS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3246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Nature, Philosophy and Character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68680" y="3977640"/>
            <a:ext cx="2377440" cy="0"/>
          </a:xfrm>
          <a:prstGeom prst="line">
            <a:avLst/>
          </a:prstGeom>
          <a:noFill/>
          <a:ln w="25400">
            <a:solidFill>
              <a:srgbClr val="C99A3B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essay by Kapil Kapoor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Systems, Volume 1 — Indian Institute of Advanced Study, Shimla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99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darśana  ·  jñāna  ·  vidyā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Terms at the Root of Knowledge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Daśana, jñāna and vidyā are closely interlinked in the Indian tradition of thought.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Darśana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5935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“system / point of view”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0233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 — the vantage point that yields or leads to jñāna.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8912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6344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Jñāna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63440" y="35935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“knowledge”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40233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rational and speculative inquiry itself, at the centre of Indian intellectual life since the Vedas.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0" y="2057400"/>
            <a:ext cx="3520440" cy="3246120"/>
          </a:xfrm>
          <a:prstGeom prst="roundRect">
            <a:avLst>
              <a:gd name="adj" fmla="val 2254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503920" y="2331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0392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03920" y="31546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Vidyā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503920" y="359359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“discipline”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02336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a domain, once organized and systematized for reflection and pedagogy.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48640" y="55321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Muṇḍakopaniṣad (I.1.4) divides the entire body of knowledge into parā vidyā (of the ultimate principle, Brahman) and aparā vidyā (of the worldly domain) — a further split echoed in the distinction between jñāna (experiential, inward-turned) and vijñāna (observational, outward-turned).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ORAL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Constituted, Stored and Held in the Mind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KNOWLEDGE IS FORMED (Bhartṛhari)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Indriya  </a:t>
            </a:r>
            <a:r>
              <a:rPr lang="en-US" sz="120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of the senses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40664" y="2395728"/>
            <a:ext cx="0" cy="329184"/>
          </a:xfrm>
          <a:prstGeom prst="line">
            <a:avLst/>
          </a:prstGeom>
          <a:noFill/>
          <a:ln w="19050">
            <a:solidFill>
              <a:srgbClr val="C99A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7249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697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 + Buddhi  </a:t>
            </a:r>
            <a:r>
              <a:rPr lang="en-US" sz="120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by mind and intellect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0664" y="3108960"/>
            <a:ext cx="0" cy="329184"/>
          </a:xfrm>
          <a:prstGeom prst="line">
            <a:avLst/>
          </a:prstGeom>
          <a:noFill/>
          <a:ln w="19050">
            <a:solidFill>
              <a:srgbClr val="C99A3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" y="343814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4381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41071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Chitta  </a:t>
            </a:r>
            <a:r>
              <a:rPr lang="en-US" sz="120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constituted as the transformed, alert self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242816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Perception and inference are primary, but tarka (argumentation), cintana and manana (meditation, deep reflection), and śabda-pramāṇa (verbal testimony) all carry epistemic authority. “Seeing with the mind’s eye” is the typical Indian epistemology — hypothetico-deductive more than observational-inductive.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3D0F0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0" y="18105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6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TEXTS TOOK THIS SHAPE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583680" y="2267712"/>
            <a:ext cx="82296" cy="82296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139696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Sūtraic, mnemonic and abbreviated — built to be memorized and recited (e.g. Pāṇini’s Aṣṭādhyāyī: 3,997 sūtras in only 32,000 syllables).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583680" y="3300984"/>
            <a:ext cx="82296" cy="82296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12280" y="3172968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structured: adhikaraṇa and prakaraṇa organize subjects up to four layers deep, enabling precise reference (as in the Ṝgveda and Mahābhārata).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583680" y="4334256"/>
            <a:ext cx="82296" cy="82296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12280" y="420624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opaque — conclusions stated tersely because the whole earlier tradition is presupposed; full explication belongs to the commentary (ṭīkā) tradition.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583680" y="5367528"/>
            <a:ext cx="82296" cy="82296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12280" y="5239512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mind, not paper, is the medium — the pāṭha tradition re-arranged texts in permutations so they could be reconstructed by memory alone.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THE ORAL FRAMEWORK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Seven Ways a Culture Keeps Its Thought Alive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maintenance / renewal mechanisms identified by Kapoor, illustrated with examples from the tradition: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350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Commentary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26791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Kātyāyana’s Vārttika; Patanjali’s Mahābhāṣya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55848" y="19659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93008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93008" y="2350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Recension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493008" y="26791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Cāndra Vyākaraṇa, a Buddhist recension of Aṣṭādhyāyī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9659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0216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0216" y="2350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00216" y="26791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Rūpamālā, Siddhānta Kaumudī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70264" y="19659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07424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07424" y="23500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107424" y="26791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Hemaśabdānuśāsana adapts Pāṇini’s grammar to Prākṛt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5661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8580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5800" y="39502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85800" y="42793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Modern-language renderings of Aṣṭādhyāyī and other major texts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55848" y="35661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93008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493008" y="39502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exposition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3493008" y="42793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kathā-pravacana paramparā, still vigorous today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63056" y="35661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0216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99A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300216" y="3950208"/>
            <a:ext cx="2395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Re-creation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6300216" y="4279392"/>
            <a:ext cx="23957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Bhāsa’s plays re-using Mahābhārata themes and episodes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70264" y="3566160"/>
            <a:ext cx="2670048" cy="1417320"/>
          </a:xfrm>
          <a:prstGeom prst="roundRect">
            <a:avLst>
              <a:gd name="adj" fmla="val 4516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34856" y="3675888"/>
            <a:ext cx="2340864" cy="11978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E6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ṭīkā paramparā (commentary tradition) is the most important of all — ensuring availability, comprehensibility and contextual relevance together.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INSTITUTIONALIZATION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Vidyās and 64 Kalās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Knowledge, institutionalized as theoretical disciplines (vidyā) and applied, vocational crafts (kalā).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3977640"/>
          </a:xfrm>
          <a:prstGeom prst="roundRect">
            <a:avLst>
              <a:gd name="adj" fmla="val 1839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VIDYĀS — THEORETICAL DISCIPLINES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337560"/>
            <a:ext cx="4754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E6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Vedas  </a:t>
            </a:r>
            <a:r>
              <a:rPr lang="en-US" sz="13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+ 4 Upavedas (Āyurveda, Dhanurveda, Gandharvaveda, śilpa)
Purāṇa · Nyāya · Mīmāṃsā · Dharmaśāstra
</a:t>
            </a:r>
            <a:r>
              <a:rPr lang="en-US" sz="1300" b="1" dirty="0">
                <a:solidFill>
                  <a:srgbClr val="E6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Vedāṅgas: </a:t>
            </a:r>
            <a:r>
              <a:rPr lang="en-US" sz="13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phonetics, grammar, metre, astronomy, ritual, philology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422392" cy="3977640"/>
          </a:xfrm>
          <a:prstGeom prst="roundRect">
            <a:avLst>
              <a:gd name="adj" fmla="val 1839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54223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6400" dirty="0"/>
          </a:p>
        </p:txBody>
      </p:sp>
      <p:sp>
        <p:nvSpPr>
          <p:cNvPr id="11" name="Text 9"/>
          <p:cNvSpPr/>
          <p:nvPr/>
        </p:nvSpPr>
        <p:spPr>
          <a:xfrm>
            <a:off x="6217920" y="2880360"/>
            <a:ext cx="5422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5B1A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KALĀS — APPLIED / VOCATIONAL CRAFTS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3337560"/>
            <a:ext cx="4800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Poetry, calligraphy, dance, cooking, iron smithery, painting, carpentry, trading, agriculture, medicine, singing, garland-making, home-planning, training memory, physical exercise — and even gambling and thieving.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37960" y="4892040"/>
            <a:ext cx="4800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opposition between “art” and “craft.” The craftsman is a sādhaka — training is a form of tapa (dedication); the key virtue is ekāgratā (concentration).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INSTITUTIONALIZATION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Kinds of Texts, in Every Discipline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Illustrated here through Poetics (alaṅkāraśāstra):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2128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Primary (śāstra)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7614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Bharata’s Nāṭyaśāstra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3182112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Lays down the foundational principles of the discipline.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89120" y="20116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45152" y="22128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Compendium (saṃgraha)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45152" y="27614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Mammata’s Kāvyaprakāśa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45152" y="3182112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synthesis drawing together all competing Schools.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0" y="201168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5B1A18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85632" y="2212848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Commentary (ṭīkā)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85632" y="276148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Abhinavagupta’s Abhinavabhāratī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85632" y="3182112"/>
            <a:ext cx="3008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Explicates and extends the primary text, cumulatively.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UNIVERSE OF VERBAL DISCOURSE (Vāṅmaya)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5102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Śāstra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1520" y="5468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treatise, for teaching a discipline (śāstra-jñāna)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23360" y="4983480"/>
            <a:ext cx="3291840" cy="1371600"/>
          </a:xfrm>
          <a:prstGeom prst="roundRect">
            <a:avLst>
              <a:gd name="adj" fmla="val 4000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06240" y="510235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Kāvya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06240" y="5468112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imaginative composition (kāvya-jñāna)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498080" y="4983480"/>
            <a:ext cx="4114800" cy="1371600"/>
          </a:xfrm>
          <a:prstGeom prst="roundRect">
            <a:avLst>
              <a:gd name="adj" fmla="val 4000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680960" y="510235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Apauruṣeya ↔ Pauruṣeya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80960" y="546811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non-contingent Vedic word vs. authored, individual composition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PHILOSOPHY OF KNOWLEDGE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Is Not One Undifferentiated Thing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three-fold classification of jñāna by quality (guṇa):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219456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Sāttvika jñāna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non-difference — one imperishable principle (akṣara-Brahman) equally present in all.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8A3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45152" y="219456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Rājasika jñāna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45152" y="2633472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of many existences of various kinds apart from one another — multiplicity and difference.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229600" y="2011680"/>
            <a:ext cx="3520440" cy="1920240"/>
          </a:xfrm>
          <a:prstGeom prst="roundRect">
            <a:avLst>
              <a:gd name="adj" fmla="val 3810"/>
            </a:avLst>
          </a:prstGeom>
          <a:solidFill>
            <a:srgbClr val="6B4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85632" y="2194560"/>
            <a:ext cx="30083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Tāmasika jñāna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85632" y="2633472"/>
            <a:ext cx="300837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Clings to one body, to self, as if it were whole — irrational, without a real object, trivial.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KEY DISTINCTIONS IN THE TRADITION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52628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458114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Jñāna ↔ Vijñāna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31520" y="487375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experiential / inward (draṣṭā) vs. observational / outward (senses)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452628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46520" y="458114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Nitya ↔ Anitya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46520" y="487375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knowledge of the self vs. variable, sensory cognition (Advaita Vedānta)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534924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4041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Pratyakṣa ↔ Parokṣa jñāna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31520" y="569671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the self (ātma sāpekṣa) vs. present to senses and mind (Jaina thought)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5349240"/>
            <a:ext cx="5440680" cy="685800"/>
          </a:xfrm>
          <a:prstGeom prst="roundRect">
            <a:avLst>
              <a:gd name="adj" fmla="val 8000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46520" y="540410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Yathārtha ↔ A-yathārtha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5696712"/>
            <a:ext cx="5074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vs. non-valid knowledge (Nyāya)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D0F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IV. PHILOSOPHY OF KNOWLEDGE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The Bhagavad-Gītā Integrates the Tradition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Jñāna, karma and bhakti are shown as deeply imbricated, not opposed — chapter 4 is a sustained meditation on knowledge, jñāna-yoga.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82296" cy="777240"/>
          </a:xfrm>
          <a:prstGeom prst="roundRect">
            <a:avLst/>
          </a:prstGeom>
          <a:solidFill>
            <a:srgbClr val="C99A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Discriminates sat (true/right) from asat (false/wrong), and duty from non-duty (BG 4.41, 5.16)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82296" cy="777240"/>
          </a:xfrm>
          <a:prstGeom prst="roundRect">
            <a:avLst/>
          </a:prstGeom>
          <a:solidFill>
            <a:srgbClr val="C99A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Gives awareness of tattva (essence) and of kṣetra / kṣetrajña — object and subject (BG 13.12)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4114800"/>
            <a:ext cx="82296" cy="777240"/>
          </a:xfrm>
          <a:prstGeom prst="roundRect">
            <a:avLst/>
          </a:prstGeom>
          <a:solidFill>
            <a:srgbClr val="C99A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Enables self-control and stabilizes consciousness, dissolving self / non-self opposition (BG 4.23, 4.27)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48640" y="5029200"/>
            <a:ext cx="82296" cy="777240"/>
          </a:xfrm>
          <a:prstGeom prst="roundRect">
            <a:avLst/>
          </a:prstGeom>
          <a:solidFill>
            <a:srgbClr val="C99A3B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502920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7F0E3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“Like blazing fire, it turns all actions to ashes” — no purifier is as great as knowledge (BG 4.37–38)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61120" y="2286000"/>
            <a:ext cx="2743200" cy="3657600"/>
          </a:xfrm>
          <a:prstGeom prst="roundRect">
            <a:avLst>
              <a:gd name="adj" fmla="val 2667"/>
            </a:avLst>
          </a:prstGeom>
          <a:solidFill>
            <a:srgbClr val="4A1513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098280" y="233172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C99A3B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235440" y="2880360"/>
            <a:ext cx="2331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mbria" pitchFamily="34" charset="0"/>
                <a:ea typeface="Cambria" pitchFamily="34" charset="-122"/>
                <a:cs typeface="Cambria" pitchFamily="34" charset="-120"/>
              </a:rPr>
              <a:t>Knowledge is the great purifier and liberator of the self.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235440" y="5212080"/>
            <a:ext cx="2331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— Śrīmadbhagvad-Gītā, 4.33, 37–38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20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E6C87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CHARACTER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Goals for Knowledge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Kapoor contrasts the Indian and Western paradigms of what knowledge is for.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DEAE3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8680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WESTERN TRADITION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715768"/>
            <a:ext cx="73152" cy="73152"/>
          </a:xfrm>
          <a:prstGeom prst="ellipse">
            <a:avLst/>
          </a:prstGeom>
          <a:solidFill>
            <a:srgbClr val="5A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97280" y="257860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instrument of power over an “adversary” — God, then Nature, then rival classes/genders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474720"/>
            <a:ext cx="73152" cy="73152"/>
          </a:xfrm>
          <a:prstGeom prst="ellipse">
            <a:avLst/>
          </a:prstGeom>
          <a:solidFill>
            <a:srgbClr val="5A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97280" y="3337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Man-centered: dominion granted over nature is exercised, not held in trust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4233672"/>
            <a:ext cx="73152" cy="73152"/>
          </a:xfrm>
          <a:prstGeom prst="ellipse">
            <a:avLst/>
          </a:prstGeom>
          <a:solidFill>
            <a:srgbClr val="5A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409651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Exteriorized — constituted through the senses, stored outside the mind in authoritative texts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4992624"/>
            <a:ext cx="73152" cy="73152"/>
          </a:xfrm>
          <a:prstGeom prst="ellipse">
            <a:avLst/>
          </a:prstGeom>
          <a:solidFill>
            <a:srgbClr val="5A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97280" y="48554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Monistic imperative — one dominant “truth” at a time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5751576"/>
            <a:ext cx="73152" cy="73152"/>
          </a:xfrm>
          <a:prstGeom prst="ellipse">
            <a:avLst/>
          </a:prstGeom>
          <a:solidFill>
            <a:srgbClr val="5A4E3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97280" y="561441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from social/institutional authority to the individual, who is a passive recipient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45352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65392" y="2194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6C8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TRADITION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65392" y="2715768"/>
            <a:ext cx="73152" cy="73152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93992" y="2578608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as mokṣa — power over one’s own self, liberation from inner limitations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65392" y="3474720"/>
            <a:ext cx="73152" cy="73152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93992" y="3337560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from the individual to the social/collective — a continuum, not a rupture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65392" y="4233672"/>
            <a:ext cx="73152" cy="73152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93992" y="4096512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Constituted and stored in the mind — the knower and the known are not severed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65392" y="4992624"/>
            <a:ext cx="73152" cy="73152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93992" y="4855464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Pluralist — many valid points of view (pravada bahudhā mata), no single imperative truth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65392" y="5751576"/>
            <a:ext cx="73152" cy="73152"/>
          </a:xfrm>
          <a:prstGeom prst="ellipse">
            <a:avLst/>
          </a:prstGeom>
          <a:solidFill>
            <a:srgbClr val="C99A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93992" y="5614416"/>
            <a:ext cx="4572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 dharma — knowledge that promotes loka-saṃgraha, the general welfare (BG 3.20)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CHARACTER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Defining Assumptions of Indian Knowledge Systems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35000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Pluralism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49808" y="275234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Plurality is a ground reality, not a problem to resolve — sharply contrasting Hebraic monism and monotheism.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44568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456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44568" y="235000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Inclusive Individualism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4568" y="275234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synthesizing universalism includes all, unlike the exclusive individualism of 19th-century Europe.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7F0E3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339328" y="1783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932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39328" y="235000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Cyclicity, not Linearity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39328" y="275234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principle of evolution or automatic progress; the configurational model replaces pre-X-post.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9808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980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49808" y="468172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Tolerance for the Pūrvapakṣa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9808" y="508406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vāda paramparā (tradition of disputation) represents the opposing view accurately before contesting it.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93192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44568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4456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44568" y="468172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Disclaimed Originality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44568" y="508406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original thinkers present their work as continuous with, not a break from, the tradition.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93192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BF6EA"/>
          </a:solidFill>
          <a:ln w="9525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339328" y="41148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339328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39328" y="4681728"/>
            <a:ext cx="320954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Eclecticism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39328" y="5084064"/>
            <a:ext cx="32095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“Mind acquires critical acumen by interacting with other traditions” — Bhartṛhari, Vākyapadīya.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CHARACTER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1E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Repository of the Few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traditions have always mutually enriched each other in India: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5B1A1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C8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Learned Tradition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560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7F0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Ṭīkā paramparā — the cumulative commentary tradition, from bare annotation (pañjikā) to encyclopedic analysis, sustaining texts across millennia.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45352" y="196596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7F0E3"/>
          </a:solidFill>
          <a:ln w="12700">
            <a:solidFill>
              <a:srgbClr val="E3D6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565392" y="2148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Popular Tradition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65392" y="256032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A1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Kathā-pravacana paramparā — living discourse. Ādi Śaṅkarācārya and Rāmānujācārya both taught village congregations in local languages, not only Sanskrit.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99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EVIDENCE: THE LEARNED VOCABULARY LIVES ON IN EVERYDAY SPEECH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jada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956816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56816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 err="1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chetana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364992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64992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jīva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73168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73168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ātmā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81344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81344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saṃsāra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589520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dhyāna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97696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997696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kṣamā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405872" y="4526280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405872" y="4526280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maitrī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956816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956816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karuṇā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64992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64992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jñāna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773168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73168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buddhi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181344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181344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pratyakṣa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89520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589520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vṛddhi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997696" y="5093208"/>
            <a:ext cx="1298448" cy="438912"/>
          </a:xfrm>
          <a:prstGeom prst="roundRect">
            <a:avLst>
              <a:gd name="adj" fmla="val 50000"/>
            </a:avLst>
          </a:prstGeom>
          <a:solidFill>
            <a:srgbClr val="FBF6EA"/>
          </a:solidFill>
          <a:ln w="9525">
            <a:solidFill>
              <a:srgbClr val="C99A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997696" y="5093208"/>
            <a:ext cx="12984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guṇa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54864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democratization — words and ideas both still alive in ordinary speech — makes knowledge a civilizational value in India.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KNOWLEDGE SYSTEMS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4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2735</TotalTime>
  <Words>2292</Words>
  <Application>Microsoft Macintosh PowerPoint</Application>
  <PresentationFormat>Widescreen</PresentationFormat>
  <Paragraphs>307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AMAN MISHRA</cp:lastModifiedBy>
  <cp:revision>5</cp:revision>
  <dcterms:created xsi:type="dcterms:W3CDTF">2026-08-02T16:10:23Z</dcterms:created>
  <dcterms:modified xsi:type="dcterms:W3CDTF">2026-08-17T11:11:20Z</dcterms:modified>
</cp:coreProperties>
</file>