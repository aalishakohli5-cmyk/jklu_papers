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77" r:id="rId6"/>
    <p:sldId id="260" r:id="rId7"/>
    <p:sldId id="261" r:id="rId8"/>
    <p:sldId id="262" r:id="rId9"/>
    <p:sldId id="263" r:id="rId10"/>
    <p:sldId id="264" r:id="rId11"/>
    <p:sldId id="265" r:id="rId12"/>
    <p:sldId id="266" r:id="rId13"/>
    <p:sldId id="267" r:id="rId14"/>
    <p:sldId id="268" r:id="rId15"/>
    <p:sldId id="269" r:id="rId16"/>
    <p:sldId id="270" r:id="rId17"/>
    <p:sldId id="276" r:id="rId18"/>
    <p:sldId id="271" r:id="rId19"/>
    <p:sldId id="272" r:id="rId20"/>
    <p:sldId id="273" r:id="rId21"/>
    <p:sldId id="274" r:id="rId22"/>
    <p:sldId id="275"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21" d="100"/>
          <a:sy n="121" d="100"/>
        </p:scale>
        <p:origin x="2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72610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146B8-0A1C-A769-3C36-3CFF08951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10A35B-33E0-8F4D-B6F4-66378DF858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99BD24-38D2-0249-FF23-C920BFCABB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266240-28D6-BFA8-5338-2A5F0AE70FBE}"/>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2391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0F10"/>
        </a:solidFill>
        <a:effectLst/>
      </p:bgPr>
    </p:bg>
    <p:spTree>
      <p:nvGrpSpPr>
        <p:cNvPr id="1" name=""/>
        <p:cNvGrpSpPr/>
        <p:nvPr/>
      </p:nvGrpSpPr>
      <p:grpSpPr>
        <a:xfrm>
          <a:off x="0" y="0"/>
          <a:ext cx="0" cy="0"/>
          <a:chOff x="0" y="0"/>
          <a:chExt cx="0" cy="0"/>
        </a:xfrm>
      </p:grpSpPr>
      <p:sp>
        <p:nvSpPr>
          <p:cNvPr id="2" name="Shape 0"/>
          <p:cNvSpPr/>
          <p:nvPr/>
        </p:nvSpPr>
        <p:spPr>
          <a:xfrm>
            <a:off x="5408676" y="640080"/>
            <a:ext cx="1371600" cy="1371600"/>
          </a:xfrm>
          <a:prstGeom prst="ellipse">
            <a:avLst/>
          </a:prstGeom>
          <a:solidFill>
            <a:srgbClr val="5C1A1B"/>
          </a:solidFill>
          <a:ln/>
        </p:spPr>
        <p:txBody>
          <a:bodyPr/>
          <a:lstStyle/>
          <a:p>
            <a:endParaRPr lang="en-US"/>
          </a:p>
        </p:txBody>
      </p:sp>
      <p:pic>
        <p:nvPicPr>
          <p:cNvPr id="3" name="Image 0" descr="/home/claude/buddhism/icons/lotus_gold.png"/>
          <p:cNvPicPr>
            <a:picLocks noChangeAspect="1"/>
          </p:cNvPicPr>
          <p:nvPr/>
        </p:nvPicPr>
        <p:blipFill>
          <a:blip r:embed="rId3"/>
          <a:stretch>
            <a:fillRect/>
          </a:stretch>
        </p:blipFill>
        <p:spPr>
          <a:xfrm>
            <a:off x="5614416" y="845820"/>
            <a:ext cx="960120" cy="960120"/>
          </a:xfrm>
          <a:prstGeom prst="rect">
            <a:avLst/>
          </a:prstGeom>
        </p:spPr>
      </p:pic>
      <p:sp>
        <p:nvSpPr>
          <p:cNvPr id="4" name="Text 1"/>
          <p:cNvSpPr/>
          <p:nvPr/>
        </p:nvSpPr>
        <p:spPr>
          <a:xfrm>
            <a:off x="457200" y="2514600"/>
            <a:ext cx="11274552" cy="1005840"/>
          </a:xfrm>
          <a:prstGeom prst="rect">
            <a:avLst/>
          </a:prstGeom>
          <a:noFill/>
          <a:ln/>
        </p:spPr>
        <p:txBody>
          <a:bodyPr wrap="square" lIns="0" tIns="0" rIns="0" bIns="0"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EARLY BUDDHISM</a:t>
            </a:r>
            <a:endParaRPr lang="en-US" sz="4800" dirty="0"/>
          </a:p>
        </p:txBody>
      </p:sp>
      <p:sp>
        <p:nvSpPr>
          <p:cNvPr id="5" name="Text 2"/>
          <p:cNvSpPr/>
          <p:nvPr/>
        </p:nvSpPr>
        <p:spPr>
          <a:xfrm>
            <a:off x="914400" y="3520440"/>
            <a:ext cx="10360152" cy="457200"/>
          </a:xfrm>
          <a:prstGeom prst="rect">
            <a:avLst/>
          </a:prstGeom>
          <a:noFill/>
          <a:ln/>
        </p:spPr>
        <p:txBody>
          <a:bodyPr wrap="square" lIns="0" tIns="0" rIns="0" bIns="0" rtlCol="0" anchor="ctr"/>
          <a:lstStyle/>
          <a:p>
            <a:pPr marL="0" indent="0" algn="ctr">
              <a:buNone/>
            </a:pPr>
            <a:r>
              <a:rPr lang="en-US" sz="1600" i="1" dirty="0">
                <a:solidFill>
                  <a:srgbClr val="E0B25C"/>
                </a:solidFill>
                <a:latin typeface="Calibri" pitchFamily="34" charset="0"/>
                <a:ea typeface="Calibri" pitchFamily="34" charset="-122"/>
                <a:cs typeface="Calibri" pitchFamily="34" charset="-120"/>
              </a:rPr>
              <a:t>The Life of the Buddha  •  The Early Texts  •  Philosophy &amp; Education</a:t>
            </a:r>
            <a:endParaRPr lang="en-US" sz="1600" dirty="0"/>
          </a:p>
        </p:txBody>
      </p:sp>
      <p:sp>
        <p:nvSpPr>
          <p:cNvPr id="6" name="Text 3"/>
          <p:cNvSpPr/>
          <p:nvPr/>
        </p:nvSpPr>
        <p:spPr>
          <a:xfrm>
            <a:off x="914400" y="5989320"/>
            <a:ext cx="10360152" cy="365760"/>
          </a:xfrm>
          <a:prstGeom prst="rect">
            <a:avLst/>
          </a:prstGeom>
          <a:noFill/>
          <a:ln/>
        </p:spPr>
        <p:txBody>
          <a:bodyPr wrap="square" lIns="0" tIns="0" rIns="0" bIns="0" rtlCol="0" anchor="ctr"/>
          <a:lstStyle/>
          <a:p>
            <a:pPr marL="0" indent="0" algn="ctr">
              <a:buNone/>
            </a:pPr>
            <a:r>
              <a:rPr lang="en-US" sz="1200" kern="0" spc="300" dirty="0">
                <a:solidFill>
                  <a:srgbClr val="D9C9C4"/>
                </a:solidFill>
                <a:latin typeface="Calibri" pitchFamily="34" charset="0"/>
                <a:ea typeface="Calibri" pitchFamily="34" charset="-122"/>
                <a:cs typeface="Calibri" pitchFamily="34" charset="-120"/>
              </a:rPr>
              <a:t>India, 6th – 3rd Century BCE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SETTING THE STAGE</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The World of the Buddha: 6th-Century BCE India</a:t>
            </a:r>
            <a:endParaRPr lang="en-US" sz="3000" dirty="0"/>
          </a:p>
        </p:txBody>
      </p:sp>
      <p:sp>
        <p:nvSpPr>
          <p:cNvPr id="4" name="Text 2"/>
          <p:cNvSpPr/>
          <p:nvPr/>
        </p:nvSpPr>
        <p:spPr>
          <a:xfrm>
            <a:off x="548640" y="1828800"/>
            <a:ext cx="603504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The Ganges plain was urbanizing rapidly, with new cities, trade routes, and a rising merchant class</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Northern India was divided into sixteen major states known as the Mahajanapadas</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Vedic Brahmanism dominated religious life, centered on ritual sacrifice and a fixed caste hierarchy</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A wave of wandering ascetics — the shramana movements — challenged Vedic authority and sought liberation through renunciation and meditation</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Siddhartha Gautama was born into this ferment of trade, cities, and spiritual searching</a:t>
            </a:r>
            <a:endParaRPr lang="en-US" sz="1400" dirty="0"/>
          </a:p>
        </p:txBody>
      </p:sp>
      <p:sp>
        <p:nvSpPr>
          <p:cNvPr id="5" name="Shape 3"/>
          <p:cNvSpPr/>
          <p:nvPr/>
        </p:nvSpPr>
        <p:spPr>
          <a:xfrm>
            <a:off x="6903720" y="1828800"/>
            <a:ext cx="1600200" cy="3200400"/>
          </a:xfrm>
          <a:prstGeom prst="roundRect">
            <a:avLst>
              <a:gd name="adj" fmla="val 4571"/>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Text 4"/>
          <p:cNvSpPr/>
          <p:nvPr/>
        </p:nvSpPr>
        <p:spPr>
          <a:xfrm>
            <a:off x="6949440" y="2103120"/>
            <a:ext cx="1508760" cy="822960"/>
          </a:xfrm>
          <a:prstGeom prst="rect">
            <a:avLst/>
          </a:prstGeom>
          <a:noFill/>
          <a:ln/>
        </p:spPr>
        <p:txBody>
          <a:bodyPr wrap="square" lIns="0" tIns="0" rIns="0" bIns="0" rtlCol="0" anchor="ctr"/>
          <a:lstStyle/>
          <a:p>
            <a:pPr marL="0" indent="0" algn="ctr">
              <a:buNone/>
            </a:pPr>
            <a:r>
              <a:rPr lang="en-US" sz="1900" b="1" dirty="0">
                <a:solidFill>
                  <a:srgbClr val="5C1A1B"/>
                </a:solidFill>
                <a:latin typeface="Cambria" pitchFamily="34" charset="0"/>
                <a:ea typeface="Cambria" pitchFamily="34" charset="-122"/>
                <a:cs typeface="Cambria" pitchFamily="34" charset="-120"/>
              </a:rPr>
              <a:t>16</a:t>
            </a:r>
            <a:endParaRPr lang="en-US" sz="1900" dirty="0"/>
          </a:p>
        </p:txBody>
      </p:sp>
      <p:sp>
        <p:nvSpPr>
          <p:cNvPr id="7" name="Text 5"/>
          <p:cNvSpPr/>
          <p:nvPr/>
        </p:nvSpPr>
        <p:spPr>
          <a:xfrm>
            <a:off x="6976872" y="2971800"/>
            <a:ext cx="1453896" cy="1737360"/>
          </a:xfrm>
          <a:prstGeom prst="rect">
            <a:avLst/>
          </a:prstGeom>
          <a:noFill/>
          <a:ln/>
        </p:spPr>
        <p:txBody>
          <a:bodyPr wrap="square" lIns="0" tIns="0" rIns="0" bIns="0" rtlCol="0" anchor="ctr"/>
          <a:lstStyle/>
          <a:p>
            <a:pPr marL="0" indent="0" algn="ctr">
              <a:buNone/>
            </a:pPr>
            <a:r>
              <a:rPr lang="en-US" sz="1050" dirty="0">
                <a:solidFill>
                  <a:srgbClr val="7A6660"/>
                </a:solidFill>
                <a:latin typeface="Calibri" pitchFamily="34" charset="0"/>
                <a:ea typeface="Calibri" pitchFamily="34" charset="-122"/>
                <a:cs typeface="Calibri" pitchFamily="34" charset="-120"/>
              </a:rPr>
              <a:t>Mahajanapadas</a:t>
            </a:r>
            <a:endParaRPr lang="en-US" sz="1050" dirty="0"/>
          </a:p>
          <a:p>
            <a:pPr marL="0" indent="0" algn="ctr">
              <a:buNone/>
            </a:pPr>
            <a:r>
              <a:rPr lang="en-US" sz="1050" dirty="0">
                <a:solidFill>
                  <a:srgbClr val="7A6660"/>
                </a:solidFill>
                <a:latin typeface="Calibri" pitchFamily="34" charset="0"/>
                <a:ea typeface="Calibri" pitchFamily="34" charset="-122"/>
                <a:cs typeface="Calibri" pitchFamily="34" charset="-120"/>
              </a:rPr>
              <a:t>(great states)</a:t>
            </a:r>
            <a:endParaRPr lang="en-US" sz="1050" dirty="0"/>
          </a:p>
        </p:txBody>
      </p:sp>
      <p:sp>
        <p:nvSpPr>
          <p:cNvPr id="8" name="Shape 6"/>
          <p:cNvSpPr/>
          <p:nvPr/>
        </p:nvSpPr>
        <p:spPr>
          <a:xfrm>
            <a:off x="8705088" y="1828800"/>
            <a:ext cx="1600200" cy="3200400"/>
          </a:xfrm>
          <a:prstGeom prst="roundRect">
            <a:avLst>
              <a:gd name="adj" fmla="val 4571"/>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9" name="Text 7"/>
          <p:cNvSpPr/>
          <p:nvPr/>
        </p:nvSpPr>
        <p:spPr>
          <a:xfrm>
            <a:off x="8750808" y="2103120"/>
            <a:ext cx="1508760" cy="822960"/>
          </a:xfrm>
          <a:prstGeom prst="rect">
            <a:avLst/>
          </a:prstGeom>
          <a:noFill/>
          <a:ln/>
        </p:spPr>
        <p:txBody>
          <a:bodyPr wrap="square" lIns="0" tIns="0" rIns="0" bIns="0" rtlCol="0" anchor="ctr"/>
          <a:lstStyle/>
          <a:p>
            <a:pPr marL="0" indent="0" algn="ctr">
              <a:buNone/>
            </a:pPr>
            <a:r>
              <a:rPr lang="en-US" sz="1900" b="1" dirty="0">
                <a:solidFill>
                  <a:srgbClr val="5C1A1B"/>
                </a:solidFill>
                <a:latin typeface="Cambria" pitchFamily="34" charset="0"/>
                <a:ea typeface="Cambria" pitchFamily="34" charset="-122"/>
                <a:cs typeface="Cambria" pitchFamily="34" charset="-120"/>
              </a:rPr>
              <a:t>6th c.</a:t>
            </a:r>
            <a:endParaRPr lang="en-US" sz="1900" dirty="0"/>
          </a:p>
        </p:txBody>
      </p:sp>
      <p:sp>
        <p:nvSpPr>
          <p:cNvPr id="10" name="Text 8"/>
          <p:cNvSpPr/>
          <p:nvPr/>
        </p:nvSpPr>
        <p:spPr>
          <a:xfrm>
            <a:off x="8778240" y="2971800"/>
            <a:ext cx="1453896" cy="1737360"/>
          </a:xfrm>
          <a:prstGeom prst="rect">
            <a:avLst/>
          </a:prstGeom>
          <a:noFill/>
          <a:ln/>
        </p:spPr>
        <p:txBody>
          <a:bodyPr wrap="square" lIns="0" tIns="0" rIns="0" bIns="0" rtlCol="0" anchor="ctr"/>
          <a:lstStyle/>
          <a:p>
            <a:pPr marL="0" indent="0" algn="ctr">
              <a:buNone/>
            </a:pPr>
            <a:r>
              <a:rPr lang="en-US" sz="1050" dirty="0">
                <a:solidFill>
                  <a:srgbClr val="7A6660"/>
                </a:solidFill>
                <a:latin typeface="Calibri" pitchFamily="34" charset="0"/>
                <a:ea typeface="Calibri" pitchFamily="34" charset="-122"/>
                <a:cs typeface="Calibri" pitchFamily="34" charset="-120"/>
              </a:rPr>
              <a:t>BCE — age of</a:t>
            </a:r>
            <a:endParaRPr lang="en-US" sz="1050" dirty="0"/>
          </a:p>
          <a:p>
            <a:pPr marL="0" indent="0" algn="ctr">
              <a:buNone/>
            </a:pPr>
            <a:r>
              <a:rPr lang="en-US" sz="1050" dirty="0">
                <a:solidFill>
                  <a:srgbClr val="7A6660"/>
                </a:solidFill>
                <a:latin typeface="Calibri" pitchFamily="34" charset="0"/>
                <a:ea typeface="Calibri" pitchFamily="34" charset="-122"/>
                <a:cs typeface="Calibri" pitchFamily="34" charset="-120"/>
              </a:rPr>
              <a:t>new philosophies</a:t>
            </a:r>
            <a:endParaRPr lang="en-US" sz="1050" dirty="0"/>
          </a:p>
        </p:txBody>
      </p:sp>
      <p:sp>
        <p:nvSpPr>
          <p:cNvPr id="11" name="Shape 9"/>
          <p:cNvSpPr/>
          <p:nvPr/>
        </p:nvSpPr>
        <p:spPr>
          <a:xfrm>
            <a:off x="10506456" y="1828800"/>
            <a:ext cx="1600200" cy="3200400"/>
          </a:xfrm>
          <a:prstGeom prst="roundRect">
            <a:avLst>
              <a:gd name="adj" fmla="val 4571"/>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12" name="Text 10"/>
          <p:cNvSpPr/>
          <p:nvPr/>
        </p:nvSpPr>
        <p:spPr>
          <a:xfrm>
            <a:off x="10552176" y="2103120"/>
            <a:ext cx="1508760" cy="822960"/>
          </a:xfrm>
          <a:prstGeom prst="rect">
            <a:avLst/>
          </a:prstGeom>
          <a:noFill/>
          <a:ln/>
        </p:spPr>
        <p:txBody>
          <a:bodyPr wrap="square" lIns="0" tIns="0" rIns="0" bIns="0" rtlCol="0" anchor="ctr"/>
          <a:lstStyle/>
          <a:p>
            <a:pPr marL="0" indent="0" algn="ctr">
              <a:buNone/>
            </a:pPr>
            <a:r>
              <a:rPr lang="en-US" sz="1900" b="1" dirty="0">
                <a:solidFill>
                  <a:srgbClr val="5C1A1B"/>
                </a:solidFill>
                <a:latin typeface="Cambria" pitchFamily="34" charset="0"/>
                <a:ea typeface="Cambria" pitchFamily="34" charset="-122"/>
                <a:cs typeface="Cambria" pitchFamily="34" charset="-120"/>
              </a:rPr>
              <a:t>Shramanas</a:t>
            </a:r>
            <a:endParaRPr lang="en-US" sz="1900" dirty="0"/>
          </a:p>
        </p:txBody>
      </p:sp>
      <p:sp>
        <p:nvSpPr>
          <p:cNvPr id="13" name="Text 11"/>
          <p:cNvSpPr/>
          <p:nvPr/>
        </p:nvSpPr>
        <p:spPr>
          <a:xfrm>
            <a:off x="10579608" y="2971800"/>
            <a:ext cx="1453896" cy="1737360"/>
          </a:xfrm>
          <a:prstGeom prst="rect">
            <a:avLst/>
          </a:prstGeom>
          <a:noFill/>
          <a:ln/>
        </p:spPr>
        <p:txBody>
          <a:bodyPr wrap="square" lIns="0" tIns="0" rIns="0" bIns="0" rtlCol="0" anchor="ctr"/>
          <a:lstStyle/>
          <a:p>
            <a:pPr marL="0" indent="0" algn="ctr">
              <a:buNone/>
            </a:pPr>
            <a:r>
              <a:rPr lang="en-US" sz="1050" dirty="0">
                <a:solidFill>
                  <a:srgbClr val="7A6660"/>
                </a:solidFill>
                <a:latin typeface="Calibri" pitchFamily="34" charset="0"/>
                <a:ea typeface="Calibri" pitchFamily="34" charset="-122"/>
                <a:cs typeface="Calibri" pitchFamily="34" charset="-120"/>
              </a:rPr>
              <a:t>wandering seekers</a:t>
            </a:r>
            <a:endParaRPr lang="en-US" sz="1050" dirty="0"/>
          </a:p>
          <a:p>
            <a:pPr marL="0" indent="0" algn="ctr">
              <a:buNone/>
            </a:pPr>
            <a:r>
              <a:rPr lang="en-US" sz="1050" dirty="0">
                <a:solidFill>
                  <a:srgbClr val="7A6660"/>
                </a:solidFill>
                <a:latin typeface="Calibri" pitchFamily="34" charset="0"/>
                <a:ea typeface="Calibri" pitchFamily="34" charset="-122"/>
                <a:cs typeface="Calibri" pitchFamily="34" charset="-120"/>
              </a:rPr>
              <a:t>challenging tradition</a:t>
            </a:r>
            <a:endParaRPr lang="en-US" sz="1050" dirty="0"/>
          </a:p>
        </p:txBody>
      </p:sp>
      <p:sp>
        <p:nvSpPr>
          <p:cNvPr id="14" name="Text 12"/>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02</a:t>
            </a:r>
            <a:endParaRPr lang="en-US" sz="1000" dirty="0"/>
          </a:p>
        </p:txBody>
      </p:sp>
      <p:sp>
        <p:nvSpPr>
          <p:cNvPr id="15" name="Text 13"/>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D0F10"/>
        </a:solidFill>
        <a:effectLst/>
      </p:bgPr>
    </p:bg>
    <p:spTree>
      <p:nvGrpSpPr>
        <p:cNvPr id="1" name=""/>
        <p:cNvGrpSpPr/>
        <p:nvPr/>
      </p:nvGrpSpPr>
      <p:grpSpPr>
        <a:xfrm>
          <a:off x="0" y="0"/>
          <a:ext cx="0" cy="0"/>
          <a:chOff x="0" y="0"/>
          <a:chExt cx="0" cy="0"/>
        </a:xfrm>
      </p:grpSpPr>
      <p:sp>
        <p:nvSpPr>
          <p:cNvPr id="2" name="Shape 0"/>
          <p:cNvSpPr/>
          <p:nvPr/>
        </p:nvSpPr>
        <p:spPr>
          <a:xfrm>
            <a:off x="822960" y="2468880"/>
            <a:ext cx="1737360" cy="1737360"/>
          </a:xfrm>
          <a:prstGeom prst="ellipse">
            <a:avLst/>
          </a:prstGeom>
          <a:solidFill>
            <a:srgbClr val="5C1A1B"/>
          </a:solidFill>
          <a:ln/>
        </p:spPr>
        <p:txBody>
          <a:bodyPr/>
          <a:lstStyle/>
          <a:p>
            <a:endParaRPr lang="en-US"/>
          </a:p>
        </p:txBody>
      </p:sp>
      <p:pic>
        <p:nvPicPr>
          <p:cNvPr id="3" name="Image 0" descr="/home/claude/buddhism/icons/footprint_white.png"/>
          <p:cNvPicPr>
            <a:picLocks noChangeAspect="1"/>
          </p:cNvPicPr>
          <p:nvPr/>
        </p:nvPicPr>
        <p:blipFill>
          <a:blip r:embed="rId3"/>
          <a:stretch>
            <a:fillRect/>
          </a:stretch>
        </p:blipFill>
        <p:spPr>
          <a:xfrm>
            <a:off x="1213866" y="2859786"/>
            <a:ext cx="955548" cy="955548"/>
          </a:xfrm>
          <a:prstGeom prst="rect">
            <a:avLst/>
          </a:prstGeom>
        </p:spPr>
      </p:pic>
      <p:sp>
        <p:nvSpPr>
          <p:cNvPr id="4" name="Text 1"/>
          <p:cNvSpPr/>
          <p:nvPr/>
        </p:nvSpPr>
        <p:spPr>
          <a:xfrm>
            <a:off x="2834640" y="2606040"/>
            <a:ext cx="7315200" cy="365760"/>
          </a:xfrm>
          <a:prstGeom prst="rect">
            <a:avLst/>
          </a:prstGeom>
          <a:noFill/>
          <a:ln/>
        </p:spPr>
        <p:txBody>
          <a:bodyPr wrap="square" lIns="0" tIns="0" rIns="0" bIns="0" rtlCol="0" anchor="ctr"/>
          <a:lstStyle/>
          <a:p>
            <a:pPr marL="0" indent="0">
              <a:buNone/>
            </a:pPr>
            <a:r>
              <a:rPr lang="en-US" sz="1400" b="1" kern="0" spc="300" dirty="0">
                <a:solidFill>
                  <a:srgbClr val="E0B25C"/>
                </a:solidFill>
                <a:latin typeface="Calibri" pitchFamily="34" charset="0"/>
                <a:ea typeface="Calibri" pitchFamily="34" charset="-122"/>
                <a:cs typeface="Calibri" pitchFamily="34" charset="-120"/>
              </a:rPr>
              <a:t>PART ONE</a:t>
            </a:r>
            <a:endParaRPr lang="en-US" sz="1400" dirty="0"/>
          </a:p>
        </p:txBody>
      </p:sp>
      <p:sp>
        <p:nvSpPr>
          <p:cNvPr id="5" name="Text 2"/>
          <p:cNvSpPr/>
          <p:nvPr/>
        </p:nvSpPr>
        <p:spPr>
          <a:xfrm>
            <a:off x="2834640" y="2926080"/>
            <a:ext cx="8229600" cy="100584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The Life of the Buddha</a:t>
            </a:r>
            <a:endParaRPr lang="en-US" sz="3800" dirty="0"/>
          </a:p>
        </p:txBody>
      </p:sp>
      <p:sp>
        <p:nvSpPr>
          <p:cNvPr id="6" name="Text 3"/>
          <p:cNvSpPr/>
          <p:nvPr/>
        </p:nvSpPr>
        <p:spPr>
          <a:xfrm>
            <a:off x="2834640" y="3794760"/>
            <a:ext cx="7772400" cy="457200"/>
          </a:xfrm>
          <a:prstGeom prst="rect">
            <a:avLst/>
          </a:prstGeom>
          <a:noFill/>
          <a:ln/>
        </p:spPr>
        <p:txBody>
          <a:bodyPr wrap="square" lIns="0" tIns="0" rIns="0" bIns="0" rtlCol="0" anchor="ctr"/>
          <a:lstStyle/>
          <a:p>
            <a:pPr marL="0" indent="0">
              <a:buNone/>
            </a:pPr>
            <a:r>
              <a:rPr lang="en-US" sz="1500" i="1" dirty="0">
                <a:solidFill>
                  <a:srgbClr val="D9C9C4"/>
                </a:solidFill>
                <a:latin typeface="Calibri" pitchFamily="34" charset="0"/>
                <a:ea typeface="Calibri" pitchFamily="34" charset="-122"/>
                <a:cs typeface="Calibri" pitchFamily="34" charset="-120"/>
              </a:rPr>
              <a:t>From a sheltered prince to an awakened teacher</a:t>
            </a:r>
            <a:endParaRPr lang="en-US" sz="1500" dirty="0"/>
          </a:p>
        </p:txBody>
      </p:sp>
      <p:sp>
        <p:nvSpPr>
          <p:cNvPr id="7" name="Text 4"/>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D9C9C4"/>
                </a:solidFill>
                <a:latin typeface="Calibri" pitchFamily="34" charset="0"/>
                <a:ea typeface="Calibri" pitchFamily="34" charset="-122"/>
                <a:cs typeface="Calibri" pitchFamily="34" charset="-120"/>
              </a:rPr>
              <a:t>03</a:t>
            </a:r>
            <a:endParaRPr lang="en-US" sz="1000" dirty="0"/>
          </a:p>
        </p:txBody>
      </p:sp>
      <p:sp>
        <p:nvSpPr>
          <p:cNvPr id="8" name="Text 5"/>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D9C9C4"/>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Birth and Early Life of Siddhartha Gautama</a:t>
            </a:r>
            <a:endParaRPr lang="en-US" sz="3000" dirty="0"/>
          </a:p>
        </p:txBody>
      </p:sp>
      <p:sp>
        <p:nvSpPr>
          <p:cNvPr id="4" name="Text 2"/>
          <p:cNvSpPr/>
          <p:nvPr/>
        </p:nvSpPr>
        <p:spPr>
          <a:xfrm>
            <a:off x="548640" y="1828800"/>
            <a:ext cx="640080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Born 6</a:t>
            </a:r>
            <a:r>
              <a:rPr lang="en-US" sz="1400" baseline="30000" dirty="0">
                <a:solidFill>
                  <a:srgbClr val="2B1A1A"/>
                </a:solidFill>
                <a:latin typeface="Calibri" pitchFamily="34" charset="0"/>
                <a:ea typeface="Calibri" pitchFamily="34" charset="-122"/>
                <a:cs typeface="Calibri" pitchFamily="34" charset="-120"/>
              </a:rPr>
              <a:t>th</a:t>
            </a:r>
            <a:r>
              <a:rPr lang="en-US" sz="1400" dirty="0">
                <a:solidFill>
                  <a:srgbClr val="2B1A1A"/>
                </a:solidFill>
                <a:latin typeface="Calibri" pitchFamily="34" charset="0"/>
                <a:ea typeface="Calibri" pitchFamily="34" charset="-122"/>
                <a:cs typeface="Calibri" pitchFamily="34" charset="-120"/>
              </a:rPr>
              <a:t> Century BCE in Lumbini, son of King Suddhodana, ruler of the Shakya clan</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His mother, Queen Maya, died seven days after his birth; he was raised by her sister, Mahapajapati</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The sage Asita prophesied the infant would become either a great king or a great sage</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To prevent the second path, his father raised him amid luxury, shielded from suffering</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He married Yasodhara and had a son, Rahula, while still confined to palace life</a:t>
            </a:r>
            <a:endParaRPr lang="en-US" sz="1400" dirty="0"/>
          </a:p>
        </p:txBody>
      </p:sp>
      <p:sp>
        <p:nvSpPr>
          <p:cNvPr id="5" name="Shape 3"/>
          <p:cNvSpPr/>
          <p:nvPr/>
        </p:nvSpPr>
        <p:spPr>
          <a:xfrm>
            <a:off x="7772400" y="1828800"/>
            <a:ext cx="3840480" cy="4114800"/>
          </a:xfrm>
          <a:prstGeom prst="roundRect">
            <a:avLst>
              <a:gd name="adj" fmla="val 1905"/>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8412480" y="2148840"/>
            <a:ext cx="914400" cy="914400"/>
          </a:xfrm>
          <a:prstGeom prst="ellipse">
            <a:avLst/>
          </a:prstGeom>
          <a:solidFill>
            <a:srgbClr val="5C1A1B"/>
          </a:solidFill>
          <a:ln/>
        </p:spPr>
        <p:txBody>
          <a:bodyPr/>
          <a:lstStyle/>
          <a:p>
            <a:endParaRPr lang="en-US"/>
          </a:p>
        </p:txBody>
      </p:sp>
      <p:pic>
        <p:nvPicPr>
          <p:cNvPr id="7" name="Image 0" descr="/home/claude/buddhism/icons/crown_white.png"/>
          <p:cNvPicPr>
            <a:picLocks noChangeAspect="1"/>
          </p:cNvPicPr>
          <p:nvPr/>
        </p:nvPicPr>
        <p:blipFill>
          <a:blip r:embed="rId3"/>
          <a:stretch>
            <a:fillRect/>
          </a:stretch>
        </p:blipFill>
        <p:spPr>
          <a:xfrm>
            <a:off x="8618220" y="2354580"/>
            <a:ext cx="502920" cy="502920"/>
          </a:xfrm>
          <a:prstGeom prst="rect">
            <a:avLst/>
          </a:prstGeom>
        </p:spPr>
      </p:pic>
      <p:sp>
        <p:nvSpPr>
          <p:cNvPr id="8" name="Text 5"/>
          <p:cNvSpPr/>
          <p:nvPr/>
        </p:nvSpPr>
        <p:spPr>
          <a:xfrm>
            <a:off x="8001000" y="3200400"/>
            <a:ext cx="3291840" cy="36576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Siddhartha Gautama</a:t>
            </a:r>
            <a:endParaRPr lang="en-US" sz="1500" dirty="0"/>
          </a:p>
        </p:txBody>
      </p:sp>
      <p:sp>
        <p:nvSpPr>
          <p:cNvPr id="9" name="Text 6"/>
          <p:cNvSpPr/>
          <p:nvPr/>
        </p:nvSpPr>
        <p:spPr>
          <a:xfrm>
            <a:off x="8001000" y="3611880"/>
            <a:ext cx="3291840" cy="2011680"/>
          </a:xfrm>
          <a:prstGeom prst="rect">
            <a:avLst/>
          </a:prstGeom>
          <a:noFill/>
          <a:ln/>
        </p:spPr>
        <p:txBody>
          <a:bodyPr wrap="square" lIns="0" tIns="0" rIns="0" bIns="0" rtlCol="0" anchor="ctr"/>
          <a:lstStyle/>
          <a:p>
            <a:pPr marL="0" indent="0" algn="ctr">
              <a:buNone/>
            </a:pPr>
            <a:r>
              <a:rPr lang="en-US" sz="1200" i="1" dirty="0">
                <a:solidFill>
                  <a:srgbClr val="7A6660"/>
                </a:solidFill>
                <a:latin typeface="Calibri" pitchFamily="34" charset="0"/>
                <a:ea typeface="Calibri" pitchFamily="34" charset="-122"/>
                <a:cs typeface="Calibri" pitchFamily="34" charset="-120"/>
              </a:rPr>
              <a:t>Prince of the Shakya clan,</a:t>
            </a:r>
            <a:endParaRPr lang="en-US" sz="1200" dirty="0"/>
          </a:p>
          <a:p>
            <a:pPr marL="0" indent="0" algn="ctr">
              <a:buNone/>
            </a:pPr>
            <a:r>
              <a:rPr lang="en-US" sz="1200" i="1" dirty="0">
                <a:solidFill>
                  <a:srgbClr val="7A6660"/>
                </a:solidFill>
                <a:latin typeface="Calibri" pitchFamily="34" charset="0"/>
                <a:ea typeface="Calibri" pitchFamily="34" charset="-122"/>
                <a:cs typeface="Calibri" pitchFamily="34" charset="-120"/>
              </a:rPr>
              <a:t>Kapilavastu, c. 563 – 483 BCE</a:t>
            </a:r>
            <a:endParaRPr lang="en-US" sz="1200" dirty="0"/>
          </a:p>
          <a:p>
            <a:pPr marL="0" indent="0" algn="ctr">
              <a:buNone/>
            </a:pPr>
            <a:r>
              <a:rPr lang="en-US" sz="1200" i="1" dirty="0">
                <a:solidFill>
                  <a:srgbClr val="7A6660"/>
                </a:solidFill>
                <a:latin typeface="Calibri" pitchFamily="34" charset="0"/>
                <a:ea typeface="Calibri" pitchFamily="34" charset="-122"/>
                <a:cs typeface="Calibri" pitchFamily="34" charset="-120"/>
              </a:rPr>
              <a:t>(traditional dates)</a:t>
            </a:r>
            <a:endParaRPr lang="en-US" sz="1200" dirty="0"/>
          </a:p>
        </p:txBody>
      </p:sp>
      <p:sp>
        <p:nvSpPr>
          <p:cNvPr id="10" name="Text 7"/>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04</a:t>
            </a:r>
            <a:endParaRPr lang="en-US" sz="1000" dirty="0"/>
          </a:p>
        </p:txBody>
      </p:sp>
      <p:sp>
        <p:nvSpPr>
          <p:cNvPr id="11" name="Text 8"/>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3A5F9F1-0B13-33CA-462D-6CC8786F17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81FB5D-3949-9976-A87A-A0E3EA88A984}"/>
              </a:ext>
            </a:extLst>
          </p:cNvPr>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a:extLst>
              <a:ext uri="{FF2B5EF4-FFF2-40B4-BE49-F238E27FC236}">
                <a16:creationId xmlns:a16="http://schemas.microsoft.com/office/drawing/2014/main" id="{2189BFCB-9EE6-AE8C-B309-4C964A4E8262}"/>
              </a:ext>
            </a:extLst>
          </p:cNvPr>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Birth and Early Life of Siddhartha Gautama</a:t>
            </a:r>
            <a:endParaRPr lang="en-US" sz="3000" dirty="0"/>
          </a:p>
        </p:txBody>
      </p:sp>
      <p:sp>
        <p:nvSpPr>
          <p:cNvPr id="4" name="Text 2">
            <a:extLst>
              <a:ext uri="{FF2B5EF4-FFF2-40B4-BE49-F238E27FC236}">
                <a16:creationId xmlns:a16="http://schemas.microsoft.com/office/drawing/2014/main" id="{2DAD7DFB-5852-9F32-019E-C8356B747F90}"/>
              </a:ext>
            </a:extLst>
          </p:cNvPr>
          <p:cNvSpPr/>
          <p:nvPr/>
        </p:nvSpPr>
        <p:spPr>
          <a:xfrm>
            <a:off x="548640" y="1828800"/>
            <a:ext cx="640080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Born 6</a:t>
            </a:r>
            <a:r>
              <a:rPr lang="en-US" sz="1400" baseline="30000" dirty="0">
                <a:solidFill>
                  <a:srgbClr val="2B1A1A"/>
                </a:solidFill>
                <a:latin typeface="Calibri" pitchFamily="34" charset="0"/>
                <a:ea typeface="Calibri" pitchFamily="34" charset="-122"/>
                <a:cs typeface="Calibri" pitchFamily="34" charset="-120"/>
              </a:rPr>
              <a:t>th</a:t>
            </a:r>
            <a:r>
              <a:rPr lang="en-US" sz="1400" dirty="0">
                <a:solidFill>
                  <a:srgbClr val="2B1A1A"/>
                </a:solidFill>
                <a:latin typeface="Calibri" pitchFamily="34" charset="0"/>
                <a:ea typeface="Calibri" pitchFamily="34" charset="-122"/>
                <a:cs typeface="Calibri" pitchFamily="34" charset="-120"/>
              </a:rPr>
              <a:t> Century BCE in Lumbini, son of King Suddhodana, ruler of the Shakya clan</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His mother, Queen Maya, died seven days after his birth; he was raised by her sister, Mahapajapati</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The sage Asita prophesied the infant would become either a great king or a great sage</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To prevent the second path, his father raised him amid luxury, shielded from suffering</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He married Yasodhara and had a son, Rahula, while still confined to palace life</a:t>
            </a:r>
            <a:endParaRPr lang="en-US" sz="1400" dirty="0"/>
          </a:p>
        </p:txBody>
      </p:sp>
      <p:sp>
        <p:nvSpPr>
          <p:cNvPr id="5" name="Shape 3">
            <a:extLst>
              <a:ext uri="{FF2B5EF4-FFF2-40B4-BE49-F238E27FC236}">
                <a16:creationId xmlns:a16="http://schemas.microsoft.com/office/drawing/2014/main" id="{B58B3F76-8B00-402E-C573-AE68B134F7D8}"/>
              </a:ext>
            </a:extLst>
          </p:cNvPr>
          <p:cNvSpPr/>
          <p:nvPr/>
        </p:nvSpPr>
        <p:spPr>
          <a:xfrm>
            <a:off x="7772400" y="1828800"/>
            <a:ext cx="3840480" cy="4114800"/>
          </a:xfrm>
          <a:prstGeom prst="roundRect">
            <a:avLst>
              <a:gd name="adj" fmla="val 1905"/>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a:extLst>
              <a:ext uri="{FF2B5EF4-FFF2-40B4-BE49-F238E27FC236}">
                <a16:creationId xmlns:a16="http://schemas.microsoft.com/office/drawing/2014/main" id="{C906E789-E0F0-2AC4-A331-B844380CC3B3}"/>
              </a:ext>
            </a:extLst>
          </p:cNvPr>
          <p:cNvSpPr/>
          <p:nvPr/>
        </p:nvSpPr>
        <p:spPr>
          <a:xfrm>
            <a:off x="8412480" y="2148840"/>
            <a:ext cx="914400" cy="914400"/>
          </a:xfrm>
          <a:prstGeom prst="ellipse">
            <a:avLst/>
          </a:prstGeom>
          <a:solidFill>
            <a:srgbClr val="5C1A1B"/>
          </a:solidFill>
          <a:ln/>
        </p:spPr>
        <p:txBody>
          <a:bodyPr/>
          <a:lstStyle/>
          <a:p>
            <a:endParaRPr lang="en-US"/>
          </a:p>
        </p:txBody>
      </p:sp>
      <p:pic>
        <p:nvPicPr>
          <p:cNvPr id="7" name="Image 0" descr="/home/claude/buddhism/icons/crown_white.png">
            <a:extLst>
              <a:ext uri="{FF2B5EF4-FFF2-40B4-BE49-F238E27FC236}">
                <a16:creationId xmlns:a16="http://schemas.microsoft.com/office/drawing/2014/main" id="{ECEDFB9B-F434-B4DA-D2EA-D726E42F6F65}"/>
              </a:ext>
            </a:extLst>
          </p:cNvPr>
          <p:cNvPicPr>
            <a:picLocks noChangeAspect="1"/>
          </p:cNvPicPr>
          <p:nvPr/>
        </p:nvPicPr>
        <p:blipFill>
          <a:blip r:embed="rId3"/>
          <a:stretch>
            <a:fillRect/>
          </a:stretch>
        </p:blipFill>
        <p:spPr>
          <a:xfrm>
            <a:off x="8618220" y="2354580"/>
            <a:ext cx="502920" cy="502920"/>
          </a:xfrm>
          <a:prstGeom prst="rect">
            <a:avLst/>
          </a:prstGeom>
        </p:spPr>
      </p:pic>
      <p:sp>
        <p:nvSpPr>
          <p:cNvPr id="8" name="Text 5">
            <a:extLst>
              <a:ext uri="{FF2B5EF4-FFF2-40B4-BE49-F238E27FC236}">
                <a16:creationId xmlns:a16="http://schemas.microsoft.com/office/drawing/2014/main" id="{B7ACD22D-C01D-5FA2-6F9B-82FDEC345E35}"/>
              </a:ext>
            </a:extLst>
          </p:cNvPr>
          <p:cNvSpPr/>
          <p:nvPr/>
        </p:nvSpPr>
        <p:spPr>
          <a:xfrm>
            <a:off x="8001000" y="3200400"/>
            <a:ext cx="3291840" cy="36576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Siddhartha Gautama</a:t>
            </a:r>
            <a:endParaRPr lang="en-US" sz="1500" dirty="0"/>
          </a:p>
        </p:txBody>
      </p:sp>
      <p:sp>
        <p:nvSpPr>
          <p:cNvPr id="9" name="Text 6">
            <a:extLst>
              <a:ext uri="{FF2B5EF4-FFF2-40B4-BE49-F238E27FC236}">
                <a16:creationId xmlns:a16="http://schemas.microsoft.com/office/drawing/2014/main" id="{34468299-E24A-F872-8406-729C19CB2629}"/>
              </a:ext>
            </a:extLst>
          </p:cNvPr>
          <p:cNvSpPr/>
          <p:nvPr/>
        </p:nvSpPr>
        <p:spPr>
          <a:xfrm>
            <a:off x="8001000" y="3611880"/>
            <a:ext cx="3291840" cy="2011680"/>
          </a:xfrm>
          <a:prstGeom prst="rect">
            <a:avLst/>
          </a:prstGeom>
          <a:noFill/>
          <a:ln/>
        </p:spPr>
        <p:txBody>
          <a:bodyPr wrap="square" lIns="0" tIns="0" rIns="0" bIns="0" rtlCol="0" anchor="ctr"/>
          <a:lstStyle/>
          <a:p>
            <a:pPr marL="0" indent="0" algn="ctr">
              <a:buNone/>
            </a:pPr>
            <a:r>
              <a:rPr lang="en-US" sz="1200" i="1" dirty="0">
                <a:solidFill>
                  <a:srgbClr val="7A6660"/>
                </a:solidFill>
                <a:latin typeface="Calibri" pitchFamily="34" charset="0"/>
                <a:ea typeface="Calibri" pitchFamily="34" charset="-122"/>
                <a:cs typeface="Calibri" pitchFamily="34" charset="-120"/>
              </a:rPr>
              <a:t>Prince of the Shakya clan,</a:t>
            </a:r>
            <a:endParaRPr lang="en-US" sz="1200" dirty="0"/>
          </a:p>
          <a:p>
            <a:pPr marL="0" indent="0" algn="ctr">
              <a:buNone/>
            </a:pPr>
            <a:r>
              <a:rPr lang="en-US" sz="1200" i="1" dirty="0">
                <a:solidFill>
                  <a:srgbClr val="7A6660"/>
                </a:solidFill>
                <a:latin typeface="Calibri" pitchFamily="34" charset="0"/>
                <a:ea typeface="Calibri" pitchFamily="34" charset="-122"/>
                <a:cs typeface="Calibri" pitchFamily="34" charset="-120"/>
              </a:rPr>
              <a:t>Kapilavastu, c. 563 – 483 BCE</a:t>
            </a:r>
            <a:endParaRPr lang="en-US" sz="1200" dirty="0"/>
          </a:p>
          <a:p>
            <a:pPr marL="0" indent="0" algn="ctr">
              <a:buNone/>
            </a:pPr>
            <a:r>
              <a:rPr lang="en-US" sz="1200" i="1" dirty="0">
                <a:solidFill>
                  <a:srgbClr val="7A6660"/>
                </a:solidFill>
                <a:latin typeface="Calibri" pitchFamily="34" charset="0"/>
                <a:ea typeface="Calibri" pitchFamily="34" charset="-122"/>
                <a:cs typeface="Calibri" pitchFamily="34" charset="-120"/>
              </a:rPr>
              <a:t>(traditional dates)</a:t>
            </a:r>
            <a:endParaRPr lang="en-US" sz="1200" dirty="0"/>
          </a:p>
        </p:txBody>
      </p:sp>
      <p:sp>
        <p:nvSpPr>
          <p:cNvPr id="10" name="Text 7">
            <a:extLst>
              <a:ext uri="{FF2B5EF4-FFF2-40B4-BE49-F238E27FC236}">
                <a16:creationId xmlns:a16="http://schemas.microsoft.com/office/drawing/2014/main" id="{8B678411-9055-D756-674D-E51330CAC7BC}"/>
              </a:ext>
            </a:extLst>
          </p:cNvPr>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04</a:t>
            </a:r>
            <a:endParaRPr lang="en-US" sz="1000" dirty="0"/>
          </a:p>
        </p:txBody>
      </p:sp>
      <p:sp>
        <p:nvSpPr>
          <p:cNvPr id="11" name="Text 8">
            <a:extLst>
              <a:ext uri="{FF2B5EF4-FFF2-40B4-BE49-F238E27FC236}">
                <a16:creationId xmlns:a16="http://schemas.microsoft.com/office/drawing/2014/main" id="{4AA9C2E6-D8C1-6923-BA9D-5757B2644DAD}"/>
              </a:ext>
            </a:extLst>
          </p:cNvPr>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extLst>
      <p:ext uri="{BB962C8B-B14F-4D97-AF65-F5344CB8AC3E}">
        <p14:creationId xmlns:p14="http://schemas.microsoft.com/office/powerpoint/2010/main" val="4094632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The Four Sights</a:t>
            </a:r>
            <a:endParaRPr lang="en-US" sz="3000" dirty="0"/>
          </a:p>
        </p:txBody>
      </p:sp>
      <p:sp>
        <p:nvSpPr>
          <p:cNvPr id="4" name="Text 2"/>
          <p:cNvSpPr/>
          <p:nvPr/>
        </p:nvSpPr>
        <p:spPr>
          <a:xfrm>
            <a:off x="548640" y="1691640"/>
            <a:ext cx="10789920" cy="457200"/>
          </a:xfrm>
          <a:prstGeom prst="rect">
            <a:avLst/>
          </a:prstGeom>
          <a:noFill/>
          <a:ln/>
        </p:spPr>
        <p:txBody>
          <a:bodyPr wrap="square" lIns="0" tIns="0" rIns="0" bIns="0" rtlCol="0" anchor="ctr"/>
          <a:lstStyle/>
          <a:p>
            <a:pPr marL="0" indent="0">
              <a:buNone/>
            </a:pPr>
            <a:r>
              <a:rPr lang="en-US" sz="1350" i="1" dirty="0">
                <a:solidFill>
                  <a:srgbClr val="7A6660"/>
                </a:solidFill>
                <a:latin typeface="Calibri" pitchFamily="34" charset="0"/>
                <a:ea typeface="Calibri" pitchFamily="34" charset="-122"/>
                <a:cs typeface="Calibri" pitchFamily="34" charset="-120"/>
              </a:rPr>
              <a:t>On chariot rides beyond the palace walls, Siddhartha encountered four scenes that shattered his sheltered world.</a:t>
            </a:r>
            <a:endParaRPr lang="en-US" sz="1350" dirty="0"/>
          </a:p>
        </p:txBody>
      </p:sp>
      <p:sp>
        <p:nvSpPr>
          <p:cNvPr id="5" name="Shape 3"/>
          <p:cNvSpPr/>
          <p:nvPr/>
        </p:nvSpPr>
        <p:spPr>
          <a:xfrm>
            <a:off x="548640" y="2377440"/>
            <a:ext cx="2697480" cy="3383280"/>
          </a:xfrm>
          <a:prstGeom prst="roundRect">
            <a:avLst>
              <a:gd name="adj" fmla="val 271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1531620" y="2651760"/>
            <a:ext cx="822960" cy="822960"/>
          </a:xfrm>
          <a:prstGeom prst="ellipse">
            <a:avLst/>
          </a:prstGeom>
          <a:solidFill>
            <a:srgbClr val="5C1A1B"/>
          </a:solidFill>
          <a:ln/>
        </p:spPr>
        <p:txBody>
          <a:bodyPr/>
          <a:lstStyle/>
          <a:p>
            <a:endParaRPr lang="en-US"/>
          </a:p>
        </p:txBody>
      </p:sp>
      <p:pic>
        <p:nvPicPr>
          <p:cNvPr id="7" name="Image 0" descr="/home/claude/buddhism/icons/footprint_white.png"/>
          <p:cNvPicPr>
            <a:picLocks noChangeAspect="1"/>
          </p:cNvPicPr>
          <p:nvPr/>
        </p:nvPicPr>
        <p:blipFill>
          <a:blip r:embed="rId3"/>
          <a:stretch>
            <a:fillRect/>
          </a:stretch>
        </p:blipFill>
        <p:spPr>
          <a:xfrm>
            <a:off x="1716786" y="2836926"/>
            <a:ext cx="452628" cy="452628"/>
          </a:xfrm>
          <a:prstGeom prst="rect">
            <a:avLst/>
          </a:prstGeom>
        </p:spPr>
      </p:pic>
      <p:sp>
        <p:nvSpPr>
          <p:cNvPr id="8" name="Text 5"/>
          <p:cNvSpPr/>
          <p:nvPr/>
        </p:nvSpPr>
        <p:spPr>
          <a:xfrm>
            <a:off x="685800" y="3657600"/>
            <a:ext cx="2423160" cy="548640"/>
          </a:xfrm>
          <a:prstGeom prst="rect">
            <a:avLst/>
          </a:prstGeom>
          <a:noFill/>
          <a:ln/>
        </p:spPr>
        <p:txBody>
          <a:bodyPr wrap="square" lIns="0" tIns="0" rIns="0" bIns="0" rtlCol="0" anchor="ctr"/>
          <a:lstStyle/>
          <a:p>
            <a:pPr marL="0" indent="0" algn="ctr">
              <a:buNone/>
            </a:pPr>
            <a:r>
              <a:rPr lang="en-US" sz="1400" b="1" dirty="0">
                <a:solidFill>
                  <a:srgbClr val="5C1A1B"/>
                </a:solidFill>
                <a:latin typeface="Cambria" pitchFamily="34" charset="0"/>
                <a:ea typeface="Cambria" pitchFamily="34" charset="-122"/>
                <a:cs typeface="Cambria" pitchFamily="34" charset="-120"/>
              </a:rPr>
              <a:t>An Old Man</a:t>
            </a:r>
            <a:endParaRPr lang="en-US" sz="1400" dirty="0"/>
          </a:p>
        </p:txBody>
      </p:sp>
      <p:sp>
        <p:nvSpPr>
          <p:cNvPr id="9" name="Text 6"/>
          <p:cNvSpPr/>
          <p:nvPr/>
        </p:nvSpPr>
        <p:spPr>
          <a:xfrm>
            <a:off x="731520" y="4206240"/>
            <a:ext cx="2331720" cy="137160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Revealed that aging spares no one</a:t>
            </a:r>
            <a:endParaRPr lang="en-US" sz="1150" dirty="0"/>
          </a:p>
        </p:txBody>
      </p:sp>
      <p:sp>
        <p:nvSpPr>
          <p:cNvPr id="10" name="Shape 7"/>
          <p:cNvSpPr/>
          <p:nvPr/>
        </p:nvSpPr>
        <p:spPr>
          <a:xfrm>
            <a:off x="3337560" y="2377440"/>
            <a:ext cx="2697480" cy="3383280"/>
          </a:xfrm>
          <a:prstGeom prst="roundRect">
            <a:avLst>
              <a:gd name="adj" fmla="val 271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11" name="Shape 8"/>
          <p:cNvSpPr/>
          <p:nvPr/>
        </p:nvSpPr>
        <p:spPr>
          <a:xfrm>
            <a:off x="4320540" y="2651760"/>
            <a:ext cx="822960" cy="822960"/>
          </a:xfrm>
          <a:prstGeom prst="ellipse">
            <a:avLst/>
          </a:prstGeom>
          <a:solidFill>
            <a:srgbClr val="5C1A1B"/>
          </a:solidFill>
          <a:ln/>
        </p:spPr>
        <p:txBody>
          <a:bodyPr/>
          <a:lstStyle/>
          <a:p>
            <a:endParaRPr lang="en-US"/>
          </a:p>
        </p:txBody>
      </p:sp>
      <p:pic>
        <p:nvPicPr>
          <p:cNvPr id="12" name="Image 1" descr="/home/claude/buddhism/icons/footprint_white.png"/>
          <p:cNvPicPr>
            <a:picLocks noChangeAspect="1"/>
          </p:cNvPicPr>
          <p:nvPr/>
        </p:nvPicPr>
        <p:blipFill>
          <a:blip r:embed="rId3"/>
          <a:stretch>
            <a:fillRect/>
          </a:stretch>
        </p:blipFill>
        <p:spPr>
          <a:xfrm>
            <a:off x="4505706" y="2836926"/>
            <a:ext cx="452628" cy="452628"/>
          </a:xfrm>
          <a:prstGeom prst="rect">
            <a:avLst/>
          </a:prstGeom>
        </p:spPr>
      </p:pic>
      <p:sp>
        <p:nvSpPr>
          <p:cNvPr id="13" name="Text 9"/>
          <p:cNvSpPr/>
          <p:nvPr/>
        </p:nvSpPr>
        <p:spPr>
          <a:xfrm>
            <a:off x="3474720" y="3657600"/>
            <a:ext cx="2423160" cy="548640"/>
          </a:xfrm>
          <a:prstGeom prst="rect">
            <a:avLst/>
          </a:prstGeom>
          <a:noFill/>
          <a:ln/>
        </p:spPr>
        <p:txBody>
          <a:bodyPr wrap="square" lIns="0" tIns="0" rIns="0" bIns="0" rtlCol="0" anchor="ctr"/>
          <a:lstStyle/>
          <a:p>
            <a:pPr marL="0" indent="0" algn="ctr">
              <a:buNone/>
            </a:pPr>
            <a:r>
              <a:rPr lang="en-US" sz="1400" b="1" dirty="0">
                <a:solidFill>
                  <a:srgbClr val="5C1A1B"/>
                </a:solidFill>
                <a:latin typeface="Cambria" pitchFamily="34" charset="0"/>
                <a:ea typeface="Cambria" pitchFamily="34" charset="-122"/>
                <a:cs typeface="Cambria" pitchFamily="34" charset="-120"/>
              </a:rPr>
              <a:t>A Sick Man</a:t>
            </a:r>
            <a:endParaRPr lang="en-US" sz="1400" dirty="0"/>
          </a:p>
        </p:txBody>
      </p:sp>
      <p:sp>
        <p:nvSpPr>
          <p:cNvPr id="14" name="Text 10"/>
          <p:cNvSpPr/>
          <p:nvPr/>
        </p:nvSpPr>
        <p:spPr>
          <a:xfrm>
            <a:off x="3520440" y="4206240"/>
            <a:ext cx="2331720" cy="137160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Revealed the inevitability of illness</a:t>
            </a:r>
            <a:endParaRPr lang="en-US" sz="1150" dirty="0"/>
          </a:p>
        </p:txBody>
      </p:sp>
      <p:sp>
        <p:nvSpPr>
          <p:cNvPr id="15" name="Shape 11"/>
          <p:cNvSpPr/>
          <p:nvPr/>
        </p:nvSpPr>
        <p:spPr>
          <a:xfrm>
            <a:off x="6126480" y="2377440"/>
            <a:ext cx="2697480" cy="3383280"/>
          </a:xfrm>
          <a:prstGeom prst="roundRect">
            <a:avLst>
              <a:gd name="adj" fmla="val 271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16" name="Shape 12"/>
          <p:cNvSpPr/>
          <p:nvPr/>
        </p:nvSpPr>
        <p:spPr>
          <a:xfrm>
            <a:off x="7109460" y="2651760"/>
            <a:ext cx="822960" cy="822960"/>
          </a:xfrm>
          <a:prstGeom prst="ellipse">
            <a:avLst/>
          </a:prstGeom>
          <a:solidFill>
            <a:srgbClr val="5C1A1B"/>
          </a:solidFill>
          <a:ln/>
        </p:spPr>
        <p:txBody>
          <a:bodyPr/>
          <a:lstStyle/>
          <a:p>
            <a:endParaRPr lang="en-US"/>
          </a:p>
        </p:txBody>
      </p:sp>
      <p:pic>
        <p:nvPicPr>
          <p:cNvPr id="17" name="Image 2" descr="/home/claude/buddhism/icons/footprint_white.png"/>
          <p:cNvPicPr>
            <a:picLocks noChangeAspect="1"/>
          </p:cNvPicPr>
          <p:nvPr/>
        </p:nvPicPr>
        <p:blipFill>
          <a:blip r:embed="rId3"/>
          <a:stretch>
            <a:fillRect/>
          </a:stretch>
        </p:blipFill>
        <p:spPr>
          <a:xfrm>
            <a:off x="7294626" y="2836926"/>
            <a:ext cx="452628" cy="452628"/>
          </a:xfrm>
          <a:prstGeom prst="rect">
            <a:avLst/>
          </a:prstGeom>
        </p:spPr>
      </p:pic>
      <p:sp>
        <p:nvSpPr>
          <p:cNvPr id="18" name="Text 13"/>
          <p:cNvSpPr/>
          <p:nvPr/>
        </p:nvSpPr>
        <p:spPr>
          <a:xfrm>
            <a:off x="6263640" y="3657600"/>
            <a:ext cx="2423160" cy="548640"/>
          </a:xfrm>
          <a:prstGeom prst="rect">
            <a:avLst/>
          </a:prstGeom>
          <a:noFill/>
          <a:ln/>
        </p:spPr>
        <p:txBody>
          <a:bodyPr wrap="square" lIns="0" tIns="0" rIns="0" bIns="0" rtlCol="0" anchor="ctr"/>
          <a:lstStyle/>
          <a:p>
            <a:pPr marL="0" indent="0" algn="ctr">
              <a:buNone/>
            </a:pPr>
            <a:r>
              <a:rPr lang="en-US" sz="1400" b="1" dirty="0">
                <a:solidFill>
                  <a:srgbClr val="5C1A1B"/>
                </a:solidFill>
                <a:latin typeface="Cambria" pitchFamily="34" charset="0"/>
                <a:ea typeface="Cambria" pitchFamily="34" charset="-122"/>
                <a:cs typeface="Cambria" pitchFamily="34" charset="-120"/>
              </a:rPr>
              <a:t>A Corpse</a:t>
            </a:r>
            <a:endParaRPr lang="en-US" sz="1400" dirty="0"/>
          </a:p>
        </p:txBody>
      </p:sp>
      <p:sp>
        <p:nvSpPr>
          <p:cNvPr id="19" name="Text 14"/>
          <p:cNvSpPr/>
          <p:nvPr/>
        </p:nvSpPr>
        <p:spPr>
          <a:xfrm>
            <a:off x="6309360" y="4206240"/>
            <a:ext cx="2331720" cy="137160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Revealed the certainty of death</a:t>
            </a:r>
            <a:endParaRPr lang="en-US" sz="1150" dirty="0"/>
          </a:p>
        </p:txBody>
      </p:sp>
      <p:sp>
        <p:nvSpPr>
          <p:cNvPr id="20" name="Shape 15"/>
          <p:cNvSpPr/>
          <p:nvPr/>
        </p:nvSpPr>
        <p:spPr>
          <a:xfrm>
            <a:off x="8915400" y="2377440"/>
            <a:ext cx="2697480" cy="3383280"/>
          </a:xfrm>
          <a:prstGeom prst="roundRect">
            <a:avLst>
              <a:gd name="adj" fmla="val 271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21" name="Shape 16"/>
          <p:cNvSpPr/>
          <p:nvPr/>
        </p:nvSpPr>
        <p:spPr>
          <a:xfrm>
            <a:off x="9898380" y="2651760"/>
            <a:ext cx="822960" cy="822960"/>
          </a:xfrm>
          <a:prstGeom prst="ellipse">
            <a:avLst/>
          </a:prstGeom>
          <a:solidFill>
            <a:srgbClr val="FFFFFF"/>
          </a:solidFill>
          <a:ln/>
        </p:spPr>
        <p:txBody>
          <a:bodyPr/>
          <a:lstStyle/>
          <a:p>
            <a:endParaRPr lang="en-US"/>
          </a:p>
        </p:txBody>
      </p:sp>
      <p:pic>
        <p:nvPicPr>
          <p:cNvPr id="22" name="Image 3" descr="/home/claude/buddhism/icons/meditation_maroon.png"/>
          <p:cNvPicPr>
            <a:picLocks noChangeAspect="1"/>
          </p:cNvPicPr>
          <p:nvPr/>
        </p:nvPicPr>
        <p:blipFill>
          <a:blip r:embed="rId4"/>
          <a:stretch>
            <a:fillRect/>
          </a:stretch>
        </p:blipFill>
        <p:spPr>
          <a:xfrm>
            <a:off x="10062972" y="2816352"/>
            <a:ext cx="493776" cy="493776"/>
          </a:xfrm>
          <a:prstGeom prst="rect">
            <a:avLst/>
          </a:prstGeom>
        </p:spPr>
      </p:pic>
      <p:sp>
        <p:nvSpPr>
          <p:cNvPr id="23" name="Text 17"/>
          <p:cNvSpPr/>
          <p:nvPr/>
        </p:nvSpPr>
        <p:spPr>
          <a:xfrm>
            <a:off x="9052560" y="3657600"/>
            <a:ext cx="2423160" cy="548640"/>
          </a:xfrm>
          <a:prstGeom prst="rect">
            <a:avLst/>
          </a:prstGeom>
          <a:noFill/>
          <a:ln/>
        </p:spPr>
        <p:txBody>
          <a:bodyPr wrap="square" lIns="0" tIns="0" rIns="0" bIns="0" rtlCol="0" anchor="ctr"/>
          <a:lstStyle/>
          <a:p>
            <a:pPr marL="0" indent="0" algn="ctr">
              <a:buNone/>
            </a:pPr>
            <a:r>
              <a:rPr lang="en-US" sz="1400" b="1" dirty="0">
                <a:solidFill>
                  <a:srgbClr val="5C1A1B"/>
                </a:solidFill>
                <a:latin typeface="Cambria" pitchFamily="34" charset="0"/>
                <a:ea typeface="Cambria" pitchFamily="34" charset="-122"/>
                <a:cs typeface="Cambria" pitchFamily="34" charset="-120"/>
              </a:rPr>
              <a:t>A Wandering Ascetic</a:t>
            </a:r>
            <a:endParaRPr lang="en-US" sz="1400" dirty="0"/>
          </a:p>
        </p:txBody>
      </p:sp>
      <p:sp>
        <p:nvSpPr>
          <p:cNvPr id="24" name="Text 18"/>
          <p:cNvSpPr/>
          <p:nvPr/>
        </p:nvSpPr>
        <p:spPr>
          <a:xfrm>
            <a:off x="9098280" y="4206240"/>
            <a:ext cx="2331720" cy="137160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Revealed a path of peace beyond suffering</a:t>
            </a:r>
            <a:endParaRPr lang="en-US" sz="1150" dirty="0"/>
          </a:p>
        </p:txBody>
      </p:sp>
      <p:sp>
        <p:nvSpPr>
          <p:cNvPr id="25" name="Text 19"/>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05</a:t>
            </a:r>
            <a:endParaRPr lang="en-US" sz="1000" dirty="0"/>
          </a:p>
        </p:txBody>
      </p:sp>
      <p:sp>
        <p:nvSpPr>
          <p:cNvPr id="26" name="Text 20"/>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The Great Renunciation</a:t>
            </a:r>
            <a:endParaRPr lang="en-US" sz="3000" dirty="0"/>
          </a:p>
        </p:txBody>
      </p:sp>
      <p:sp>
        <p:nvSpPr>
          <p:cNvPr id="4" name="Text 2"/>
          <p:cNvSpPr/>
          <p:nvPr/>
        </p:nvSpPr>
        <p:spPr>
          <a:xfrm>
            <a:off x="548640" y="1828800"/>
            <a:ext cx="658368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At age 29, Siddhartha left the palace at night — an episode known as the Great Departure</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He quietly left behind his wife, Yasodhara, and his infant son, Rahula</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He cut off his hair and exchanged royal robes for the simple garments of a wandering ascetic</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He studied meditation under two renowned teachers, Alara Kalama and Uddaka Ramaputta</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Though he mastered their advanced meditative states, he found they did not end suffering, and moved on to seek liberation himself</a:t>
            </a:r>
            <a:endParaRPr lang="en-US" sz="1400" dirty="0"/>
          </a:p>
        </p:txBody>
      </p:sp>
      <p:sp>
        <p:nvSpPr>
          <p:cNvPr id="5" name="Shape 3"/>
          <p:cNvSpPr/>
          <p:nvPr/>
        </p:nvSpPr>
        <p:spPr>
          <a:xfrm>
            <a:off x="7955280" y="1828800"/>
            <a:ext cx="3657600" cy="4114800"/>
          </a:xfrm>
          <a:prstGeom prst="roundRect">
            <a:avLst>
              <a:gd name="adj" fmla="val 2000"/>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8686800" y="2148840"/>
            <a:ext cx="914400" cy="914400"/>
          </a:xfrm>
          <a:prstGeom prst="ellipse">
            <a:avLst/>
          </a:prstGeom>
          <a:solidFill>
            <a:srgbClr val="5C1A1B"/>
          </a:solidFill>
          <a:ln/>
        </p:spPr>
        <p:txBody>
          <a:bodyPr/>
          <a:lstStyle/>
          <a:p>
            <a:endParaRPr lang="en-US"/>
          </a:p>
        </p:txBody>
      </p:sp>
      <p:pic>
        <p:nvPicPr>
          <p:cNvPr id="7" name="Image 0" descr="/home/claude/buddhism/icons/path_white.png"/>
          <p:cNvPicPr>
            <a:picLocks noChangeAspect="1"/>
          </p:cNvPicPr>
          <p:nvPr/>
        </p:nvPicPr>
        <p:blipFill>
          <a:blip r:embed="rId3"/>
          <a:stretch>
            <a:fillRect/>
          </a:stretch>
        </p:blipFill>
        <p:spPr>
          <a:xfrm>
            <a:off x="8892540" y="2354580"/>
            <a:ext cx="502920" cy="502920"/>
          </a:xfrm>
          <a:prstGeom prst="rect">
            <a:avLst/>
          </a:prstGeom>
        </p:spPr>
      </p:pic>
      <p:sp>
        <p:nvSpPr>
          <p:cNvPr id="8" name="Text 5"/>
          <p:cNvSpPr/>
          <p:nvPr/>
        </p:nvSpPr>
        <p:spPr>
          <a:xfrm>
            <a:off x="8183880" y="3246120"/>
            <a:ext cx="3200400" cy="1645920"/>
          </a:xfrm>
          <a:prstGeom prst="rect">
            <a:avLst/>
          </a:prstGeom>
          <a:noFill/>
          <a:ln/>
        </p:spPr>
        <p:txBody>
          <a:bodyPr wrap="square" lIns="0" tIns="0" rIns="0" bIns="0" rtlCol="0" anchor="ctr"/>
          <a:lstStyle/>
          <a:p>
            <a:pPr marL="0" indent="0" algn="ctr">
              <a:buNone/>
            </a:pPr>
            <a:r>
              <a:rPr lang="en-US" sz="1400" i="1" dirty="0">
                <a:solidFill>
                  <a:srgbClr val="5C1A1B"/>
                </a:solidFill>
                <a:latin typeface="Cambria" pitchFamily="34" charset="0"/>
                <a:ea typeface="Cambria" pitchFamily="34" charset="-122"/>
                <a:cs typeface="Cambria" pitchFamily="34" charset="-120"/>
              </a:rPr>
              <a:t>“I shall seek the uncreated,</a:t>
            </a:r>
            <a:endParaRPr lang="en-US" sz="1400" dirty="0"/>
          </a:p>
          <a:p>
            <a:pPr marL="0" indent="0" algn="ctr">
              <a:buNone/>
            </a:pPr>
            <a:r>
              <a:rPr lang="en-US" sz="1400" i="1" dirty="0">
                <a:solidFill>
                  <a:srgbClr val="5C1A1B"/>
                </a:solidFill>
                <a:latin typeface="Cambria" pitchFamily="34" charset="0"/>
                <a:ea typeface="Cambria" pitchFamily="34" charset="-122"/>
                <a:cs typeface="Cambria" pitchFamily="34" charset="-120"/>
              </a:rPr>
              <a:t>supreme peace of Nirvana.”</a:t>
            </a:r>
            <a:endParaRPr lang="en-US" sz="1400" dirty="0"/>
          </a:p>
        </p:txBody>
      </p:sp>
      <p:sp>
        <p:nvSpPr>
          <p:cNvPr id="9" name="Text 6"/>
          <p:cNvSpPr/>
          <p:nvPr/>
        </p:nvSpPr>
        <p:spPr>
          <a:xfrm>
            <a:off x="8183880" y="4846320"/>
            <a:ext cx="3200400" cy="731520"/>
          </a:xfrm>
          <a:prstGeom prst="rect">
            <a:avLst/>
          </a:prstGeom>
          <a:noFill/>
          <a:ln/>
        </p:spPr>
        <p:txBody>
          <a:bodyPr wrap="square" lIns="0" tIns="0" rIns="0" bIns="0" rtlCol="0" anchor="ctr"/>
          <a:lstStyle/>
          <a:p>
            <a:pPr marL="0" indent="0" algn="ctr">
              <a:buNone/>
            </a:pPr>
            <a:r>
              <a:rPr lang="en-US" sz="1050" dirty="0">
                <a:solidFill>
                  <a:srgbClr val="7A6660"/>
                </a:solidFill>
                <a:latin typeface="Calibri" pitchFamily="34" charset="0"/>
                <a:ea typeface="Calibri" pitchFamily="34" charset="-122"/>
                <a:cs typeface="Calibri" pitchFamily="34" charset="-120"/>
              </a:rPr>
              <a:t>Traditional account of the</a:t>
            </a:r>
            <a:endParaRPr lang="en-US" sz="1050" dirty="0"/>
          </a:p>
          <a:p>
            <a:pPr marL="0" indent="0" algn="ctr">
              <a:buNone/>
            </a:pPr>
            <a:r>
              <a:rPr lang="en-US" sz="1050" dirty="0">
                <a:solidFill>
                  <a:srgbClr val="7A6660"/>
                </a:solidFill>
                <a:latin typeface="Calibri" pitchFamily="34" charset="0"/>
                <a:ea typeface="Calibri" pitchFamily="34" charset="-122"/>
                <a:cs typeface="Calibri" pitchFamily="34" charset="-120"/>
              </a:rPr>
              <a:t>Great Departure</a:t>
            </a:r>
            <a:endParaRPr lang="en-US" sz="1050" dirty="0"/>
          </a:p>
        </p:txBody>
      </p:sp>
      <p:sp>
        <p:nvSpPr>
          <p:cNvPr id="10" name="Text 7"/>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06</a:t>
            </a:r>
            <a:endParaRPr lang="en-US" sz="1000" dirty="0"/>
          </a:p>
        </p:txBody>
      </p:sp>
      <p:sp>
        <p:nvSpPr>
          <p:cNvPr id="11" name="Text 8"/>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Six Years of Asceticism and the Middle Way</a:t>
            </a:r>
            <a:endParaRPr lang="en-US" sz="3000" dirty="0"/>
          </a:p>
        </p:txBody>
      </p:sp>
      <p:sp>
        <p:nvSpPr>
          <p:cNvPr id="4" name="Text 2"/>
          <p:cNvSpPr/>
          <p:nvPr/>
        </p:nvSpPr>
        <p:spPr>
          <a:xfrm>
            <a:off x="548640" y="1828800"/>
            <a:ext cx="676656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Siddhartha joined five ascetic companions and practiced extreme self-mortification and near-total fasting</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He pushed his body to the edge of starvation, yet found himself no closer to liberation</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Accepting a bowl of milk-rice from a village girl named Sujata, he broke his fast</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His five companions, believing he had abandoned the path, left him in disappointment</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From this experience he formed the idea of the Middle Way — a path between luxury and self-denial</a:t>
            </a:r>
            <a:endParaRPr lang="en-US" sz="1400" dirty="0"/>
          </a:p>
        </p:txBody>
      </p:sp>
      <p:sp>
        <p:nvSpPr>
          <p:cNvPr id="5" name="Shape 3"/>
          <p:cNvSpPr/>
          <p:nvPr/>
        </p:nvSpPr>
        <p:spPr>
          <a:xfrm>
            <a:off x="8138160" y="1828800"/>
            <a:ext cx="3474720" cy="4114800"/>
          </a:xfrm>
          <a:prstGeom prst="roundRect">
            <a:avLst>
              <a:gd name="adj" fmla="val 2105"/>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Text 4"/>
          <p:cNvSpPr/>
          <p:nvPr/>
        </p:nvSpPr>
        <p:spPr>
          <a:xfrm>
            <a:off x="8321040" y="2103120"/>
            <a:ext cx="3108960" cy="365760"/>
          </a:xfrm>
          <a:prstGeom prst="rect">
            <a:avLst/>
          </a:prstGeom>
          <a:noFill/>
          <a:ln/>
        </p:spPr>
        <p:txBody>
          <a:bodyPr wrap="square" lIns="0" tIns="0" rIns="0" bIns="0" rtlCol="0" anchor="ctr"/>
          <a:lstStyle/>
          <a:p>
            <a:pPr marL="0" indent="0" algn="ctr">
              <a:buNone/>
            </a:pPr>
            <a:r>
              <a:rPr lang="en-US" sz="1200" b="1" kern="0" spc="200" dirty="0">
                <a:solidFill>
                  <a:srgbClr val="C9922A"/>
                </a:solidFill>
                <a:latin typeface="Calibri" pitchFamily="34" charset="0"/>
                <a:ea typeface="Calibri" pitchFamily="34" charset="-122"/>
                <a:cs typeface="Calibri" pitchFamily="34" charset="-120"/>
              </a:rPr>
              <a:t>THE MIDDLE WAY</a:t>
            </a:r>
            <a:endParaRPr lang="en-US" sz="1200" dirty="0"/>
          </a:p>
        </p:txBody>
      </p:sp>
      <p:sp>
        <p:nvSpPr>
          <p:cNvPr id="7" name="Text 5"/>
          <p:cNvSpPr/>
          <p:nvPr/>
        </p:nvSpPr>
        <p:spPr>
          <a:xfrm>
            <a:off x="8321040" y="2880360"/>
            <a:ext cx="3108960" cy="274320"/>
          </a:xfrm>
          <a:prstGeom prst="rect">
            <a:avLst/>
          </a:prstGeom>
          <a:noFill/>
          <a:ln/>
        </p:spPr>
        <p:txBody>
          <a:bodyPr wrap="square" lIns="0" tIns="0" rIns="0" bIns="0" rtlCol="0" anchor="ctr"/>
          <a:lstStyle/>
          <a:p>
            <a:pPr marL="0" indent="0" algn="ctr">
              <a:buNone/>
            </a:pPr>
            <a:r>
              <a:rPr lang="en-US" sz="1100" dirty="0">
                <a:solidFill>
                  <a:srgbClr val="7A6660"/>
                </a:solidFill>
                <a:latin typeface="Calibri" pitchFamily="34" charset="0"/>
                <a:ea typeface="Calibri" pitchFamily="34" charset="-122"/>
                <a:cs typeface="Calibri" pitchFamily="34" charset="-120"/>
              </a:rPr>
              <a:t>Indulgence</a:t>
            </a:r>
            <a:endParaRPr lang="en-US" sz="1100" dirty="0"/>
          </a:p>
        </p:txBody>
      </p:sp>
      <p:sp>
        <p:nvSpPr>
          <p:cNvPr id="8" name="Text 6"/>
          <p:cNvSpPr/>
          <p:nvPr/>
        </p:nvSpPr>
        <p:spPr>
          <a:xfrm>
            <a:off x="8321040" y="4572000"/>
            <a:ext cx="3108960" cy="274320"/>
          </a:xfrm>
          <a:prstGeom prst="rect">
            <a:avLst/>
          </a:prstGeom>
          <a:noFill/>
          <a:ln/>
        </p:spPr>
        <p:txBody>
          <a:bodyPr wrap="square" lIns="0" tIns="0" rIns="0" bIns="0" rtlCol="0" anchor="ctr"/>
          <a:lstStyle/>
          <a:p>
            <a:pPr marL="0" indent="0" algn="ctr">
              <a:buNone/>
            </a:pPr>
            <a:r>
              <a:rPr lang="en-US" sz="1100" dirty="0">
                <a:solidFill>
                  <a:srgbClr val="7A6660"/>
                </a:solidFill>
                <a:latin typeface="Calibri" pitchFamily="34" charset="0"/>
                <a:ea typeface="Calibri" pitchFamily="34" charset="-122"/>
                <a:cs typeface="Calibri" pitchFamily="34" charset="-120"/>
              </a:rPr>
              <a:t>Self-Mortification</a:t>
            </a:r>
            <a:endParaRPr lang="en-US" sz="1100" dirty="0"/>
          </a:p>
        </p:txBody>
      </p:sp>
      <p:sp>
        <p:nvSpPr>
          <p:cNvPr id="9" name="Shape 7"/>
          <p:cNvSpPr/>
          <p:nvPr/>
        </p:nvSpPr>
        <p:spPr>
          <a:xfrm>
            <a:off x="9052560" y="3383280"/>
            <a:ext cx="1097280" cy="1097280"/>
          </a:xfrm>
          <a:prstGeom prst="ellipse">
            <a:avLst/>
          </a:prstGeom>
          <a:solidFill>
            <a:srgbClr val="E0B25C"/>
          </a:solidFill>
          <a:ln/>
        </p:spPr>
        <p:txBody>
          <a:bodyPr/>
          <a:lstStyle/>
          <a:p>
            <a:endParaRPr lang="en-US"/>
          </a:p>
        </p:txBody>
      </p:sp>
      <p:pic>
        <p:nvPicPr>
          <p:cNvPr id="10" name="Image 0" descr="/home/claude/buddhism/icons/meditation_maroon.png"/>
          <p:cNvPicPr>
            <a:picLocks noChangeAspect="1"/>
          </p:cNvPicPr>
          <p:nvPr/>
        </p:nvPicPr>
        <p:blipFill>
          <a:blip r:embed="rId3"/>
          <a:stretch>
            <a:fillRect/>
          </a:stretch>
        </p:blipFill>
        <p:spPr>
          <a:xfrm>
            <a:off x="9272016" y="3602736"/>
            <a:ext cx="658368" cy="658368"/>
          </a:xfrm>
          <a:prstGeom prst="rect">
            <a:avLst/>
          </a:prstGeom>
        </p:spPr>
      </p:pic>
      <p:sp>
        <p:nvSpPr>
          <p:cNvPr id="11" name="Text 8"/>
          <p:cNvSpPr/>
          <p:nvPr/>
        </p:nvSpPr>
        <p:spPr>
          <a:xfrm>
            <a:off x="8321040" y="4937760"/>
            <a:ext cx="3108960" cy="731520"/>
          </a:xfrm>
          <a:prstGeom prst="rect">
            <a:avLst/>
          </a:prstGeom>
          <a:noFill/>
          <a:ln/>
        </p:spPr>
        <p:txBody>
          <a:bodyPr wrap="square" lIns="0" tIns="0" rIns="0" bIns="0" rtlCol="0" anchor="ctr"/>
          <a:lstStyle/>
          <a:p>
            <a:pPr marL="0" indent="0" algn="ctr">
              <a:buNone/>
            </a:pPr>
            <a:r>
              <a:rPr lang="en-US" sz="1100" i="1" dirty="0">
                <a:solidFill>
                  <a:srgbClr val="5C1A1B"/>
                </a:solidFill>
                <a:latin typeface="Calibri" pitchFamily="34" charset="0"/>
                <a:ea typeface="Calibri" pitchFamily="34" charset="-122"/>
                <a:cs typeface="Calibri" pitchFamily="34" charset="-120"/>
              </a:rPr>
              <a:t>Balanced practice</a:t>
            </a:r>
            <a:endParaRPr lang="en-US" sz="1100" dirty="0"/>
          </a:p>
          <a:p>
            <a:pPr marL="0" indent="0" algn="ctr">
              <a:buNone/>
            </a:pPr>
            <a:r>
              <a:rPr lang="en-US" sz="1100" i="1" dirty="0">
                <a:solidFill>
                  <a:srgbClr val="5C1A1B"/>
                </a:solidFill>
                <a:latin typeface="Calibri" pitchFamily="34" charset="0"/>
                <a:ea typeface="Calibri" pitchFamily="34" charset="-122"/>
                <a:cs typeface="Calibri" pitchFamily="34" charset="-120"/>
              </a:rPr>
              <a:t>leading to insight</a:t>
            </a:r>
            <a:endParaRPr lang="en-US" sz="1100" dirty="0"/>
          </a:p>
        </p:txBody>
      </p:sp>
      <p:sp>
        <p:nvSpPr>
          <p:cNvPr id="12" name="Text 9"/>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07</a:t>
            </a:r>
            <a:endParaRPr lang="en-US" sz="1000" dirty="0"/>
          </a:p>
        </p:txBody>
      </p:sp>
      <p:sp>
        <p:nvSpPr>
          <p:cNvPr id="13" name="Text 10"/>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Enlightenment Beneath the Bodhi Tree</a:t>
            </a:r>
            <a:endParaRPr lang="en-US" sz="3000" dirty="0"/>
          </a:p>
        </p:txBody>
      </p:sp>
      <p:sp>
        <p:nvSpPr>
          <p:cNvPr id="4" name="Text 2"/>
          <p:cNvSpPr/>
          <p:nvPr/>
        </p:nvSpPr>
        <p:spPr>
          <a:xfrm>
            <a:off x="548640" y="1828800"/>
            <a:ext cx="658368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Seated beneath a fig tree at Bodh Gaya, Siddhartha vowed not to rise until he attained awakening</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Meditating through the night, he is said to have faced the temptations and assaults of Mara</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At dawn, at around age 35, he attained full enlightenment (bodhi)</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He understood the arising and cessation of suffering, and became the Buddha — “the Awakened One”</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The tree became known as the Bodhi Tree, revered ever since as the site of awakening</a:t>
            </a:r>
            <a:endParaRPr lang="en-US" sz="1400" dirty="0"/>
          </a:p>
        </p:txBody>
      </p:sp>
      <p:sp>
        <p:nvSpPr>
          <p:cNvPr id="5" name="Shape 3"/>
          <p:cNvSpPr/>
          <p:nvPr/>
        </p:nvSpPr>
        <p:spPr>
          <a:xfrm>
            <a:off x="7955280" y="1828800"/>
            <a:ext cx="3657600" cy="4114800"/>
          </a:xfrm>
          <a:prstGeom prst="roundRect">
            <a:avLst>
              <a:gd name="adj" fmla="val 2000"/>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8686800" y="2148840"/>
            <a:ext cx="914400" cy="914400"/>
          </a:xfrm>
          <a:prstGeom prst="ellipse">
            <a:avLst/>
          </a:prstGeom>
          <a:solidFill>
            <a:srgbClr val="1F4A43"/>
          </a:solidFill>
          <a:ln/>
        </p:spPr>
        <p:txBody>
          <a:bodyPr/>
          <a:lstStyle/>
          <a:p>
            <a:endParaRPr lang="en-US"/>
          </a:p>
        </p:txBody>
      </p:sp>
      <p:pic>
        <p:nvPicPr>
          <p:cNvPr id="7" name="Image 0" descr="/home/claude/buddhism/icons/tree_white.png"/>
          <p:cNvPicPr>
            <a:picLocks noChangeAspect="1"/>
          </p:cNvPicPr>
          <p:nvPr/>
        </p:nvPicPr>
        <p:blipFill>
          <a:blip r:embed="rId3"/>
          <a:stretch>
            <a:fillRect/>
          </a:stretch>
        </p:blipFill>
        <p:spPr>
          <a:xfrm>
            <a:off x="8892540" y="2354580"/>
            <a:ext cx="502920" cy="502920"/>
          </a:xfrm>
          <a:prstGeom prst="rect">
            <a:avLst/>
          </a:prstGeom>
        </p:spPr>
      </p:pic>
      <p:sp>
        <p:nvSpPr>
          <p:cNvPr id="8" name="Text 5"/>
          <p:cNvSpPr/>
          <p:nvPr/>
        </p:nvSpPr>
        <p:spPr>
          <a:xfrm>
            <a:off x="8183880" y="3246120"/>
            <a:ext cx="3200400" cy="36576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Bodh Gaya</a:t>
            </a:r>
            <a:endParaRPr lang="en-US" sz="1500" dirty="0"/>
          </a:p>
        </p:txBody>
      </p:sp>
      <p:sp>
        <p:nvSpPr>
          <p:cNvPr id="9" name="Text 6"/>
          <p:cNvSpPr/>
          <p:nvPr/>
        </p:nvSpPr>
        <p:spPr>
          <a:xfrm>
            <a:off x="8183880" y="3657600"/>
            <a:ext cx="3200400" cy="1463040"/>
          </a:xfrm>
          <a:prstGeom prst="rect">
            <a:avLst/>
          </a:prstGeom>
          <a:noFill/>
          <a:ln/>
        </p:spPr>
        <p:txBody>
          <a:bodyPr wrap="square" lIns="0" tIns="0" rIns="0" bIns="0" rtlCol="0" anchor="ctr"/>
          <a:lstStyle/>
          <a:p>
            <a:pPr marL="0" indent="0" algn="ctr">
              <a:buNone/>
            </a:pPr>
            <a:r>
              <a:rPr lang="en-US" sz="1150" i="1" dirty="0">
                <a:solidFill>
                  <a:srgbClr val="7A6660"/>
                </a:solidFill>
                <a:latin typeface="Calibri" pitchFamily="34" charset="0"/>
                <a:ea typeface="Calibri" pitchFamily="34" charset="-122"/>
                <a:cs typeface="Calibri" pitchFamily="34" charset="-120"/>
              </a:rPr>
              <a:t>Site of the Bodhi Tree, in</a:t>
            </a:r>
            <a:endParaRPr lang="en-US" sz="1150" dirty="0"/>
          </a:p>
          <a:p>
            <a:pPr marL="0" indent="0" algn="ctr">
              <a:buNone/>
            </a:pPr>
            <a:r>
              <a:rPr lang="en-US" sz="1150" i="1" dirty="0">
                <a:solidFill>
                  <a:srgbClr val="7A6660"/>
                </a:solidFill>
                <a:latin typeface="Calibri" pitchFamily="34" charset="0"/>
                <a:ea typeface="Calibri" pitchFamily="34" charset="-122"/>
                <a:cs typeface="Calibri" pitchFamily="34" charset="-120"/>
              </a:rPr>
              <a:t>present-day Bihar, India —</a:t>
            </a:r>
            <a:endParaRPr lang="en-US" sz="1150" dirty="0"/>
          </a:p>
          <a:p>
            <a:pPr marL="0" indent="0" algn="ctr">
              <a:buNone/>
            </a:pPr>
            <a:r>
              <a:rPr lang="en-US" sz="1150" i="1" dirty="0">
                <a:solidFill>
                  <a:srgbClr val="7A6660"/>
                </a:solidFill>
                <a:latin typeface="Calibri" pitchFamily="34" charset="0"/>
                <a:ea typeface="Calibri" pitchFamily="34" charset="-122"/>
                <a:cs typeface="Calibri" pitchFamily="34" charset="-120"/>
              </a:rPr>
              <a:t>still a major pilgrimage site</a:t>
            </a:r>
            <a:endParaRPr lang="en-US" sz="1150" dirty="0"/>
          </a:p>
        </p:txBody>
      </p:sp>
      <p:sp>
        <p:nvSpPr>
          <p:cNvPr id="10" name="Text 7"/>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08</a:t>
            </a:r>
            <a:endParaRPr lang="en-US" sz="1000" dirty="0"/>
          </a:p>
        </p:txBody>
      </p:sp>
      <p:sp>
        <p:nvSpPr>
          <p:cNvPr id="11" name="Text 8"/>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The First Sermon: Turning the Wheel of Dharma</a:t>
            </a:r>
            <a:endParaRPr lang="en-US" sz="3000" dirty="0"/>
          </a:p>
        </p:txBody>
      </p:sp>
      <p:sp>
        <p:nvSpPr>
          <p:cNvPr id="4" name="Text 2"/>
          <p:cNvSpPr/>
          <p:nvPr/>
        </p:nvSpPr>
        <p:spPr>
          <a:xfrm>
            <a:off x="548640" y="1828800"/>
            <a:ext cx="676656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The Buddha traveled to the Deer Park at Sarnath to find his five former companions</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There he delivered his first teaching, the Dhammacakkappavattana Sutta — the “Discourse on Setting the Wheel of Dharma in Motion”</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This sermon introduced the Four Noble Truths and the Middle Way</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Kondanna, one of the five, became the first person to attain realization from the Buddha's teaching</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With five ordained disciples, the Sangha — the monastic community — was born</a:t>
            </a:r>
            <a:endParaRPr lang="en-US" sz="1400" dirty="0"/>
          </a:p>
        </p:txBody>
      </p:sp>
      <p:sp>
        <p:nvSpPr>
          <p:cNvPr id="5" name="Shape 3"/>
          <p:cNvSpPr/>
          <p:nvPr/>
        </p:nvSpPr>
        <p:spPr>
          <a:xfrm>
            <a:off x="8138160" y="1828800"/>
            <a:ext cx="3474720" cy="4114800"/>
          </a:xfrm>
          <a:prstGeom prst="roundRect">
            <a:avLst>
              <a:gd name="adj" fmla="val 2105"/>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8869680" y="2148840"/>
            <a:ext cx="914400" cy="914400"/>
          </a:xfrm>
          <a:prstGeom prst="ellipse">
            <a:avLst/>
          </a:prstGeom>
          <a:solidFill>
            <a:srgbClr val="5C1A1B"/>
          </a:solidFill>
          <a:ln/>
        </p:spPr>
        <p:txBody>
          <a:bodyPr/>
          <a:lstStyle/>
          <a:p>
            <a:endParaRPr lang="en-US"/>
          </a:p>
        </p:txBody>
      </p:sp>
      <p:pic>
        <p:nvPicPr>
          <p:cNvPr id="7" name="Image 0" descr="/home/claude/buddhism/icons/sunrise_white.png"/>
          <p:cNvPicPr>
            <a:picLocks noChangeAspect="1"/>
          </p:cNvPicPr>
          <p:nvPr/>
        </p:nvPicPr>
        <p:blipFill>
          <a:blip r:embed="rId3"/>
          <a:stretch>
            <a:fillRect/>
          </a:stretch>
        </p:blipFill>
        <p:spPr>
          <a:xfrm>
            <a:off x="9075420" y="2354580"/>
            <a:ext cx="502920" cy="502920"/>
          </a:xfrm>
          <a:prstGeom prst="rect">
            <a:avLst/>
          </a:prstGeom>
        </p:spPr>
      </p:pic>
      <p:sp>
        <p:nvSpPr>
          <p:cNvPr id="8" name="Text 5"/>
          <p:cNvSpPr/>
          <p:nvPr/>
        </p:nvSpPr>
        <p:spPr>
          <a:xfrm>
            <a:off x="8321040" y="3246120"/>
            <a:ext cx="3108960" cy="36576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Sarnath</a:t>
            </a:r>
            <a:endParaRPr lang="en-US" sz="1500" dirty="0"/>
          </a:p>
        </p:txBody>
      </p:sp>
      <p:sp>
        <p:nvSpPr>
          <p:cNvPr id="9" name="Text 6"/>
          <p:cNvSpPr/>
          <p:nvPr/>
        </p:nvSpPr>
        <p:spPr>
          <a:xfrm>
            <a:off x="8321040" y="3657600"/>
            <a:ext cx="3108960" cy="1463040"/>
          </a:xfrm>
          <a:prstGeom prst="rect">
            <a:avLst/>
          </a:prstGeom>
          <a:noFill/>
          <a:ln/>
        </p:spPr>
        <p:txBody>
          <a:bodyPr wrap="square" lIns="0" tIns="0" rIns="0" bIns="0" rtlCol="0" anchor="ctr"/>
          <a:lstStyle/>
          <a:p>
            <a:pPr marL="0" indent="0" algn="ctr">
              <a:buNone/>
            </a:pPr>
            <a:r>
              <a:rPr lang="en-US" sz="1150" i="1" dirty="0">
                <a:solidFill>
                  <a:srgbClr val="7A6660"/>
                </a:solidFill>
                <a:latin typeface="Calibri" pitchFamily="34" charset="0"/>
                <a:ea typeface="Calibri" pitchFamily="34" charset="-122"/>
                <a:cs typeface="Calibri" pitchFamily="34" charset="-120"/>
              </a:rPr>
              <a:t>The Deer Park near Varanasi,</a:t>
            </a:r>
            <a:endParaRPr lang="en-US" sz="1150" dirty="0"/>
          </a:p>
          <a:p>
            <a:pPr marL="0" indent="0" algn="ctr">
              <a:buNone/>
            </a:pPr>
            <a:r>
              <a:rPr lang="en-US" sz="1150" i="1" dirty="0">
                <a:solidFill>
                  <a:srgbClr val="7A6660"/>
                </a:solidFill>
                <a:latin typeface="Calibri" pitchFamily="34" charset="0"/>
                <a:ea typeface="Calibri" pitchFamily="34" charset="-122"/>
                <a:cs typeface="Calibri" pitchFamily="34" charset="-120"/>
              </a:rPr>
              <a:t>where the first five monks</a:t>
            </a:r>
            <a:endParaRPr lang="en-US" sz="1150" dirty="0"/>
          </a:p>
          <a:p>
            <a:pPr marL="0" indent="0" algn="ctr">
              <a:buNone/>
            </a:pPr>
            <a:r>
              <a:rPr lang="en-US" sz="1150" i="1" dirty="0">
                <a:solidFill>
                  <a:srgbClr val="7A6660"/>
                </a:solidFill>
                <a:latin typeface="Calibri" pitchFamily="34" charset="0"/>
                <a:ea typeface="Calibri" pitchFamily="34" charset="-122"/>
                <a:cs typeface="Calibri" pitchFamily="34" charset="-120"/>
              </a:rPr>
              <a:t>were ordained</a:t>
            </a:r>
            <a:endParaRPr lang="en-US" sz="1150" dirty="0"/>
          </a:p>
        </p:txBody>
      </p:sp>
      <p:sp>
        <p:nvSpPr>
          <p:cNvPr id="10" name="Text 7"/>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09</a:t>
            </a:r>
            <a:endParaRPr lang="en-US" sz="1000" dirty="0"/>
          </a:p>
        </p:txBody>
      </p:sp>
      <p:sp>
        <p:nvSpPr>
          <p:cNvPr id="11" name="Text 8"/>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Founding the Sangha and Years of Teaching</a:t>
            </a:r>
            <a:endParaRPr lang="en-US" sz="3000" dirty="0"/>
          </a:p>
        </p:txBody>
      </p:sp>
      <p:sp>
        <p:nvSpPr>
          <p:cNvPr id="4" name="Text 2"/>
          <p:cNvSpPr/>
          <p:nvPr/>
        </p:nvSpPr>
        <p:spPr>
          <a:xfrm>
            <a:off x="548640" y="1828800"/>
            <a:ext cx="694944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For 45 years, the Buddha traveled and taught across the kingdoms of northern India</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He established an order of monks (bhikkhus) and, later, an order of nuns (bhikkhunis)</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The nuns' order was founded at the persistent request of his aunt, Mahapajapati</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The Sangha admitted people from every caste, a striking departure from Brahmanical society</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Rules of monastic conduct developed gradually — later collected as the Vinaya</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Great disciples such as Ananda, Sariputta, Moggallana, and Mahakassapa carried the teaching forward</a:t>
            </a:r>
            <a:endParaRPr lang="en-US" sz="1350" dirty="0"/>
          </a:p>
        </p:txBody>
      </p:sp>
      <p:sp>
        <p:nvSpPr>
          <p:cNvPr id="5" name="Shape 3"/>
          <p:cNvSpPr/>
          <p:nvPr/>
        </p:nvSpPr>
        <p:spPr>
          <a:xfrm>
            <a:off x="8321040" y="1828800"/>
            <a:ext cx="3291840" cy="4114800"/>
          </a:xfrm>
          <a:prstGeom prst="roundRect">
            <a:avLst>
              <a:gd name="adj" fmla="val 222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9006840" y="2148840"/>
            <a:ext cx="914400" cy="914400"/>
          </a:xfrm>
          <a:prstGeom prst="ellipse">
            <a:avLst/>
          </a:prstGeom>
          <a:solidFill>
            <a:srgbClr val="5C1A1B"/>
          </a:solidFill>
          <a:ln/>
        </p:spPr>
        <p:txBody>
          <a:bodyPr/>
          <a:lstStyle/>
          <a:p>
            <a:endParaRPr lang="en-US"/>
          </a:p>
        </p:txBody>
      </p:sp>
      <p:pic>
        <p:nvPicPr>
          <p:cNvPr id="7" name="Image 0" descr="/home/claude/buddhism/icons/family_white.png"/>
          <p:cNvPicPr>
            <a:picLocks noChangeAspect="1"/>
          </p:cNvPicPr>
          <p:nvPr/>
        </p:nvPicPr>
        <p:blipFill>
          <a:blip r:embed="rId3"/>
          <a:stretch>
            <a:fillRect/>
          </a:stretch>
        </p:blipFill>
        <p:spPr>
          <a:xfrm>
            <a:off x="9212580" y="2354580"/>
            <a:ext cx="502920" cy="502920"/>
          </a:xfrm>
          <a:prstGeom prst="rect">
            <a:avLst/>
          </a:prstGeom>
        </p:spPr>
      </p:pic>
      <p:sp>
        <p:nvSpPr>
          <p:cNvPr id="8" name="Text 5"/>
          <p:cNvSpPr/>
          <p:nvPr/>
        </p:nvSpPr>
        <p:spPr>
          <a:xfrm>
            <a:off x="8503920" y="3200400"/>
            <a:ext cx="2834640" cy="640080"/>
          </a:xfrm>
          <a:prstGeom prst="rect">
            <a:avLst/>
          </a:prstGeom>
          <a:noFill/>
          <a:ln/>
        </p:spPr>
        <p:txBody>
          <a:bodyPr wrap="square" lIns="0" tIns="0" rIns="0" bIns="0" rtlCol="0" anchor="ctr"/>
          <a:lstStyle/>
          <a:p>
            <a:pPr marL="0" indent="0" algn="ctr">
              <a:buNone/>
            </a:pPr>
            <a:r>
              <a:rPr lang="en-US" sz="3000" b="1" dirty="0">
                <a:solidFill>
                  <a:srgbClr val="5C1A1B"/>
                </a:solidFill>
                <a:latin typeface="Cambria" pitchFamily="34" charset="0"/>
                <a:ea typeface="Cambria" pitchFamily="34" charset="-122"/>
                <a:cs typeface="Cambria" pitchFamily="34" charset="-120"/>
              </a:rPr>
              <a:t>45</a:t>
            </a:r>
            <a:endParaRPr lang="en-US" sz="3000" dirty="0"/>
          </a:p>
        </p:txBody>
      </p:sp>
      <p:sp>
        <p:nvSpPr>
          <p:cNvPr id="9" name="Text 6"/>
          <p:cNvSpPr/>
          <p:nvPr/>
        </p:nvSpPr>
        <p:spPr>
          <a:xfrm>
            <a:off x="8503920" y="3886200"/>
            <a:ext cx="2834640" cy="137160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years of continuous</a:t>
            </a:r>
            <a:endParaRPr lang="en-US" sz="1150" dirty="0"/>
          </a:p>
          <a:p>
            <a:pPr marL="0" indent="0" algn="ctr">
              <a:buNone/>
            </a:pPr>
            <a:r>
              <a:rPr lang="en-US" sz="1150" dirty="0">
                <a:solidFill>
                  <a:srgbClr val="7A6660"/>
                </a:solidFill>
                <a:latin typeface="Calibri" pitchFamily="34" charset="0"/>
                <a:ea typeface="Calibri" pitchFamily="34" charset="-122"/>
                <a:cs typeface="Calibri" pitchFamily="34" charset="-120"/>
              </a:rPr>
              <a:t>teaching across</a:t>
            </a:r>
            <a:endParaRPr lang="en-US" sz="1150" dirty="0"/>
          </a:p>
          <a:p>
            <a:pPr marL="0" indent="0" algn="ctr">
              <a:buNone/>
            </a:pPr>
            <a:r>
              <a:rPr lang="en-US" sz="1150" dirty="0">
                <a:solidFill>
                  <a:srgbClr val="7A6660"/>
                </a:solidFill>
                <a:latin typeface="Calibri" pitchFamily="34" charset="0"/>
                <a:ea typeface="Calibri" pitchFamily="34" charset="-122"/>
                <a:cs typeface="Calibri" pitchFamily="34" charset="-120"/>
              </a:rPr>
              <a:t>northern India</a:t>
            </a:r>
            <a:endParaRPr lang="en-US" sz="1150" dirty="0"/>
          </a:p>
        </p:txBody>
      </p:sp>
      <p:sp>
        <p:nvSpPr>
          <p:cNvPr id="10" name="Text 7"/>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10</a:t>
            </a:r>
            <a:endParaRPr lang="en-US" sz="1000" dirty="0"/>
          </a:p>
        </p:txBody>
      </p:sp>
      <p:sp>
        <p:nvSpPr>
          <p:cNvPr id="11" name="Text 8"/>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LIFE OF THE BUDDHA</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Parinirvana: The Buddha's Final Passing</a:t>
            </a:r>
            <a:endParaRPr lang="en-US" sz="3000" dirty="0"/>
          </a:p>
        </p:txBody>
      </p:sp>
      <p:sp>
        <p:nvSpPr>
          <p:cNvPr id="4" name="Text 2"/>
          <p:cNvSpPr/>
          <p:nvPr/>
        </p:nvSpPr>
        <p:spPr>
          <a:xfrm>
            <a:off x="548640" y="1828800"/>
            <a:ext cx="676656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The Buddha died around age 80 in Kushinagar, after eating a final meal offered by a smith named Cunda</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He lay down between a pair of sal trees to pass into final Nirvana (Parinirvana)</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His last instruction to the monks: be a lamp unto yourselves, and rely on the teaching, not on any person</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His final words urged diligence: “All conditioned things are impermanent — strive on untiringly”</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His remains were cremated and the relics divided among eight kingdoms, enshrined in stupas still venerated today</a:t>
            </a:r>
            <a:endParaRPr lang="en-US" sz="1400" dirty="0"/>
          </a:p>
        </p:txBody>
      </p:sp>
      <p:sp>
        <p:nvSpPr>
          <p:cNvPr id="5" name="Shape 3"/>
          <p:cNvSpPr/>
          <p:nvPr/>
        </p:nvSpPr>
        <p:spPr>
          <a:xfrm>
            <a:off x="8138160" y="1828800"/>
            <a:ext cx="3474720" cy="4114800"/>
          </a:xfrm>
          <a:prstGeom prst="roundRect">
            <a:avLst>
              <a:gd name="adj" fmla="val 2105"/>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8869680" y="2148840"/>
            <a:ext cx="914400" cy="914400"/>
          </a:xfrm>
          <a:prstGeom prst="ellipse">
            <a:avLst/>
          </a:prstGeom>
          <a:solidFill>
            <a:srgbClr val="5C1A1B"/>
          </a:solidFill>
          <a:ln/>
        </p:spPr>
        <p:txBody>
          <a:bodyPr/>
          <a:lstStyle/>
          <a:p>
            <a:endParaRPr lang="en-US"/>
          </a:p>
        </p:txBody>
      </p:sp>
      <p:pic>
        <p:nvPicPr>
          <p:cNvPr id="7" name="Image 0" descr="/home/claude/buddhism/icons/candle_white.png"/>
          <p:cNvPicPr>
            <a:picLocks noChangeAspect="1"/>
          </p:cNvPicPr>
          <p:nvPr/>
        </p:nvPicPr>
        <p:blipFill>
          <a:blip r:embed="rId3"/>
          <a:stretch>
            <a:fillRect/>
          </a:stretch>
        </p:blipFill>
        <p:spPr>
          <a:xfrm>
            <a:off x="9098280" y="2377440"/>
            <a:ext cx="457200" cy="457200"/>
          </a:xfrm>
          <a:prstGeom prst="rect">
            <a:avLst/>
          </a:prstGeom>
        </p:spPr>
      </p:pic>
      <p:sp>
        <p:nvSpPr>
          <p:cNvPr id="8" name="Text 5"/>
          <p:cNvSpPr/>
          <p:nvPr/>
        </p:nvSpPr>
        <p:spPr>
          <a:xfrm>
            <a:off x="8321040" y="3246120"/>
            <a:ext cx="3108960" cy="365760"/>
          </a:xfrm>
          <a:prstGeom prst="rect">
            <a:avLst/>
          </a:prstGeom>
          <a:noFill/>
          <a:ln/>
        </p:spPr>
        <p:txBody>
          <a:bodyPr wrap="square" lIns="0" tIns="0" rIns="0" bIns="0" rtlCol="0" anchor="ctr"/>
          <a:lstStyle/>
          <a:p>
            <a:pPr marL="0" indent="0" algn="ctr">
              <a:buNone/>
            </a:pPr>
            <a:r>
              <a:rPr lang="en-US" sz="1600" b="1" dirty="0">
                <a:solidFill>
                  <a:srgbClr val="5C1A1B"/>
                </a:solidFill>
                <a:latin typeface="Cambria" pitchFamily="34" charset="0"/>
                <a:ea typeface="Cambria" pitchFamily="34" charset="-122"/>
                <a:cs typeface="Cambria" pitchFamily="34" charset="-120"/>
              </a:rPr>
              <a:t>c. 483 BCE</a:t>
            </a:r>
            <a:endParaRPr lang="en-US" sz="1600" dirty="0"/>
          </a:p>
        </p:txBody>
      </p:sp>
      <p:sp>
        <p:nvSpPr>
          <p:cNvPr id="9" name="Text 6"/>
          <p:cNvSpPr/>
          <p:nvPr/>
        </p:nvSpPr>
        <p:spPr>
          <a:xfrm>
            <a:off x="8321040" y="3703320"/>
            <a:ext cx="3108960" cy="914400"/>
          </a:xfrm>
          <a:prstGeom prst="rect">
            <a:avLst/>
          </a:prstGeom>
          <a:noFill/>
          <a:ln/>
        </p:spPr>
        <p:txBody>
          <a:bodyPr wrap="square" lIns="0" tIns="0" rIns="0" bIns="0" rtlCol="0" anchor="ctr"/>
          <a:lstStyle/>
          <a:p>
            <a:pPr marL="0" indent="0" algn="ctr">
              <a:buNone/>
            </a:pPr>
            <a:r>
              <a:rPr lang="en-US" sz="1150" i="1" dirty="0">
                <a:solidFill>
                  <a:srgbClr val="7A6660"/>
                </a:solidFill>
                <a:latin typeface="Calibri" pitchFamily="34" charset="0"/>
                <a:ea typeface="Calibri" pitchFamily="34" charset="-122"/>
                <a:cs typeface="Calibri" pitchFamily="34" charset="-120"/>
              </a:rPr>
              <a:t>Kushinagar, at</a:t>
            </a:r>
            <a:endParaRPr lang="en-US" sz="1150" dirty="0"/>
          </a:p>
          <a:p>
            <a:pPr marL="0" indent="0" algn="ctr">
              <a:buNone/>
            </a:pPr>
            <a:r>
              <a:rPr lang="en-US" sz="1150" i="1" dirty="0">
                <a:solidFill>
                  <a:srgbClr val="7A6660"/>
                </a:solidFill>
                <a:latin typeface="Calibri" pitchFamily="34" charset="0"/>
                <a:ea typeface="Calibri" pitchFamily="34" charset="-122"/>
                <a:cs typeface="Calibri" pitchFamily="34" charset="-120"/>
              </a:rPr>
              <a:t>approximately age 80</a:t>
            </a:r>
            <a:endParaRPr lang="en-US" sz="1150" dirty="0"/>
          </a:p>
        </p:txBody>
      </p:sp>
      <p:sp>
        <p:nvSpPr>
          <p:cNvPr id="10" name="Text 7"/>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11</a:t>
            </a:r>
            <a:endParaRPr lang="en-US" sz="1000" dirty="0"/>
          </a:p>
        </p:txBody>
      </p:sp>
      <p:sp>
        <p:nvSpPr>
          <p:cNvPr id="11" name="Text 8"/>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3D0F10"/>
        </a:solidFill>
        <a:effectLst/>
      </p:bgPr>
    </p:bg>
    <p:spTree>
      <p:nvGrpSpPr>
        <p:cNvPr id="1" name=""/>
        <p:cNvGrpSpPr/>
        <p:nvPr/>
      </p:nvGrpSpPr>
      <p:grpSpPr>
        <a:xfrm>
          <a:off x="0" y="0"/>
          <a:ext cx="0" cy="0"/>
          <a:chOff x="0" y="0"/>
          <a:chExt cx="0" cy="0"/>
        </a:xfrm>
      </p:grpSpPr>
      <p:sp>
        <p:nvSpPr>
          <p:cNvPr id="2" name="Shape 0"/>
          <p:cNvSpPr/>
          <p:nvPr/>
        </p:nvSpPr>
        <p:spPr>
          <a:xfrm>
            <a:off x="822960" y="2468880"/>
            <a:ext cx="1737360" cy="1737360"/>
          </a:xfrm>
          <a:prstGeom prst="ellipse">
            <a:avLst/>
          </a:prstGeom>
          <a:solidFill>
            <a:srgbClr val="5C1A1B"/>
          </a:solidFill>
          <a:ln/>
        </p:spPr>
        <p:txBody>
          <a:bodyPr/>
          <a:lstStyle/>
          <a:p>
            <a:endParaRPr lang="en-US"/>
          </a:p>
        </p:txBody>
      </p:sp>
      <p:pic>
        <p:nvPicPr>
          <p:cNvPr id="3" name="Image 0" descr="/home/claude/buddhism/icons/meditation_white.png"/>
          <p:cNvPicPr>
            <a:picLocks noChangeAspect="1"/>
          </p:cNvPicPr>
          <p:nvPr/>
        </p:nvPicPr>
        <p:blipFill>
          <a:blip r:embed="rId3"/>
          <a:stretch>
            <a:fillRect/>
          </a:stretch>
        </p:blipFill>
        <p:spPr>
          <a:xfrm>
            <a:off x="1170432" y="2816352"/>
            <a:ext cx="1042416" cy="1042416"/>
          </a:xfrm>
          <a:prstGeom prst="rect">
            <a:avLst/>
          </a:prstGeom>
        </p:spPr>
      </p:pic>
      <p:sp>
        <p:nvSpPr>
          <p:cNvPr id="4" name="Text 1"/>
          <p:cNvSpPr/>
          <p:nvPr/>
        </p:nvSpPr>
        <p:spPr>
          <a:xfrm>
            <a:off x="2834640" y="2606040"/>
            <a:ext cx="7315200" cy="365760"/>
          </a:xfrm>
          <a:prstGeom prst="rect">
            <a:avLst/>
          </a:prstGeom>
          <a:noFill/>
          <a:ln/>
        </p:spPr>
        <p:txBody>
          <a:bodyPr wrap="square" lIns="0" tIns="0" rIns="0" bIns="0" rtlCol="0" anchor="ctr"/>
          <a:lstStyle/>
          <a:p>
            <a:pPr marL="0" indent="0">
              <a:buNone/>
            </a:pPr>
            <a:r>
              <a:rPr lang="en-US" sz="1400" b="1" kern="0" spc="300" dirty="0">
                <a:solidFill>
                  <a:srgbClr val="E0B25C"/>
                </a:solidFill>
                <a:latin typeface="Calibri" pitchFamily="34" charset="0"/>
                <a:ea typeface="Calibri" pitchFamily="34" charset="-122"/>
                <a:cs typeface="Calibri" pitchFamily="34" charset="-120"/>
              </a:rPr>
              <a:t>PART TWO</a:t>
            </a:r>
            <a:endParaRPr lang="en-US" sz="1400" dirty="0"/>
          </a:p>
        </p:txBody>
      </p:sp>
      <p:sp>
        <p:nvSpPr>
          <p:cNvPr id="5" name="Text 2"/>
          <p:cNvSpPr/>
          <p:nvPr/>
        </p:nvSpPr>
        <p:spPr>
          <a:xfrm>
            <a:off x="2834640" y="2926080"/>
            <a:ext cx="850392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Core Teachings &amp; Philosophy</a:t>
            </a:r>
            <a:endParaRPr lang="en-US" sz="3600" dirty="0"/>
          </a:p>
        </p:txBody>
      </p:sp>
      <p:sp>
        <p:nvSpPr>
          <p:cNvPr id="6" name="Text 3"/>
          <p:cNvSpPr/>
          <p:nvPr/>
        </p:nvSpPr>
        <p:spPr>
          <a:xfrm>
            <a:off x="2834640" y="3794760"/>
            <a:ext cx="7772400" cy="457200"/>
          </a:xfrm>
          <a:prstGeom prst="rect">
            <a:avLst/>
          </a:prstGeom>
          <a:noFill/>
          <a:ln/>
        </p:spPr>
        <p:txBody>
          <a:bodyPr wrap="square" lIns="0" tIns="0" rIns="0" bIns="0" rtlCol="0" anchor="ctr"/>
          <a:lstStyle/>
          <a:p>
            <a:pPr marL="0" indent="0">
              <a:buNone/>
            </a:pPr>
            <a:r>
              <a:rPr lang="en-US" sz="1500" i="1" dirty="0">
                <a:solidFill>
                  <a:srgbClr val="D9C9C4"/>
                </a:solidFill>
                <a:latin typeface="Calibri" pitchFamily="34" charset="0"/>
                <a:ea typeface="Calibri" pitchFamily="34" charset="-122"/>
                <a:cs typeface="Calibri" pitchFamily="34" charset="-120"/>
              </a:rPr>
              <a:t>The insights at the heart of the Dharma</a:t>
            </a:r>
            <a:endParaRPr lang="en-US" sz="1500" dirty="0"/>
          </a:p>
        </p:txBody>
      </p:sp>
      <p:sp>
        <p:nvSpPr>
          <p:cNvPr id="7" name="Text 4"/>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D9C9C4"/>
                </a:solidFill>
                <a:latin typeface="Calibri" pitchFamily="34" charset="0"/>
                <a:ea typeface="Calibri" pitchFamily="34" charset="-122"/>
                <a:cs typeface="Calibri" pitchFamily="34" charset="-120"/>
              </a:rPr>
              <a:t>12</a:t>
            </a:r>
            <a:endParaRPr lang="en-US" sz="1000" dirty="0"/>
          </a:p>
        </p:txBody>
      </p:sp>
      <p:sp>
        <p:nvSpPr>
          <p:cNvPr id="8" name="Text 5"/>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D9C9C4"/>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CORE TEACHINGS</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The Four Noble Truths</a:t>
            </a:r>
            <a:endParaRPr lang="en-US" sz="3000" dirty="0"/>
          </a:p>
        </p:txBody>
      </p:sp>
      <p:sp>
        <p:nvSpPr>
          <p:cNvPr id="4" name="Text 2"/>
          <p:cNvSpPr/>
          <p:nvPr/>
        </p:nvSpPr>
        <p:spPr>
          <a:xfrm>
            <a:off x="548640" y="1691640"/>
            <a:ext cx="10789920" cy="365760"/>
          </a:xfrm>
          <a:prstGeom prst="rect">
            <a:avLst/>
          </a:prstGeom>
          <a:noFill/>
          <a:ln/>
        </p:spPr>
        <p:txBody>
          <a:bodyPr wrap="square" lIns="0" tIns="0" rIns="0" bIns="0" rtlCol="0" anchor="ctr"/>
          <a:lstStyle/>
          <a:p>
            <a:pPr marL="0" indent="0">
              <a:buNone/>
            </a:pPr>
            <a:r>
              <a:rPr lang="en-US" sz="1350" i="1" dirty="0">
                <a:solidFill>
                  <a:srgbClr val="7A6660"/>
                </a:solidFill>
                <a:latin typeface="Calibri" pitchFamily="34" charset="0"/>
                <a:ea typeface="Calibri" pitchFamily="34" charset="-122"/>
                <a:cs typeface="Calibri" pitchFamily="34" charset="-120"/>
              </a:rPr>
              <a:t>The Buddha framed his insight like a physician diagnosing an illness and prescribing a cure.</a:t>
            </a:r>
            <a:endParaRPr lang="en-US" sz="1350" dirty="0"/>
          </a:p>
        </p:txBody>
      </p:sp>
      <p:sp>
        <p:nvSpPr>
          <p:cNvPr id="5" name="Shape 3"/>
          <p:cNvSpPr/>
          <p:nvPr/>
        </p:nvSpPr>
        <p:spPr>
          <a:xfrm>
            <a:off x="548640" y="2240280"/>
            <a:ext cx="2697480" cy="3566160"/>
          </a:xfrm>
          <a:prstGeom prst="roundRect">
            <a:avLst>
              <a:gd name="adj" fmla="val 271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1531620" y="2468880"/>
            <a:ext cx="731520" cy="731520"/>
          </a:xfrm>
          <a:prstGeom prst="ellipse">
            <a:avLst/>
          </a:prstGeom>
          <a:solidFill>
            <a:srgbClr val="5C1A1B"/>
          </a:solidFill>
          <a:ln/>
        </p:spPr>
        <p:txBody>
          <a:bodyPr/>
          <a:lstStyle/>
          <a:p>
            <a:endParaRPr lang="en-US"/>
          </a:p>
        </p:txBody>
      </p:sp>
      <p:sp>
        <p:nvSpPr>
          <p:cNvPr id="7" name="Text 5"/>
          <p:cNvSpPr/>
          <p:nvPr/>
        </p:nvSpPr>
        <p:spPr>
          <a:xfrm>
            <a:off x="1531620" y="246888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6"/>
          <p:cNvSpPr/>
          <p:nvPr/>
        </p:nvSpPr>
        <p:spPr>
          <a:xfrm>
            <a:off x="685800" y="3337560"/>
            <a:ext cx="2423160" cy="457200"/>
          </a:xfrm>
          <a:prstGeom prst="rect">
            <a:avLst/>
          </a:prstGeom>
          <a:noFill/>
          <a:ln/>
        </p:spPr>
        <p:txBody>
          <a:bodyPr wrap="square" lIns="0" tIns="0" rIns="0" bIns="0" rtlCol="0" anchor="ctr"/>
          <a:lstStyle/>
          <a:p>
            <a:pPr marL="0" indent="0" algn="ctr">
              <a:buNone/>
            </a:pPr>
            <a:r>
              <a:rPr lang="en-US" sz="1600" b="1" dirty="0">
                <a:solidFill>
                  <a:srgbClr val="5C1A1B"/>
                </a:solidFill>
                <a:latin typeface="Cambria" pitchFamily="34" charset="0"/>
                <a:ea typeface="Cambria" pitchFamily="34" charset="-122"/>
                <a:cs typeface="Cambria" pitchFamily="34" charset="-120"/>
              </a:rPr>
              <a:t>Dukkha</a:t>
            </a:r>
            <a:endParaRPr lang="en-US" sz="1600" dirty="0"/>
          </a:p>
        </p:txBody>
      </p:sp>
      <p:sp>
        <p:nvSpPr>
          <p:cNvPr id="9" name="Text 7"/>
          <p:cNvSpPr/>
          <p:nvPr/>
        </p:nvSpPr>
        <p:spPr>
          <a:xfrm>
            <a:off x="777240" y="3840480"/>
            <a:ext cx="2240280" cy="173736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Suffering and unsatisfactoriness are inherent to existence</a:t>
            </a:r>
            <a:endParaRPr lang="en-US" sz="1150" dirty="0"/>
          </a:p>
        </p:txBody>
      </p:sp>
      <p:sp>
        <p:nvSpPr>
          <p:cNvPr id="10" name="Shape 8"/>
          <p:cNvSpPr/>
          <p:nvPr/>
        </p:nvSpPr>
        <p:spPr>
          <a:xfrm>
            <a:off x="3337560" y="2240280"/>
            <a:ext cx="2697480" cy="3566160"/>
          </a:xfrm>
          <a:prstGeom prst="roundRect">
            <a:avLst>
              <a:gd name="adj" fmla="val 271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11" name="Shape 9"/>
          <p:cNvSpPr/>
          <p:nvPr/>
        </p:nvSpPr>
        <p:spPr>
          <a:xfrm>
            <a:off x="4320540" y="2468880"/>
            <a:ext cx="731520" cy="731520"/>
          </a:xfrm>
          <a:prstGeom prst="ellipse">
            <a:avLst/>
          </a:prstGeom>
          <a:solidFill>
            <a:srgbClr val="5C1A1B"/>
          </a:solidFill>
          <a:ln/>
        </p:spPr>
        <p:txBody>
          <a:bodyPr/>
          <a:lstStyle/>
          <a:p>
            <a:endParaRPr lang="en-US"/>
          </a:p>
        </p:txBody>
      </p:sp>
      <p:sp>
        <p:nvSpPr>
          <p:cNvPr id="12" name="Text 10"/>
          <p:cNvSpPr/>
          <p:nvPr/>
        </p:nvSpPr>
        <p:spPr>
          <a:xfrm>
            <a:off x="4320540" y="246888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1"/>
          <p:cNvSpPr/>
          <p:nvPr/>
        </p:nvSpPr>
        <p:spPr>
          <a:xfrm>
            <a:off x="3474720" y="3337560"/>
            <a:ext cx="2423160" cy="457200"/>
          </a:xfrm>
          <a:prstGeom prst="rect">
            <a:avLst/>
          </a:prstGeom>
          <a:noFill/>
          <a:ln/>
        </p:spPr>
        <p:txBody>
          <a:bodyPr wrap="square" lIns="0" tIns="0" rIns="0" bIns="0" rtlCol="0" anchor="ctr"/>
          <a:lstStyle/>
          <a:p>
            <a:pPr marL="0" indent="0" algn="ctr">
              <a:buNone/>
            </a:pPr>
            <a:r>
              <a:rPr lang="en-US" sz="1600" b="1" dirty="0">
                <a:solidFill>
                  <a:srgbClr val="5C1A1B"/>
                </a:solidFill>
                <a:latin typeface="Cambria" pitchFamily="34" charset="0"/>
                <a:ea typeface="Cambria" pitchFamily="34" charset="-122"/>
                <a:cs typeface="Cambria" pitchFamily="34" charset="-120"/>
              </a:rPr>
              <a:t>Samudaya</a:t>
            </a:r>
            <a:endParaRPr lang="en-US" sz="1600" dirty="0"/>
          </a:p>
        </p:txBody>
      </p:sp>
      <p:sp>
        <p:nvSpPr>
          <p:cNvPr id="14" name="Text 12"/>
          <p:cNvSpPr/>
          <p:nvPr/>
        </p:nvSpPr>
        <p:spPr>
          <a:xfrm>
            <a:off x="3566160" y="3840480"/>
            <a:ext cx="2240280" cy="173736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The origin of suffering is craving (tanha) and attachment</a:t>
            </a:r>
            <a:endParaRPr lang="en-US" sz="1150" dirty="0"/>
          </a:p>
        </p:txBody>
      </p:sp>
      <p:sp>
        <p:nvSpPr>
          <p:cNvPr id="15" name="Shape 13"/>
          <p:cNvSpPr/>
          <p:nvPr/>
        </p:nvSpPr>
        <p:spPr>
          <a:xfrm>
            <a:off x="6126480" y="2240280"/>
            <a:ext cx="2697480" cy="3566160"/>
          </a:xfrm>
          <a:prstGeom prst="roundRect">
            <a:avLst>
              <a:gd name="adj" fmla="val 271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16" name="Shape 14"/>
          <p:cNvSpPr/>
          <p:nvPr/>
        </p:nvSpPr>
        <p:spPr>
          <a:xfrm>
            <a:off x="7109460" y="2468880"/>
            <a:ext cx="731520" cy="731520"/>
          </a:xfrm>
          <a:prstGeom prst="ellipse">
            <a:avLst/>
          </a:prstGeom>
          <a:solidFill>
            <a:srgbClr val="5C1A1B"/>
          </a:solidFill>
          <a:ln/>
        </p:spPr>
        <p:txBody>
          <a:bodyPr/>
          <a:lstStyle/>
          <a:p>
            <a:endParaRPr lang="en-US"/>
          </a:p>
        </p:txBody>
      </p:sp>
      <p:sp>
        <p:nvSpPr>
          <p:cNvPr id="17" name="Text 15"/>
          <p:cNvSpPr/>
          <p:nvPr/>
        </p:nvSpPr>
        <p:spPr>
          <a:xfrm>
            <a:off x="7109460" y="246888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6"/>
          <p:cNvSpPr/>
          <p:nvPr/>
        </p:nvSpPr>
        <p:spPr>
          <a:xfrm>
            <a:off x="6263640" y="3337560"/>
            <a:ext cx="2423160" cy="457200"/>
          </a:xfrm>
          <a:prstGeom prst="rect">
            <a:avLst/>
          </a:prstGeom>
          <a:noFill/>
          <a:ln/>
        </p:spPr>
        <p:txBody>
          <a:bodyPr wrap="square" lIns="0" tIns="0" rIns="0" bIns="0" rtlCol="0" anchor="ctr"/>
          <a:lstStyle/>
          <a:p>
            <a:pPr marL="0" indent="0" algn="ctr">
              <a:buNone/>
            </a:pPr>
            <a:r>
              <a:rPr lang="en-US" sz="1600" b="1" dirty="0">
                <a:solidFill>
                  <a:srgbClr val="5C1A1B"/>
                </a:solidFill>
                <a:latin typeface="Cambria" pitchFamily="34" charset="0"/>
                <a:ea typeface="Cambria" pitchFamily="34" charset="-122"/>
                <a:cs typeface="Cambria" pitchFamily="34" charset="-120"/>
              </a:rPr>
              <a:t>Nirodha</a:t>
            </a:r>
            <a:endParaRPr lang="en-US" sz="1600" dirty="0"/>
          </a:p>
        </p:txBody>
      </p:sp>
      <p:sp>
        <p:nvSpPr>
          <p:cNvPr id="19" name="Text 17"/>
          <p:cNvSpPr/>
          <p:nvPr/>
        </p:nvSpPr>
        <p:spPr>
          <a:xfrm>
            <a:off x="6355080" y="3840480"/>
            <a:ext cx="2240280" cy="173736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The cessation of suffering is possible — this is Nirvana</a:t>
            </a:r>
            <a:endParaRPr lang="en-US" sz="1150" dirty="0"/>
          </a:p>
        </p:txBody>
      </p:sp>
      <p:sp>
        <p:nvSpPr>
          <p:cNvPr id="20" name="Shape 18"/>
          <p:cNvSpPr/>
          <p:nvPr/>
        </p:nvSpPr>
        <p:spPr>
          <a:xfrm>
            <a:off x="8915400" y="2240280"/>
            <a:ext cx="2697480" cy="3566160"/>
          </a:xfrm>
          <a:prstGeom prst="roundRect">
            <a:avLst>
              <a:gd name="adj" fmla="val 271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21" name="Shape 19"/>
          <p:cNvSpPr/>
          <p:nvPr/>
        </p:nvSpPr>
        <p:spPr>
          <a:xfrm>
            <a:off x="9898380" y="2468880"/>
            <a:ext cx="731520" cy="731520"/>
          </a:xfrm>
          <a:prstGeom prst="ellipse">
            <a:avLst/>
          </a:prstGeom>
          <a:solidFill>
            <a:srgbClr val="5C1A1B"/>
          </a:solidFill>
          <a:ln/>
        </p:spPr>
        <p:txBody>
          <a:bodyPr/>
          <a:lstStyle/>
          <a:p>
            <a:endParaRPr lang="en-US"/>
          </a:p>
        </p:txBody>
      </p:sp>
      <p:sp>
        <p:nvSpPr>
          <p:cNvPr id="22" name="Text 20"/>
          <p:cNvSpPr/>
          <p:nvPr/>
        </p:nvSpPr>
        <p:spPr>
          <a:xfrm>
            <a:off x="9898380" y="2468880"/>
            <a:ext cx="731520" cy="73152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Text 21"/>
          <p:cNvSpPr/>
          <p:nvPr/>
        </p:nvSpPr>
        <p:spPr>
          <a:xfrm>
            <a:off x="9052560" y="3337560"/>
            <a:ext cx="2423160" cy="457200"/>
          </a:xfrm>
          <a:prstGeom prst="rect">
            <a:avLst/>
          </a:prstGeom>
          <a:noFill/>
          <a:ln/>
        </p:spPr>
        <p:txBody>
          <a:bodyPr wrap="square" lIns="0" tIns="0" rIns="0" bIns="0" rtlCol="0" anchor="ctr"/>
          <a:lstStyle/>
          <a:p>
            <a:pPr marL="0" indent="0" algn="ctr">
              <a:buNone/>
            </a:pPr>
            <a:r>
              <a:rPr lang="en-US" sz="1600" b="1" dirty="0">
                <a:solidFill>
                  <a:srgbClr val="5C1A1B"/>
                </a:solidFill>
                <a:latin typeface="Cambria" pitchFamily="34" charset="0"/>
                <a:ea typeface="Cambria" pitchFamily="34" charset="-122"/>
                <a:cs typeface="Cambria" pitchFamily="34" charset="-120"/>
              </a:rPr>
              <a:t>Magga</a:t>
            </a:r>
            <a:endParaRPr lang="en-US" sz="1600" dirty="0"/>
          </a:p>
        </p:txBody>
      </p:sp>
      <p:sp>
        <p:nvSpPr>
          <p:cNvPr id="24" name="Text 22"/>
          <p:cNvSpPr/>
          <p:nvPr/>
        </p:nvSpPr>
        <p:spPr>
          <a:xfrm>
            <a:off x="9144000" y="3840480"/>
            <a:ext cx="2240280" cy="173736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The path to cessation is the Noble Eightfold Path</a:t>
            </a:r>
            <a:endParaRPr lang="en-US" sz="1150" dirty="0"/>
          </a:p>
        </p:txBody>
      </p:sp>
      <p:sp>
        <p:nvSpPr>
          <p:cNvPr id="25" name="Text 23"/>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13</a:t>
            </a:r>
            <a:endParaRPr lang="en-US" sz="1000" dirty="0"/>
          </a:p>
        </p:txBody>
      </p:sp>
      <p:sp>
        <p:nvSpPr>
          <p:cNvPr id="26" name="Text 24"/>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CORE TEACHINGS</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The Noble Eightfold Path</a:t>
            </a:r>
            <a:endParaRPr lang="en-US" sz="3000" dirty="0"/>
          </a:p>
        </p:txBody>
      </p:sp>
      <p:sp>
        <p:nvSpPr>
          <p:cNvPr id="4" name="Text 2"/>
          <p:cNvSpPr/>
          <p:nvPr/>
        </p:nvSpPr>
        <p:spPr>
          <a:xfrm>
            <a:off x="548640" y="1691640"/>
            <a:ext cx="10789920" cy="365760"/>
          </a:xfrm>
          <a:prstGeom prst="rect">
            <a:avLst/>
          </a:prstGeom>
          <a:noFill/>
          <a:ln/>
        </p:spPr>
        <p:txBody>
          <a:bodyPr wrap="square" lIns="0" tIns="0" rIns="0" bIns="0" rtlCol="0" anchor="ctr"/>
          <a:lstStyle/>
          <a:p>
            <a:pPr marL="0" indent="0">
              <a:buNone/>
            </a:pPr>
            <a:r>
              <a:rPr lang="en-US" sz="1350" i="1" dirty="0">
                <a:solidFill>
                  <a:srgbClr val="7A6660"/>
                </a:solidFill>
                <a:latin typeface="Calibri" pitchFamily="34" charset="0"/>
                <a:ea typeface="Calibri" pitchFamily="34" charset="-122"/>
                <a:cs typeface="Calibri" pitchFamily="34" charset="-120"/>
              </a:rPr>
              <a:t>The fourth Noble Truth in practice — eight interdependent factors grouped into three trainings.</a:t>
            </a:r>
            <a:endParaRPr lang="en-US" sz="1350" dirty="0"/>
          </a:p>
        </p:txBody>
      </p:sp>
      <p:sp>
        <p:nvSpPr>
          <p:cNvPr id="5" name="Shape 3"/>
          <p:cNvSpPr/>
          <p:nvPr/>
        </p:nvSpPr>
        <p:spPr>
          <a:xfrm>
            <a:off x="548640" y="2240280"/>
            <a:ext cx="3291840" cy="3566160"/>
          </a:xfrm>
          <a:prstGeom prst="roundRect">
            <a:avLst>
              <a:gd name="adj" fmla="val 2222"/>
            </a:avLst>
          </a:prstGeom>
          <a:solidFill>
            <a:srgbClr val="F6EDEA"/>
          </a:solidFill>
          <a:ln/>
        </p:spPr>
        <p:txBody>
          <a:bodyPr/>
          <a:lstStyle/>
          <a:p>
            <a:endParaRPr lang="en-US"/>
          </a:p>
        </p:txBody>
      </p:sp>
      <p:sp>
        <p:nvSpPr>
          <p:cNvPr id="6" name="Text 4"/>
          <p:cNvSpPr/>
          <p:nvPr/>
        </p:nvSpPr>
        <p:spPr>
          <a:xfrm>
            <a:off x="731520" y="2423160"/>
            <a:ext cx="2926080" cy="548640"/>
          </a:xfrm>
          <a:prstGeom prst="rect">
            <a:avLst/>
          </a:prstGeom>
          <a:noFill/>
          <a:ln/>
        </p:spPr>
        <p:txBody>
          <a:bodyPr wrap="square" lIns="0" tIns="0" rIns="0" bIns="0" rtlCol="0" anchor="ctr"/>
          <a:lstStyle/>
          <a:p>
            <a:pPr marL="0" indent="0" algn="ctr">
              <a:buNone/>
            </a:pPr>
            <a:r>
              <a:rPr lang="en-US" sz="1400" b="1" dirty="0">
                <a:solidFill>
                  <a:srgbClr val="C9922A"/>
                </a:solidFill>
                <a:latin typeface="Cambria" pitchFamily="34" charset="0"/>
                <a:ea typeface="Cambria" pitchFamily="34" charset="-122"/>
                <a:cs typeface="Cambria" pitchFamily="34" charset="-120"/>
              </a:rPr>
              <a:t>Wisdom (Panna)</a:t>
            </a:r>
            <a:endParaRPr lang="en-US" sz="1400" dirty="0"/>
          </a:p>
        </p:txBody>
      </p:sp>
      <p:sp>
        <p:nvSpPr>
          <p:cNvPr id="7" name="Shape 5"/>
          <p:cNvSpPr/>
          <p:nvPr/>
        </p:nvSpPr>
        <p:spPr>
          <a:xfrm>
            <a:off x="777240" y="3063240"/>
            <a:ext cx="2834640" cy="566928"/>
          </a:xfrm>
          <a:prstGeom prst="roundRect">
            <a:avLst>
              <a:gd name="adj" fmla="val 9677"/>
            </a:avLst>
          </a:prstGeom>
          <a:solidFill>
            <a:srgbClr val="FFFFFF"/>
          </a:solidFill>
          <a:ln w="9525">
            <a:solidFill>
              <a:srgbClr val="5C1A1B"/>
            </a:solidFill>
            <a:prstDash val="solid"/>
          </a:ln>
        </p:spPr>
        <p:txBody>
          <a:bodyPr/>
          <a:lstStyle/>
          <a:p>
            <a:endParaRPr lang="en-US"/>
          </a:p>
        </p:txBody>
      </p:sp>
      <p:sp>
        <p:nvSpPr>
          <p:cNvPr id="8" name="Text 6"/>
          <p:cNvSpPr/>
          <p:nvPr/>
        </p:nvSpPr>
        <p:spPr>
          <a:xfrm>
            <a:off x="777240" y="3063240"/>
            <a:ext cx="2834640" cy="566928"/>
          </a:xfrm>
          <a:prstGeom prst="rect">
            <a:avLst/>
          </a:prstGeom>
          <a:noFill/>
          <a:ln/>
        </p:spPr>
        <p:txBody>
          <a:bodyPr wrap="square" lIns="0" tIns="0" rIns="0" bIns="0" rtlCol="0" anchor="ctr"/>
          <a:lstStyle/>
          <a:p>
            <a:pPr marL="0" indent="0" algn="ctr">
              <a:buNone/>
            </a:pPr>
            <a:r>
              <a:rPr lang="en-US" sz="1250" dirty="0">
                <a:solidFill>
                  <a:srgbClr val="2B1A1A"/>
                </a:solidFill>
                <a:latin typeface="Calibri" pitchFamily="34" charset="0"/>
                <a:ea typeface="Calibri" pitchFamily="34" charset="-122"/>
                <a:cs typeface="Calibri" pitchFamily="34" charset="-120"/>
              </a:rPr>
              <a:t>Right View</a:t>
            </a:r>
            <a:endParaRPr lang="en-US" sz="1250" dirty="0"/>
          </a:p>
        </p:txBody>
      </p:sp>
      <p:sp>
        <p:nvSpPr>
          <p:cNvPr id="9" name="Shape 7"/>
          <p:cNvSpPr/>
          <p:nvPr/>
        </p:nvSpPr>
        <p:spPr>
          <a:xfrm>
            <a:off x="777240" y="3776472"/>
            <a:ext cx="2834640" cy="566928"/>
          </a:xfrm>
          <a:prstGeom prst="roundRect">
            <a:avLst>
              <a:gd name="adj" fmla="val 9677"/>
            </a:avLst>
          </a:prstGeom>
          <a:solidFill>
            <a:srgbClr val="FFFFFF"/>
          </a:solidFill>
          <a:ln w="9525">
            <a:solidFill>
              <a:srgbClr val="5C1A1B"/>
            </a:solidFill>
            <a:prstDash val="solid"/>
          </a:ln>
        </p:spPr>
        <p:txBody>
          <a:bodyPr/>
          <a:lstStyle/>
          <a:p>
            <a:endParaRPr lang="en-US"/>
          </a:p>
        </p:txBody>
      </p:sp>
      <p:sp>
        <p:nvSpPr>
          <p:cNvPr id="10" name="Text 8"/>
          <p:cNvSpPr/>
          <p:nvPr/>
        </p:nvSpPr>
        <p:spPr>
          <a:xfrm>
            <a:off x="777240" y="3776472"/>
            <a:ext cx="2834640" cy="566928"/>
          </a:xfrm>
          <a:prstGeom prst="rect">
            <a:avLst/>
          </a:prstGeom>
          <a:noFill/>
          <a:ln/>
        </p:spPr>
        <p:txBody>
          <a:bodyPr wrap="square" lIns="0" tIns="0" rIns="0" bIns="0" rtlCol="0" anchor="ctr"/>
          <a:lstStyle/>
          <a:p>
            <a:pPr marL="0" indent="0" algn="ctr">
              <a:buNone/>
            </a:pPr>
            <a:r>
              <a:rPr lang="en-US" sz="1250" dirty="0">
                <a:solidFill>
                  <a:srgbClr val="2B1A1A"/>
                </a:solidFill>
                <a:latin typeface="Calibri" pitchFamily="34" charset="0"/>
                <a:ea typeface="Calibri" pitchFamily="34" charset="-122"/>
                <a:cs typeface="Calibri" pitchFamily="34" charset="-120"/>
              </a:rPr>
              <a:t>Right Intention</a:t>
            </a:r>
            <a:endParaRPr lang="en-US" sz="1250" dirty="0"/>
          </a:p>
        </p:txBody>
      </p:sp>
      <p:sp>
        <p:nvSpPr>
          <p:cNvPr id="11" name="Shape 9"/>
          <p:cNvSpPr/>
          <p:nvPr/>
        </p:nvSpPr>
        <p:spPr>
          <a:xfrm>
            <a:off x="4005072" y="2240280"/>
            <a:ext cx="3657600" cy="3566160"/>
          </a:xfrm>
          <a:prstGeom prst="roundRect">
            <a:avLst>
              <a:gd name="adj" fmla="val 2051"/>
            </a:avLst>
          </a:prstGeom>
          <a:solidFill>
            <a:srgbClr val="F6EDEA"/>
          </a:solidFill>
          <a:ln/>
        </p:spPr>
        <p:txBody>
          <a:bodyPr/>
          <a:lstStyle/>
          <a:p>
            <a:endParaRPr lang="en-US"/>
          </a:p>
        </p:txBody>
      </p:sp>
      <p:sp>
        <p:nvSpPr>
          <p:cNvPr id="12" name="Text 10"/>
          <p:cNvSpPr/>
          <p:nvPr/>
        </p:nvSpPr>
        <p:spPr>
          <a:xfrm>
            <a:off x="4187952" y="2423160"/>
            <a:ext cx="3291840" cy="548640"/>
          </a:xfrm>
          <a:prstGeom prst="rect">
            <a:avLst/>
          </a:prstGeom>
          <a:noFill/>
          <a:ln/>
        </p:spPr>
        <p:txBody>
          <a:bodyPr wrap="square" lIns="0" tIns="0" rIns="0" bIns="0" rtlCol="0" anchor="ctr"/>
          <a:lstStyle/>
          <a:p>
            <a:pPr marL="0" indent="0" algn="ctr">
              <a:buNone/>
            </a:pPr>
            <a:r>
              <a:rPr lang="en-US" sz="1400" b="1" dirty="0">
                <a:solidFill>
                  <a:srgbClr val="C9922A"/>
                </a:solidFill>
                <a:latin typeface="Cambria" pitchFamily="34" charset="0"/>
                <a:ea typeface="Cambria" pitchFamily="34" charset="-122"/>
                <a:cs typeface="Cambria" pitchFamily="34" charset="-120"/>
              </a:rPr>
              <a:t>Ethical Conduct (Sila)</a:t>
            </a:r>
            <a:endParaRPr lang="en-US" sz="1400" dirty="0"/>
          </a:p>
        </p:txBody>
      </p:sp>
      <p:sp>
        <p:nvSpPr>
          <p:cNvPr id="13" name="Shape 11"/>
          <p:cNvSpPr/>
          <p:nvPr/>
        </p:nvSpPr>
        <p:spPr>
          <a:xfrm>
            <a:off x="4233672" y="3063240"/>
            <a:ext cx="3200400" cy="566928"/>
          </a:xfrm>
          <a:prstGeom prst="roundRect">
            <a:avLst>
              <a:gd name="adj" fmla="val 9677"/>
            </a:avLst>
          </a:prstGeom>
          <a:solidFill>
            <a:srgbClr val="FFFFFF"/>
          </a:solidFill>
          <a:ln w="9525">
            <a:solidFill>
              <a:srgbClr val="5C1A1B"/>
            </a:solidFill>
            <a:prstDash val="solid"/>
          </a:ln>
        </p:spPr>
        <p:txBody>
          <a:bodyPr/>
          <a:lstStyle/>
          <a:p>
            <a:endParaRPr lang="en-US"/>
          </a:p>
        </p:txBody>
      </p:sp>
      <p:sp>
        <p:nvSpPr>
          <p:cNvPr id="14" name="Text 12"/>
          <p:cNvSpPr/>
          <p:nvPr/>
        </p:nvSpPr>
        <p:spPr>
          <a:xfrm>
            <a:off x="4233672" y="3063240"/>
            <a:ext cx="3200400" cy="566928"/>
          </a:xfrm>
          <a:prstGeom prst="rect">
            <a:avLst/>
          </a:prstGeom>
          <a:noFill/>
          <a:ln/>
        </p:spPr>
        <p:txBody>
          <a:bodyPr wrap="square" lIns="0" tIns="0" rIns="0" bIns="0" rtlCol="0" anchor="ctr"/>
          <a:lstStyle/>
          <a:p>
            <a:pPr marL="0" indent="0" algn="ctr">
              <a:buNone/>
            </a:pPr>
            <a:r>
              <a:rPr lang="en-US" sz="1250" dirty="0">
                <a:solidFill>
                  <a:srgbClr val="2B1A1A"/>
                </a:solidFill>
                <a:latin typeface="Calibri" pitchFamily="34" charset="0"/>
                <a:ea typeface="Calibri" pitchFamily="34" charset="-122"/>
                <a:cs typeface="Calibri" pitchFamily="34" charset="-120"/>
              </a:rPr>
              <a:t>Right Speech</a:t>
            </a:r>
            <a:endParaRPr lang="en-US" sz="1250" dirty="0"/>
          </a:p>
        </p:txBody>
      </p:sp>
      <p:sp>
        <p:nvSpPr>
          <p:cNvPr id="15" name="Shape 13"/>
          <p:cNvSpPr/>
          <p:nvPr/>
        </p:nvSpPr>
        <p:spPr>
          <a:xfrm>
            <a:off x="4233672" y="3776472"/>
            <a:ext cx="3200400" cy="566928"/>
          </a:xfrm>
          <a:prstGeom prst="roundRect">
            <a:avLst>
              <a:gd name="adj" fmla="val 9677"/>
            </a:avLst>
          </a:prstGeom>
          <a:solidFill>
            <a:srgbClr val="FFFFFF"/>
          </a:solidFill>
          <a:ln w="9525">
            <a:solidFill>
              <a:srgbClr val="5C1A1B"/>
            </a:solidFill>
            <a:prstDash val="solid"/>
          </a:ln>
        </p:spPr>
        <p:txBody>
          <a:bodyPr/>
          <a:lstStyle/>
          <a:p>
            <a:endParaRPr lang="en-US"/>
          </a:p>
        </p:txBody>
      </p:sp>
      <p:sp>
        <p:nvSpPr>
          <p:cNvPr id="16" name="Text 14"/>
          <p:cNvSpPr/>
          <p:nvPr/>
        </p:nvSpPr>
        <p:spPr>
          <a:xfrm>
            <a:off x="4233672" y="3776472"/>
            <a:ext cx="3200400" cy="566928"/>
          </a:xfrm>
          <a:prstGeom prst="rect">
            <a:avLst/>
          </a:prstGeom>
          <a:noFill/>
          <a:ln/>
        </p:spPr>
        <p:txBody>
          <a:bodyPr wrap="square" lIns="0" tIns="0" rIns="0" bIns="0" rtlCol="0" anchor="ctr"/>
          <a:lstStyle/>
          <a:p>
            <a:pPr marL="0" indent="0" algn="ctr">
              <a:buNone/>
            </a:pPr>
            <a:r>
              <a:rPr lang="en-US" sz="1250" dirty="0">
                <a:solidFill>
                  <a:srgbClr val="2B1A1A"/>
                </a:solidFill>
                <a:latin typeface="Calibri" pitchFamily="34" charset="0"/>
                <a:ea typeface="Calibri" pitchFamily="34" charset="-122"/>
                <a:cs typeface="Calibri" pitchFamily="34" charset="-120"/>
              </a:rPr>
              <a:t>Right Action</a:t>
            </a:r>
            <a:endParaRPr lang="en-US" sz="1250" dirty="0"/>
          </a:p>
        </p:txBody>
      </p:sp>
      <p:sp>
        <p:nvSpPr>
          <p:cNvPr id="17" name="Shape 15"/>
          <p:cNvSpPr/>
          <p:nvPr/>
        </p:nvSpPr>
        <p:spPr>
          <a:xfrm>
            <a:off x="4233672" y="4489704"/>
            <a:ext cx="3200400" cy="566928"/>
          </a:xfrm>
          <a:prstGeom prst="roundRect">
            <a:avLst>
              <a:gd name="adj" fmla="val 9677"/>
            </a:avLst>
          </a:prstGeom>
          <a:solidFill>
            <a:srgbClr val="FFFFFF"/>
          </a:solidFill>
          <a:ln w="9525">
            <a:solidFill>
              <a:srgbClr val="5C1A1B"/>
            </a:solidFill>
            <a:prstDash val="solid"/>
          </a:ln>
        </p:spPr>
        <p:txBody>
          <a:bodyPr/>
          <a:lstStyle/>
          <a:p>
            <a:endParaRPr lang="en-US"/>
          </a:p>
        </p:txBody>
      </p:sp>
      <p:sp>
        <p:nvSpPr>
          <p:cNvPr id="18" name="Text 16"/>
          <p:cNvSpPr/>
          <p:nvPr/>
        </p:nvSpPr>
        <p:spPr>
          <a:xfrm>
            <a:off x="4233672" y="4489704"/>
            <a:ext cx="3200400" cy="566928"/>
          </a:xfrm>
          <a:prstGeom prst="rect">
            <a:avLst/>
          </a:prstGeom>
          <a:noFill/>
          <a:ln/>
        </p:spPr>
        <p:txBody>
          <a:bodyPr wrap="square" lIns="0" tIns="0" rIns="0" bIns="0" rtlCol="0" anchor="ctr"/>
          <a:lstStyle/>
          <a:p>
            <a:pPr marL="0" indent="0" algn="ctr">
              <a:buNone/>
            </a:pPr>
            <a:r>
              <a:rPr lang="en-US" sz="1250" dirty="0">
                <a:solidFill>
                  <a:srgbClr val="2B1A1A"/>
                </a:solidFill>
                <a:latin typeface="Calibri" pitchFamily="34" charset="0"/>
                <a:ea typeface="Calibri" pitchFamily="34" charset="-122"/>
                <a:cs typeface="Calibri" pitchFamily="34" charset="-120"/>
              </a:rPr>
              <a:t>Right Livelihood</a:t>
            </a:r>
            <a:endParaRPr lang="en-US" sz="1250" dirty="0"/>
          </a:p>
        </p:txBody>
      </p:sp>
      <p:sp>
        <p:nvSpPr>
          <p:cNvPr id="19" name="Shape 17"/>
          <p:cNvSpPr/>
          <p:nvPr/>
        </p:nvSpPr>
        <p:spPr>
          <a:xfrm>
            <a:off x="7827264" y="2240280"/>
            <a:ext cx="3657600" cy="3566160"/>
          </a:xfrm>
          <a:prstGeom prst="roundRect">
            <a:avLst>
              <a:gd name="adj" fmla="val 2051"/>
            </a:avLst>
          </a:prstGeom>
          <a:solidFill>
            <a:srgbClr val="F6EDEA"/>
          </a:solidFill>
          <a:ln/>
        </p:spPr>
        <p:txBody>
          <a:bodyPr/>
          <a:lstStyle/>
          <a:p>
            <a:endParaRPr lang="en-US"/>
          </a:p>
        </p:txBody>
      </p:sp>
      <p:sp>
        <p:nvSpPr>
          <p:cNvPr id="20" name="Text 18"/>
          <p:cNvSpPr/>
          <p:nvPr/>
        </p:nvSpPr>
        <p:spPr>
          <a:xfrm>
            <a:off x="8010144" y="2423160"/>
            <a:ext cx="3291840" cy="548640"/>
          </a:xfrm>
          <a:prstGeom prst="rect">
            <a:avLst/>
          </a:prstGeom>
          <a:noFill/>
          <a:ln/>
        </p:spPr>
        <p:txBody>
          <a:bodyPr wrap="square" lIns="0" tIns="0" rIns="0" bIns="0" rtlCol="0" anchor="ctr"/>
          <a:lstStyle/>
          <a:p>
            <a:pPr marL="0" indent="0" algn="ctr">
              <a:buNone/>
            </a:pPr>
            <a:r>
              <a:rPr lang="en-US" sz="1400" b="1" dirty="0">
                <a:solidFill>
                  <a:srgbClr val="C9922A"/>
                </a:solidFill>
                <a:latin typeface="Cambria" pitchFamily="34" charset="0"/>
                <a:ea typeface="Cambria" pitchFamily="34" charset="-122"/>
                <a:cs typeface="Cambria" pitchFamily="34" charset="-120"/>
              </a:rPr>
              <a:t>Mental Discipline (Samadhi)</a:t>
            </a:r>
            <a:endParaRPr lang="en-US" sz="1400" dirty="0"/>
          </a:p>
        </p:txBody>
      </p:sp>
      <p:sp>
        <p:nvSpPr>
          <p:cNvPr id="21" name="Shape 19"/>
          <p:cNvSpPr/>
          <p:nvPr/>
        </p:nvSpPr>
        <p:spPr>
          <a:xfrm>
            <a:off x="8055864" y="3063240"/>
            <a:ext cx="3200400" cy="566928"/>
          </a:xfrm>
          <a:prstGeom prst="roundRect">
            <a:avLst>
              <a:gd name="adj" fmla="val 9677"/>
            </a:avLst>
          </a:prstGeom>
          <a:solidFill>
            <a:srgbClr val="FFFFFF"/>
          </a:solidFill>
          <a:ln w="9525">
            <a:solidFill>
              <a:srgbClr val="5C1A1B"/>
            </a:solidFill>
            <a:prstDash val="solid"/>
          </a:ln>
        </p:spPr>
        <p:txBody>
          <a:bodyPr/>
          <a:lstStyle/>
          <a:p>
            <a:endParaRPr lang="en-US"/>
          </a:p>
        </p:txBody>
      </p:sp>
      <p:sp>
        <p:nvSpPr>
          <p:cNvPr id="22" name="Text 20"/>
          <p:cNvSpPr/>
          <p:nvPr/>
        </p:nvSpPr>
        <p:spPr>
          <a:xfrm>
            <a:off x="8055864" y="3063240"/>
            <a:ext cx="3200400" cy="566928"/>
          </a:xfrm>
          <a:prstGeom prst="rect">
            <a:avLst/>
          </a:prstGeom>
          <a:noFill/>
          <a:ln/>
        </p:spPr>
        <p:txBody>
          <a:bodyPr wrap="square" lIns="0" tIns="0" rIns="0" bIns="0" rtlCol="0" anchor="ctr"/>
          <a:lstStyle/>
          <a:p>
            <a:pPr marL="0" indent="0" algn="ctr">
              <a:buNone/>
            </a:pPr>
            <a:r>
              <a:rPr lang="en-US" sz="1250" dirty="0">
                <a:solidFill>
                  <a:srgbClr val="2B1A1A"/>
                </a:solidFill>
                <a:latin typeface="Calibri" pitchFamily="34" charset="0"/>
                <a:ea typeface="Calibri" pitchFamily="34" charset="-122"/>
                <a:cs typeface="Calibri" pitchFamily="34" charset="-120"/>
              </a:rPr>
              <a:t>Right Effort</a:t>
            </a:r>
            <a:endParaRPr lang="en-US" sz="1250" dirty="0"/>
          </a:p>
        </p:txBody>
      </p:sp>
      <p:sp>
        <p:nvSpPr>
          <p:cNvPr id="23" name="Shape 21"/>
          <p:cNvSpPr/>
          <p:nvPr/>
        </p:nvSpPr>
        <p:spPr>
          <a:xfrm>
            <a:off x="8055864" y="3776472"/>
            <a:ext cx="3200400" cy="566928"/>
          </a:xfrm>
          <a:prstGeom prst="roundRect">
            <a:avLst>
              <a:gd name="adj" fmla="val 9677"/>
            </a:avLst>
          </a:prstGeom>
          <a:solidFill>
            <a:srgbClr val="FFFFFF"/>
          </a:solidFill>
          <a:ln w="9525">
            <a:solidFill>
              <a:srgbClr val="5C1A1B"/>
            </a:solidFill>
            <a:prstDash val="solid"/>
          </a:ln>
        </p:spPr>
        <p:txBody>
          <a:bodyPr/>
          <a:lstStyle/>
          <a:p>
            <a:endParaRPr lang="en-US"/>
          </a:p>
        </p:txBody>
      </p:sp>
      <p:sp>
        <p:nvSpPr>
          <p:cNvPr id="24" name="Text 22"/>
          <p:cNvSpPr/>
          <p:nvPr/>
        </p:nvSpPr>
        <p:spPr>
          <a:xfrm>
            <a:off x="8055864" y="3776472"/>
            <a:ext cx="3200400" cy="566928"/>
          </a:xfrm>
          <a:prstGeom prst="rect">
            <a:avLst/>
          </a:prstGeom>
          <a:noFill/>
          <a:ln/>
        </p:spPr>
        <p:txBody>
          <a:bodyPr wrap="square" lIns="0" tIns="0" rIns="0" bIns="0" rtlCol="0" anchor="ctr"/>
          <a:lstStyle/>
          <a:p>
            <a:pPr marL="0" indent="0" algn="ctr">
              <a:buNone/>
            </a:pPr>
            <a:r>
              <a:rPr lang="en-US" sz="1250" dirty="0">
                <a:solidFill>
                  <a:srgbClr val="2B1A1A"/>
                </a:solidFill>
                <a:latin typeface="Calibri" pitchFamily="34" charset="0"/>
                <a:ea typeface="Calibri" pitchFamily="34" charset="-122"/>
                <a:cs typeface="Calibri" pitchFamily="34" charset="-120"/>
              </a:rPr>
              <a:t>Right Mindfulness</a:t>
            </a:r>
            <a:endParaRPr lang="en-US" sz="1250" dirty="0"/>
          </a:p>
        </p:txBody>
      </p:sp>
      <p:sp>
        <p:nvSpPr>
          <p:cNvPr id="25" name="Shape 23"/>
          <p:cNvSpPr/>
          <p:nvPr/>
        </p:nvSpPr>
        <p:spPr>
          <a:xfrm>
            <a:off x="8055864" y="4489704"/>
            <a:ext cx="3200400" cy="566928"/>
          </a:xfrm>
          <a:prstGeom prst="roundRect">
            <a:avLst>
              <a:gd name="adj" fmla="val 9677"/>
            </a:avLst>
          </a:prstGeom>
          <a:solidFill>
            <a:srgbClr val="FFFFFF"/>
          </a:solidFill>
          <a:ln w="9525">
            <a:solidFill>
              <a:srgbClr val="5C1A1B"/>
            </a:solidFill>
            <a:prstDash val="solid"/>
          </a:ln>
        </p:spPr>
        <p:txBody>
          <a:bodyPr/>
          <a:lstStyle/>
          <a:p>
            <a:endParaRPr lang="en-US"/>
          </a:p>
        </p:txBody>
      </p:sp>
      <p:sp>
        <p:nvSpPr>
          <p:cNvPr id="26" name="Text 24"/>
          <p:cNvSpPr/>
          <p:nvPr/>
        </p:nvSpPr>
        <p:spPr>
          <a:xfrm>
            <a:off x="8055864" y="4489704"/>
            <a:ext cx="3200400" cy="566928"/>
          </a:xfrm>
          <a:prstGeom prst="rect">
            <a:avLst/>
          </a:prstGeom>
          <a:noFill/>
          <a:ln/>
        </p:spPr>
        <p:txBody>
          <a:bodyPr wrap="square" lIns="0" tIns="0" rIns="0" bIns="0" rtlCol="0" anchor="ctr"/>
          <a:lstStyle/>
          <a:p>
            <a:pPr marL="0" indent="0" algn="ctr">
              <a:buNone/>
            </a:pPr>
            <a:r>
              <a:rPr lang="en-US" sz="1250" dirty="0">
                <a:solidFill>
                  <a:srgbClr val="2B1A1A"/>
                </a:solidFill>
                <a:latin typeface="Calibri" pitchFamily="34" charset="0"/>
                <a:ea typeface="Calibri" pitchFamily="34" charset="-122"/>
                <a:cs typeface="Calibri" pitchFamily="34" charset="-120"/>
              </a:rPr>
              <a:t>Right Concentration</a:t>
            </a:r>
            <a:endParaRPr lang="en-US" sz="1250" dirty="0"/>
          </a:p>
        </p:txBody>
      </p:sp>
      <p:sp>
        <p:nvSpPr>
          <p:cNvPr id="27" name="Text 25"/>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14</a:t>
            </a:r>
            <a:endParaRPr lang="en-US" sz="1000" dirty="0"/>
          </a:p>
        </p:txBody>
      </p:sp>
      <p:sp>
        <p:nvSpPr>
          <p:cNvPr id="28" name="Text 26"/>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CORE TEACHINGS</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Three Marks of Existence &amp; Dependent Origination</a:t>
            </a:r>
            <a:endParaRPr lang="en-US" sz="3000" dirty="0"/>
          </a:p>
        </p:txBody>
      </p:sp>
      <p:sp>
        <p:nvSpPr>
          <p:cNvPr id="4" name="Text 2"/>
          <p:cNvSpPr/>
          <p:nvPr/>
        </p:nvSpPr>
        <p:spPr>
          <a:xfrm>
            <a:off x="548640" y="1828800"/>
            <a:ext cx="658368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Anicca — impermanence: all conditioned phenomena constantly arise and pass away</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Dukkha — suffering: clinging to impermanent things produces unsatisfactoriness</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Anatta — non-self: there is no fixed, permanent, unchanging soul (atman), directly challenging Brahmanical doctrine</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Dependent Origination (paticca-samuppada) holds that all things arise dependent on conditions — nothing exists independently</a:t>
            </a:r>
            <a:endParaRPr lang="en-US" sz="1350" dirty="0"/>
          </a:p>
          <a:p>
            <a:pPr marL="228600" indent="-228600">
              <a:lnSpc>
                <a:spcPct val="115000"/>
              </a:lnSpc>
              <a:spcAft>
                <a:spcPts val="1200"/>
              </a:spcAft>
              <a:buSzPct val="100000"/>
              <a:buChar char="▪"/>
            </a:pPr>
            <a:r>
              <a:rPr lang="en-US" sz="1350" dirty="0">
                <a:solidFill>
                  <a:srgbClr val="2B1A1A"/>
                </a:solidFill>
                <a:latin typeface="Calibri" pitchFamily="34" charset="0"/>
                <a:ea typeface="Calibri" pitchFamily="34" charset="-122"/>
                <a:cs typeface="Calibri" pitchFamily="34" charset="-120"/>
              </a:rPr>
              <a:t>This chain of twelve links explains how ignorance ultimately gives rise to suffering, and how breaking any link can end it</a:t>
            </a:r>
            <a:endParaRPr lang="en-US" sz="1350" dirty="0"/>
          </a:p>
        </p:txBody>
      </p:sp>
      <p:sp>
        <p:nvSpPr>
          <p:cNvPr id="5" name="Shape 3"/>
          <p:cNvSpPr/>
          <p:nvPr/>
        </p:nvSpPr>
        <p:spPr>
          <a:xfrm>
            <a:off x="7955280" y="1828800"/>
            <a:ext cx="3657600" cy="4114800"/>
          </a:xfrm>
          <a:prstGeom prst="roundRect">
            <a:avLst>
              <a:gd name="adj" fmla="val 2000"/>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8686800" y="2103120"/>
            <a:ext cx="914400" cy="914400"/>
          </a:xfrm>
          <a:prstGeom prst="ellipse">
            <a:avLst/>
          </a:prstGeom>
          <a:solidFill>
            <a:srgbClr val="1F4A43"/>
          </a:solidFill>
          <a:ln/>
        </p:spPr>
        <p:txBody>
          <a:bodyPr/>
          <a:lstStyle/>
          <a:p>
            <a:endParaRPr lang="en-US"/>
          </a:p>
        </p:txBody>
      </p:sp>
      <p:pic>
        <p:nvPicPr>
          <p:cNvPr id="7" name="Image 0" descr="/home/claude/buddhism/icons/water_white.png"/>
          <p:cNvPicPr>
            <a:picLocks noChangeAspect="1"/>
          </p:cNvPicPr>
          <p:nvPr/>
        </p:nvPicPr>
        <p:blipFill>
          <a:blip r:embed="rId3"/>
          <a:stretch>
            <a:fillRect/>
          </a:stretch>
        </p:blipFill>
        <p:spPr>
          <a:xfrm>
            <a:off x="8892540" y="2308860"/>
            <a:ext cx="502920" cy="502920"/>
          </a:xfrm>
          <a:prstGeom prst="rect">
            <a:avLst/>
          </a:prstGeom>
        </p:spPr>
      </p:pic>
      <p:sp>
        <p:nvSpPr>
          <p:cNvPr id="8" name="Text 5"/>
          <p:cNvSpPr/>
          <p:nvPr/>
        </p:nvSpPr>
        <p:spPr>
          <a:xfrm>
            <a:off x="8183880" y="3200400"/>
            <a:ext cx="3200400" cy="36576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No Fixed Self</a:t>
            </a:r>
            <a:endParaRPr lang="en-US" sz="1500" dirty="0"/>
          </a:p>
        </p:txBody>
      </p:sp>
      <p:sp>
        <p:nvSpPr>
          <p:cNvPr id="9" name="Text 6"/>
          <p:cNvSpPr/>
          <p:nvPr/>
        </p:nvSpPr>
        <p:spPr>
          <a:xfrm>
            <a:off x="8183880" y="3611880"/>
            <a:ext cx="3200400" cy="1463040"/>
          </a:xfrm>
          <a:prstGeom prst="rect">
            <a:avLst/>
          </a:prstGeom>
          <a:noFill/>
          <a:ln/>
        </p:spPr>
        <p:txBody>
          <a:bodyPr wrap="square" lIns="0" tIns="0" rIns="0" bIns="0" rtlCol="0" anchor="ctr"/>
          <a:lstStyle/>
          <a:p>
            <a:pPr marL="0" indent="0" algn="ctr">
              <a:buNone/>
            </a:pPr>
            <a:r>
              <a:rPr lang="en-US" sz="1150" i="1" dirty="0">
                <a:solidFill>
                  <a:srgbClr val="7A6660"/>
                </a:solidFill>
                <a:latin typeface="Calibri" pitchFamily="34" charset="0"/>
                <a:ea typeface="Calibri" pitchFamily="34" charset="-122"/>
                <a:cs typeface="Calibri" pitchFamily="34" charset="-120"/>
              </a:rPr>
              <a:t>A radical departure from the</a:t>
            </a:r>
            <a:endParaRPr lang="en-US" sz="1150" dirty="0"/>
          </a:p>
          <a:p>
            <a:pPr marL="0" indent="0" algn="ctr">
              <a:buNone/>
            </a:pPr>
            <a:r>
              <a:rPr lang="en-US" sz="1150" i="1" dirty="0">
                <a:solidFill>
                  <a:srgbClr val="7A6660"/>
                </a:solidFill>
                <a:latin typeface="Calibri" pitchFamily="34" charset="0"/>
                <a:ea typeface="Calibri" pitchFamily="34" charset="-122"/>
                <a:cs typeface="Calibri" pitchFamily="34" charset="-120"/>
              </a:rPr>
              <a:t>Vedic idea of an eternal</a:t>
            </a:r>
            <a:endParaRPr lang="en-US" sz="1150" dirty="0"/>
          </a:p>
          <a:p>
            <a:pPr marL="0" indent="0" algn="ctr">
              <a:buNone/>
            </a:pPr>
            <a:r>
              <a:rPr lang="en-US" sz="1150" i="1" dirty="0">
                <a:solidFill>
                  <a:srgbClr val="7A6660"/>
                </a:solidFill>
                <a:latin typeface="Calibri" pitchFamily="34" charset="0"/>
                <a:ea typeface="Calibri" pitchFamily="34" charset="-122"/>
                <a:cs typeface="Calibri" pitchFamily="34" charset="-120"/>
              </a:rPr>
              <a:t>individual soul</a:t>
            </a:r>
            <a:endParaRPr lang="en-US" sz="1150" dirty="0"/>
          </a:p>
        </p:txBody>
      </p:sp>
      <p:sp>
        <p:nvSpPr>
          <p:cNvPr id="10" name="Text 7"/>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15</a:t>
            </a:r>
            <a:endParaRPr lang="en-US" sz="1000" dirty="0"/>
          </a:p>
        </p:txBody>
      </p:sp>
      <p:sp>
        <p:nvSpPr>
          <p:cNvPr id="11" name="Text 8"/>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352958-4476-11F8-B5E8-9551C9E676BC}"/>
              </a:ext>
            </a:extLst>
          </p:cNvPr>
          <p:cNvSpPr txBox="1"/>
          <p:nvPr/>
        </p:nvSpPr>
        <p:spPr>
          <a:xfrm>
            <a:off x="1145629" y="1093076"/>
            <a:ext cx="10268605" cy="1477328"/>
          </a:xfrm>
          <a:prstGeom prst="rect">
            <a:avLst/>
          </a:prstGeom>
          <a:solidFill>
            <a:schemeClr val="accent2">
              <a:lumMod val="60000"/>
              <a:lumOff val="40000"/>
            </a:schemeClr>
          </a:solidFill>
        </p:spPr>
        <p:txBody>
          <a:bodyPr wrap="square" rtlCol="0">
            <a:spAutoFit/>
          </a:bodyPr>
          <a:lstStyle/>
          <a:p>
            <a:pPr algn="just"/>
            <a:r>
              <a:rPr lang="en-IN" b="1" dirty="0"/>
              <a:t>Karma and Rebirth: </a:t>
            </a:r>
            <a:r>
              <a:rPr lang="en-IN" dirty="0"/>
              <a:t>Buddhism teaches that actions (karma) have consequences, and beings are reborn in various realms according to their karma. However, unlike Hinduism, Buddhism rejects the idea of an eternal soul (atman). The cycle of birth and death (samsara) continues until one attains Nirvana—complete liberation from all suffering.</a:t>
            </a:r>
          </a:p>
          <a:p>
            <a:endParaRPr lang="en-US" dirty="0"/>
          </a:p>
        </p:txBody>
      </p:sp>
    </p:spTree>
    <p:extLst>
      <p:ext uri="{BB962C8B-B14F-4D97-AF65-F5344CB8AC3E}">
        <p14:creationId xmlns:p14="http://schemas.microsoft.com/office/powerpoint/2010/main" val="3163827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3D0F10"/>
        </a:solidFill>
        <a:effectLst/>
      </p:bgPr>
    </p:bg>
    <p:spTree>
      <p:nvGrpSpPr>
        <p:cNvPr id="1" name=""/>
        <p:cNvGrpSpPr/>
        <p:nvPr/>
      </p:nvGrpSpPr>
      <p:grpSpPr>
        <a:xfrm>
          <a:off x="0" y="0"/>
          <a:ext cx="0" cy="0"/>
          <a:chOff x="0" y="0"/>
          <a:chExt cx="0" cy="0"/>
        </a:xfrm>
      </p:grpSpPr>
      <p:sp>
        <p:nvSpPr>
          <p:cNvPr id="2" name="Shape 0"/>
          <p:cNvSpPr/>
          <p:nvPr/>
        </p:nvSpPr>
        <p:spPr>
          <a:xfrm>
            <a:off x="822960" y="2468880"/>
            <a:ext cx="1737360" cy="1737360"/>
          </a:xfrm>
          <a:prstGeom prst="ellipse">
            <a:avLst/>
          </a:prstGeom>
          <a:solidFill>
            <a:srgbClr val="5C1A1B"/>
          </a:solidFill>
          <a:ln/>
        </p:spPr>
        <p:txBody>
          <a:bodyPr/>
          <a:lstStyle/>
          <a:p>
            <a:endParaRPr lang="en-US"/>
          </a:p>
        </p:txBody>
      </p:sp>
      <p:pic>
        <p:nvPicPr>
          <p:cNvPr id="3" name="Image 0" descr="/home/claude/buddhism/icons/scroll_white.png"/>
          <p:cNvPicPr>
            <a:picLocks noChangeAspect="1"/>
          </p:cNvPicPr>
          <p:nvPr/>
        </p:nvPicPr>
        <p:blipFill>
          <a:blip r:embed="rId3"/>
          <a:stretch>
            <a:fillRect/>
          </a:stretch>
        </p:blipFill>
        <p:spPr>
          <a:xfrm>
            <a:off x="1213866" y="2859786"/>
            <a:ext cx="955548" cy="955548"/>
          </a:xfrm>
          <a:prstGeom prst="rect">
            <a:avLst/>
          </a:prstGeom>
        </p:spPr>
      </p:pic>
      <p:sp>
        <p:nvSpPr>
          <p:cNvPr id="4" name="Text 1"/>
          <p:cNvSpPr/>
          <p:nvPr/>
        </p:nvSpPr>
        <p:spPr>
          <a:xfrm>
            <a:off x="2834640" y="2606040"/>
            <a:ext cx="7315200" cy="365760"/>
          </a:xfrm>
          <a:prstGeom prst="rect">
            <a:avLst/>
          </a:prstGeom>
          <a:noFill/>
          <a:ln/>
        </p:spPr>
        <p:txBody>
          <a:bodyPr wrap="square" lIns="0" tIns="0" rIns="0" bIns="0" rtlCol="0" anchor="ctr"/>
          <a:lstStyle/>
          <a:p>
            <a:pPr marL="0" indent="0">
              <a:buNone/>
            </a:pPr>
            <a:r>
              <a:rPr lang="en-US" sz="1400" b="1" kern="0" spc="300" dirty="0">
                <a:solidFill>
                  <a:srgbClr val="E0B25C"/>
                </a:solidFill>
                <a:latin typeface="Calibri" pitchFamily="34" charset="0"/>
                <a:ea typeface="Calibri" pitchFamily="34" charset="-122"/>
                <a:cs typeface="Calibri" pitchFamily="34" charset="-120"/>
              </a:rPr>
              <a:t>PART THREE</a:t>
            </a:r>
            <a:endParaRPr lang="en-US" sz="1400" dirty="0"/>
          </a:p>
        </p:txBody>
      </p:sp>
      <p:sp>
        <p:nvSpPr>
          <p:cNvPr id="5" name="Text 2"/>
          <p:cNvSpPr/>
          <p:nvPr/>
        </p:nvSpPr>
        <p:spPr>
          <a:xfrm>
            <a:off x="2834640" y="2926080"/>
            <a:ext cx="8503920" cy="100584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The Early Buddhist Texts</a:t>
            </a:r>
            <a:endParaRPr lang="en-US" sz="3600" dirty="0"/>
          </a:p>
        </p:txBody>
      </p:sp>
      <p:sp>
        <p:nvSpPr>
          <p:cNvPr id="6" name="Text 3"/>
          <p:cNvSpPr/>
          <p:nvPr/>
        </p:nvSpPr>
        <p:spPr>
          <a:xfrm>
            <a:off x="2834640" y="3794760"/>
            <a:ext cx="7772400" cy="457200"/>
          </a:xfrm>
          <a:prstGeom prst="rect">
            <a:avLst/>
          </a:prstGeom>
          <a:noFill/>
          <a:ln/>
        </p:spPr>
        <p:txBody>
          <a:bodyPr wrap="square" lIns="0" tIns="0" rIns="0" bIns="0" rtlCol="0" anchor="ctr"/>
          <a:lstStyle/>
          <a:p>
            <a:pPr marL="0" indent="0">
              <a:buNone/>
            </a:pPr>
            <a:r>
              <a:rPr lang="en-US" sz="1500" i="1" dirty="0">
                <a:solidFill>
                  <a:srgbClr val="D9C9C4"/>
                </a:solidFill>
                <a:latin typeface="Calibri" pitchFamily="34" charset="0"/>
                <a:ea typeface="Calibri" pitchFamily="34" charset="-122"/>
                <a:cs typeface="Calibri" pitchFamily="34" charset="-120"/>
              </a:rPr>
              <a:t>From memorized verse to a written canon</a:t>
            </a:r>
            <a:endParaRPr lang="en-US" sz="1500" dirty="0"/>
          </a:p>
        </p:txBody>
      </p:sp>
      <p:sp>
        <p:nvSpPr>
          <p:cNvPr id="7" name="Text 4"/>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D9C9C4"/>
                </a:solidFill>
                <a:latin typeface="Calibri" pitchFamily="34" charset="0"/>
                <a:ea typeface="Calibri" pitchFamily="34" charset="-122"/>
                <a:cs typeface="Calibri" pitchFamily="34" charset="-120"/>
              </a:rPr>
              <a:t>16</a:t>
            </a:r>
            <a:endParaRPr lang="en-US" sz="1000" dirty="0"/>
          </a:p>
        </p:txBody>
      </p:sp>
      <p:sp>
        <p:nvSpPr>
          <p:cNvPr id="8" name="Text 5"/>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D9C9C4"/>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EARLY TEXTS</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The Buddhist Councils and Oral Transmission</a:t>
            </a:r>
            <a:endParaRPr lang="en-US" sz="3000" dirty="0"/>
          </a:p>
        </p:txBody>
      </p:sp>
      <p:sp>
        <p:nvSpPr>
          <p:cNvPr id="4" name="Text 2"/>
          <p:cNvSpPr/>
          <p:nvPr/>
        </p:nvSpPr>
        <p:spPr>
          <a:xfrm>
            <a:off x="548640" y="1828800"/>
            <a:ext cx="1078992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For centuries, the teachings survived through memorization and communal chanting, not writing</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Specialist monks called bhanaka (reciters) preserved different portions of the teaching</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First Council, Rajagaha (soon after the Buddha's death, c. 483 BCE): Ananda recited the discourses, Upali the monastic rules</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Second Council, Vaishali (c. 383 BCE): a dispute over monastic discipline exposed early divisions in the Sangha</a:t>
            </a:r>
            <a:endParaRPr lang="en-US" sz="1400" dirty="0"/>
          </a:p>
          <a:p>
            <a:pPr marL="228600" indent="-228600">
              <a:lnSpc>
                <a:spcPct val="115000"/>
              </a:lnSpc>
              <a:spcAft>
                <a:spcPts val="1200"/>
              </a:spcAft>
              <a:buSzPct val="100000"/>
              <a:buChar char="▪"/>
            </a:pPr>
            <a:r>
              <a:rPr lang="en-US" sz="1400" dirty="0">
                <a:solidFill>
                  <a:srgbClr val="2B1A1A"/>
                </a:solidFill>
                <a:latin typeface="Calibri" pitchFamily="34" charset="0"/>
                <a:ea typeface="Calibri" pitchFamily="34" charset="-122"/>
                <a:cs typeface="Calibri" pitchFamily="34" charset="-120"/>
              </a:rPr>
              <a:t>The canon was finally committed to writing in Sri Lanka around the 1st century BCE, fixing the Pali texts we have today</a:t>
            </a:r>
            <a:endParaRPr lang="en-US" sz="1400" dirty="0"/>
          </a:p>
        </p:txBody>
      </p:sp>
      <p:sp>
        <p:nvSpPr>
          <p:cNvPr id="5" name="Shape 3"/>
          <p:cNvSpPr/>
          <p:nvPr/>
        </p:nvSpPr>
        <p:spPr>
          <a:xfrm>
            <a:off x="1005840" y="4892040"/>
            <a:ext cx="10149840" cy="0"/>
          </a:xfrm>
          <a:prstGeom prst="line">
            <a:avLst/>
          </a:prstGeom>
          <a:noFill/>
          <a:ln w="25400">
            <a:solidFill>
              <a:srgbClr val="D9C9C4"/>
            </a:solidFill>
            <a:prstDash val="solid"/>
          </a:ln>
        </p:spPr>
        <p:txBody>
          <a:bodyPr/>
          <a:lstStyle/>
          <a:p>
            <a:endParaRPr lang="en-US"/>
          </a:p>
        </p:txBody>
      </p:sp>
      <p:sp>
        <p:nvSpPr>
          <p:cNvPr id="6" name="Shape 4"/>
          <p:cNvSpPr/>
          <p:nvPr/>
        </p:nvSpPr>
        <p:spPr>
          <a:xfrm>
            <a:off x="905256" y="4791456"/>
            <a:ext cx="201168" cy="201168"/>
          </a:xfrm>
          <a:prstGeom prst="ellipse">
            <a:avLst/>
          </a:prstGeom>
          <a:solidFill>
            <a:srgbClr val="5C1A1B"/>
          </a:solidFill>
          <a:ln w="19050">
            <a:solidFill>
              <a:srgbClr val="FFFFFF"/>
            </a:solidFill>
            <a:prstDash val="solid"/>
          </a:ln>
        </p:spPr>
        <p:txBody>
          <a:bodyPr/>
          <a:lstStyle/>
          <a:p>
            <a:endParaRPr lang="en-US"/>
          </a:p>
        </p:txBody>
      </p:sp>
      <p:sp>
        <p:nvSpPr>
          <p:cNvPr id="7" name="Text 5"/>
          <p:cNvSpPr/>
          <p:nvPr/>
        </p:nvSpPr>
        <p:spPr>
          <a:xfrm>
            <a:off x="0" y="4297680"/>
            <a:ext cx="2011680" cy="320040"/>
          </a:xfrm>
          <a:prstGeom prst="rect">
            <a:avLst/>
          </a:prstGeom>
          <a:noFill/>
          <a:ln/>
        </p:spPr>
        <p:txBody>
          <a:bodyPr wrap="square" lIns="0" tIns="0" rIns="0" bIns="0" rtlCol="0" anchor="ctr"/>
          <a:lstStyle/>
          <a:p>
            <a:pPr marL="0" indent="0" algn="ctr">
              <a:buNone/>
            </a:pPr>
            <a:r>
              <a:rPr lang="en-US" sz="1200" b="1" dirty="0">
                <a:solidFill>
                  <a:srgbClr val="5C1A1B"/>
                </a:solidFill>
                <a:latin typeface="Calibri" pitchFamily="34" charset="0"/>
                <a:ea typeface="Calibri" pitchFamily="34" charset="-122"/>
                <a:cs typeface="Calibri" pitchFamily="34" charset="-120"/>
              </a:rPr>
              <a:t>c. 483 BCE</a:t>
            </a:r>
            <a:endParaRPr lang="en-US" sz="1200" dirty="0"/>
          </a:p>
        </p:txBody>
      </p:sp>
      <p:sp>
        <p:nvSpPr>
          <p:cNvPr id="8" name="Text 6"/>
          <p:cNvSpPr/>
          <p:nvPr/>
        </p:nvSpPr>
        <p:spPr>
          <a:xfrm>
            <a:off x="0" y="5074920"/>
            <a:ext cx="2011680" cy="548640"/>
          </a:xfrm>
          <a:prstGeom prst="rect">
            <a:avLst/>
          </a:prstGeom>
          <a:noFill/>
          <a:ln/>
        </p:spPr>
        <p:txBody>
          <a:bodyPr wrap="square" lIns="0" tIns="0" rIns="0" bIns="0" rtlCol="0" anchor="ctr"/>
          <a:lstStyle/>
          <a:p>
            <a:pPr marL="0" indent="0" algn="ctr">
              <a:buNone/>
            </a:pPr>
            <a:r>
              <a:rPr lang="en-US" sz="1100" dirty="0">
                <a:solidFill>
                  <a:srgbClr val="7A6660"/>
                </a:solidFill>
                <a:latin typeface="Calibri" pitchFamily="34" charset="0"/>
                <a:ea typeface="Calibri" pitchFamily="34" charset="-122"/>
                <a:cs typeface="Calibri" pitchFamily="34" charset="-120"/>
              </a:rPr>
              <a:t>First Council, Rajagaha</a:t>
            </a:r>
            <a:endParaRPr lang="en-US" sz="1100" dirty="0"/>
          </a:p>
        </p:txBody>
      </p:sp>
      <p:sp>
        <p:nvSpPr>
          <p:cNvPr id="9" name="Shape 7"/>
          <p:cNvSpPr/>
          <p:nvPr/>
        </p:nvSpPr>
        <p:spPr>
          <a:xfrm>
            <a:off x="5980176" y="4791456"/>
            <a:ext cx="201168" cy="201168"/>
          </a:xfrm>
          <a:prstGeom prst="ellipse">
            <a:avLst/>
          </a:prstGeom>
          <a:solidFill>
            <a:srgbClr val="5C1A1B"/>
          </a:solidFill>
          <a:ln w="19050">
            <a:solidFill>
              <a:srgbClr val="FFFFFF"/>
            </a:solidFill>
            <a:prstDash val="solid"/>
          </a:ln>
        </p:spPr>
        <p:txBody>
          <a:bodyPr/>
          <a:lstStyle/>
          <a:p>
            <a:endParaRPr lang="en-US"/>
          </a:p>
        </p:txBody>
      </p:sp>
      <p:sp>
        <p:nvSpPr>
          <p:cNvPr id="10" name="Text 8"/>
          <p:cNvSpPr/>
          <p:nvPr/>
        </p:nvSpPr>
        <p:spPr>
          <a:xfrm>
            <a:off x="5074920" y="4297680"/>
            <a:ext cx="2011680" cy="320040"/>
          </a:xfrm>
          <a:prstGeom prst="rect">
            <a:avLst/>
          </a:prstGeom>
          <a:noFill/>
          <a:ln/>
        </p:spPr>
        <p:txBody>
          <a:bodyPr wrap="square" lIns="0" tIns="0" rIns="0" bIns="0" rtlCol="0" anchor="ctr"/>
          <a:lstStyle/>
          <a:p>
            <a:pPr marL="0" indent="0" algn="ctr">
              <a:buNone/>
            </a:pPr>
            <a:r>
              <a:rPr lang="en-US" sz="1200" b="1" dirty="0">
                <a:solidFill>
                  <a:srgbClr val="5C1A1B"/>
                </a:solidFill>
                <a:latin typeface="Calibri" pitchFamily="34" charset="0"/>
                <a:ea typeface="Calibri" pitchFamily="34" charset="-122"/>
                <a:cs typeface="Calibri" pitchFamily="34" charset="-120"/>
              </a:rPr>
              <a:t>c. 383 BCE</a:t>
            </a:r>
            <a:endParaRPr lang="en-US" sz="1200" dirty="0"/>
          </a:p>
        </p:txBody>
      </p:sp>
      <p:sp>
        <p:nvSpPr>
          <p:cNvPr id="11" name="Text 9"/>
          <p:cNvSpPr/>
          <p:nvPr/>
        </p:nvSpPr>
        <p:spPr>
          <a:xfrm>
            <a:off x="5074920" y="5074920"/>
            <a:ext cx="2011680" cy="548640"/>
          </a:xfrm>
          <a:prstGeom prst="rect">
            <a:avLst/>
          </a:prstGeom>
          <a:noFill/>
          <a:ln/>
        </p:spPr>
        <p:txBody>
          <a:bodyPr wrap="square" lIns="0" tIns="0" rIns="0" bIns="0" rtlCol="0" anchor="ctr"/>
          <a:lstStyle/>
          <a:p>
            <a:pPr marL="0" indent="0" algn="ctr">
              <a:buNone/>
            </a:pPr>
            <a:r>
              <a:rPr lang="en-US" sz="1100" dirty="0">
                <a:solidFill>
                  <a:srgbClr val="7A6660"/>
                </a:solidFill>
                <a:latin typeface="Calibri" pitchFamily="34" charset="0"/>
                <a:ea typeface="Calibri" pitchFamily="34" charset="-122"/>
                <a:cs typeface="Calibri" pitchFamily="34" charset="-120"/>
              </a:rPr>
              <a:t>Second Council, Vaishali</a:t>
            </a:r>
            <a:endParaRPr lang="en-US" sz="1100" dirty="0"/>
          </a:p>
        </p:txBody>
      </p:sp>
      <p:sp>
        <p:nvSpPr>
          <p:cNvPr id="12" name="Shape 10"/>
          <p:cNvSpPr/>
          <p:nvPr/>
        </p:nvSpPr>
        <p:spPr>
          <a:xfrm>
            <a:off x="11055096" y="4791456"/>
            <a:ext cx="201168" cy="201168"/>
          </a:xfrm>
          <a:prstGeom prst="ellipse">
            <a:avLst/>
          </a:prstGeom>
          <a:solidFill>
            <a:srgbClr val="5C1A1B"/>
          </a:solidFill>
          <a:ln w="19050">
            <a:solidFill>
              <a:srgbClr val="FFFFFF"/>
            </a:solidFill>
            <a:prstDash val="solid"/>
          </a:ln>
        </p:spPr>
        <p:txBody>
          <a:bodyPr/>
          <a:lstStyle/>
          <a:p>
            <a:endParaRPr lang="en-US"/>
          </a:p>
        </p:txBody>
      </p:sp>
      <p:sp>
        <p:nvSpPr>
          <p:cNvPr id="13" name="Text 11"/>
          <p:cNvSpPr/>
          <p:nvPr/>
        </p:nvSpPr>
        <p:spPr>
          <a:xfrm>
            <a:off x="10149840" y="4297680"/>
            <a:ext cx="2011680" cy="320040"/>
          </a:xfrm>
          <a:prstGeom prst="rect">
            <a:avLst/>
          </a:prstGeom>
          <a:noFill/>
          <a:ln/>
        </p:spPr>
        <p:txBody>
          <a:bodyPr wrap="square" lIns="0" tIns="0" rIns="0" bIns="0" rtlCol="0" anchor="ctr"/>
          <a:lstStyle/>
          <a:p>
            <a:pPr marL="0" indent="0" algn="ctr">
              <a:buNone/>
            </a:pPr>
            <a:r>
              <a:rPr lang="en-US" sz="1200" b="1" dirty="0">
                <a:solidFill>
                  <a:srgbClr val="5C1A1B"/>
                </a:solidFill>
                <a:latin typeface="Calibri" pitchFamily="34" charset="0"/>
                <a:ea typeface="Calibri" pitchFamily="34" charset="-122"/>
                <a:cs typeface="Calibri" pitchFamily="34" charset="-120"/>
              </a:rPr>
              <a:t>c. 250 BCE</a:t>
            </a:r>
            <a:endParaRPr lang="en-US" sz="1200" dirty="0"/>
          </a:p>
        </p:txBody>
      </p:sp>
      <p:sp>
        <p:nvSpPr>
          <p:cNvPr id="14" name="Text 12"/>
          <p:cNvSpPr/>
          <p:nvPr/>
        </p:nvSpPr>
        <p:spPr>
          <a:xfrm>
            <a:off x="10149840" y="5074920"/>
            <a:ext cx="2011680" cy="548640"/>
          </a:xfrm>
          <a:prstGeom prst="rect">
            <a:avLst/>
          </a:prstGeom>
          <a:noFill/>
          <a:ln/>
        </p:spPr>
        <p:txBody>
          <a:bodyPr wrap="square" lIns="0" tIns="0" rIns="0" bIns="0" rtlCol="0" anchor="ctr"/>
          <a:lstStyle/>
          <a:p>
            <a:pPr marL="0" indent="0" algn="ctr">
              <a:buNone/>
            </a:pPr>
            <a:r>
              <a:rPr lang="en-US" sz="1100" dirty="0">
                <a:solidFill>
                  <a:srgbClr val="7A6660"/>
                </a:solidFill>
                <a:latin typeface="Calibri" pitchFamily="34" charset="0"/>
                <a:ea typeface="Calibri" pitchFamily="34" charset="-122"/>
                <a:cs typeface="Calibri" pitchFamily="34" charset="-120"/>
              </a:rPr>
              <a:t>Canon written down, </a:t>
            </a:r>
            <a:r>
              <a:rPr lang="en-US" sz="1100" dirty="0" err="1">
                <a:solidFill>
                  <a:srgbClr val="7A6660"/>
                </a:solidFill>
                <a:latin typeface="Calibri" pitchFamily="34" charset="0"/>
                <a:ea typeface="Calibri" pitchFamily="34" charset="-122"/>
                <a:cs typeface="Calibri" pitchFamily="34" charset="-120"/>
              </a:rPr>
              <a:t>Patliputra</a:t>
            </a:r>
            <a:endParaRPr lang="en-US" sz="1100" dirty="0"/>
          </a:p>
        </p:txBody>
      </p:sp>
      <p:sp>
        <p:nvSpPr>
          <p:cNvPr id="15" name="Text 13"/>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17</a:t>
            </a:r>
            <a:endParaRPr lang="en-US" sz="1000" dirty="0"/>
          </a:p>
        </p:txBody>
      </p:sp>
      <p:sp>
        <p:nvSpPr>
          <p:cNvPr id="16" name="Text 14"/>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THE EARLY TEXTS</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The Tripitaka: Three Baskets of Teaching</a:t>
            </a:r>
            <a:endParaRPr lang="en-US" sz="3000" dirty="0"/>
          </a:p>
        </p:txBody>
      </p:sp>
      <p:sp>
        <p:nvSpPr>
          <p:cNvPr id="4" name="Text 2"/>
          <p:cNvSpPr/>
          <p:nvPr/>
        </p:nvSpPr>
        <p:spPr>
          <a:xfrm>
            <a:off x="548640" y="1691640"/>
            <a:ext cx="10789920" cy="457200"/>
          </a:xfrm>
          <a:prstGeom prst="rect">
            <a:avLst/>
          </a:prstGeom>
          <a:noFill/>
          <a:ln/>
        </p:spPr>
        <p:txBody>
          <a:bodyPr wrap="square" lIns="0" tIns="0" rIns="0" bIns="0" rtlCol="0" anchor="ctr"/>
          <a:lstStyle/>
          <a:p>
            <a:pPr marL="0" indent="0">
              <a:buNone/>
            </a:pPr>
            <a:r>
              <a:rPr lang="en-US" sz="1300" i="1" dirty="0">
                <a:solidFill>
                  <a:srgbClr val="7A6660"/>
                </a:solidFill>
                <a:latin typeface="Calibri" pitchFamily="34" charset="0"/>
                <a:ea typeface="Calibri" pitchFamily="34" charset="-122"/>
                <a:cs typeface="Calibri" pitchFamily="34" charset="-120"/>
              </a:rPr>
              <a:t>The earliest complete canon to survive is the Pali Canon, preserved by the Theravada tradition and organized into three “baskets.”</a:t>
            </a:r>
            <a:endParaRPr lang="en-US" sz="1300" dirty="0"/>
          </a:p>
        </p:txBody>
      </p:sp>
      <p:sp>
        <p:nvSpPr>
          <p:cNvPr id="5" name="Shape 3"/>
          <p:cNvSpPr/>
          <p:nvPr/>
        </p:nvSpPr>
        <p:spPr>
          <a:xfrm>
            <a:off x="548640" y="2331720"/>
            <a:ext cx="3611880" cy="3474720"/>
          </a:xfrm>
          <a:prstGeom prst="roundRect">
            <a:avLst>
              <a:gd name="adj" fmla="val 2105"/>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1897380" y="2606040"/>
            <a:ext cx="914400" cy="914400"/>
          </a:xfrm>
          <a:prstGeom prst="ellipse">
            <a:avLst/>
          </a:prstGeom>
          <a:solidFill>
            <a:srgbClr val="E0B25C"/>
          </a:solidFill>
          <a:ln/>
        </p:spPr>
        <p:txBody>
          <a:bodyPr/>
          <a:lstStyle/>
          <a:p>
            <a:endParaRPr lang="en-US"/>
          </a:p>
        </p:txBody>
      </p:sp>
      <p:pic>
        <p:nvPicPr>
          <p:cNvPr id="7" name="Image 0" descr="/home/claude/buddhism/icons/book_maroon.png"/>
          <p:cNvPicPr>
            <a:picLocks noChangeAspect="1"/>
          </p:cNvPicPr>
          <p:nvPr/>
        </p:nvPicPr>
        <p:blipFill>
          <a:blip r:embed="rId3"/>
          <a:stretch>
            <a:fillRect/>
          </a:stretch>
        </p:blipFill>
        <p:spPr>
          <a:xfrm>
            <a:off x="2103120" y="2811780"/>
            <a:ext cx="502920" cy="502920"/>
          </a:xfrm>
          <a:prstGeom prst="rect">
            <a:avLst/>
          </a:prstGeom>
        </p:spPr>
      </p:pic>
      <p:sp>
        <p:nvSpPr>
          <p:cNvPr id="8" name="Text 5"/>
          <p:cNvSpPr/>
          <p:nvPr/>
        </p:nvSpPr>
        <p:spPr>
          <a:xfrm>
            <a:off x="731520" y="3657600"/>
            <a:ext cx="3246120" cy="45720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Vinaya Pitaka</a:t>
            </a:r>
            <a:endParaRPr lang="en-US" sz="1500" dirty="0"/>
          </a:p>
        </p:txBody>
      </p:sp>
      <p:sp>
        <p:nvSpPr>
          <p:cNvPr id="9" name="Text 6"/>
          <p:cNvSpPr/>
          <p:nvPr/>
        </p:nvSpPr>
        <p:spPr>
          <a:xfrm>
            <a:off x="822960" y="4160520"/>
            <a:ext cx="3063240" cy="155448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Rules and procedures governing the conduct of monks and nuns in the Sangha</a:t>
            </a:r>
            <a:endParaRPr lang="en-US" sz="1150" dirty="0"/>
          </a:p>
        </p:txBody>
      </p:sp>
      <p:sp>
        <p:nvSpPr>
          <p:cNvPr id="10" name="Shape 7"/>
          <p:cNvSpPr/>
          <p:nvPr/>
        </p:nvSpPr>
        <p:spPr>
          <a:xfrm>
            <a:off x="4343400" y="2331720"/>
            <a:ext cx="3611880" cy="3474720"/>
          </a:xfrm>
          <a:prstGeom prst="roundRect">
            <a:avLst>
              <a:gd name="adj" fmla="val 2105"/>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11" name="Shape 8"/>
          <p:cNvSpPr/>
          <p:nvPr/>
        </p:nvSpPr>
        <p:spPr>
          <a:xfrm>
            <a:off x="5692140" y="2606040"/>
            <a:ext cx="914400" cy="914400"/>
          </a:xfrm>
          <a:prstGeom prst="ellipse">
            <a:avLst/>
          </a:prstGeom>
          <a:solidFill>
            <a:srgbClr val="E0B25C"/>
          </a:solidFill>
          <a:ln/>
        </p:spPr>
        <p:txBody>
          <a:bodyPr/>
          <a:lstStyle/>
          <a:p>
            <a:endParaRPr lang="en-US"/>
          </a:p>
        </p:txBody>
      </p:sp>
      <p:pic>
        <p:nvPicPr>
          <p:cNvPr id="12" name="Image 1" descr="/home/claude/buddhism/icons/scroll_maroon.png"/>
          <p:cNvPicPr>
            <a:picLocks noChangeAspect="1"/>
          </p:cNvPicPr>
          <p:nvPr/>
        </p:nvPicPr>
        <p:blipFill>
          <a:blip r:embed="rId4"/>
          <a:stretch>
            <a:fillRect/>
          </a:stretch>
        </p:blipFill>
        <p:spPr>
          <a:xfrm>
            <a:off x="5897880" y="2811780"/>
            <a:ext cx="502920" cy="502920"/>
          </a:xfrm>
          <a:prstGeom prst="rect">
            <a:avLst/>
          </a:prstGeom>
        </p:spPr>
      </p:pic>
      <p:sp>
        <p:nvSpPr>
          <p:cNvPr id="13" name="Text 9"/>
          <p:cNvSpPr/>
          <p:nvPr/>
        </p:nvSpPr>
        <p:spPr>
          <a:xfrm>
            <a:off x="4526280" y="3657600"/>
            <a:ext cx="3246120" cy="45720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Sutta Pitaka</a:t>
            </a:r>
            <a:endParaRPr lang="en-US" sz="1500" dirty="0"/>
          </a:p>
        </p:txBody>
      </p:sp>
      <p:sp>
        <p:nvSpPr>
          <p:cNvPr id="14" name="Text 10"/>
          <p:cNvSpPr/>
          <p:nvPr/>
        </p:nvSpPr>
        <p:spPr>
          <a:xfrm>
            <a:off x="4617720" y="4160520"/>
            <a:ext cx="3063240" cy="155448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The Buddha's discourses and dialogues, organized into five collections (Nikayas)</a:t>
            </a:r>
            <a:endParaRPr lang="en-US" sz="1150" dirty="0"/>
          </a:p>
        </p:txBody>
      </p:sp>
      <p:sp>
        <p:nvSpPr>
          <p:cNvPr id="15" name="Shape 11"/>
          <p:cNvSpPr/>
          <p:nvPr/>
        </p:nvSpPr>
        <p:spPr>
          <a:xfrm>
            <a:off x="8138160" y="2331720"/>
            <a:ext cx="3611880" cy="3474720"/>
          </a:xfrm>
          <a:prstGeom prst="roundRect">
            <a:avLst>
              <a:gd name="adj" fmla="val 2105"/>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16" name="Shape 12"/>
          <p:cNvSpPr/>
          <p:nvPr/>
        </p:nvSpPr>
        <p:spPr>
          <a:xfrm>
            <a:off x="9486900" y="2606040"/>
            <a:ext cx="914400" cy="914400"/>
          </a:xfrm>
          <a:prstGeom prst="ellipse">
            <a:avLst/>
          </a:prstGeom>
          <a:solidFill>
            <a:srgbClr val="1F4A43"/>
          </a:solidFill>
          <a:ln/>
        </p:spPr>
        <p:txBody>
          <a:bodyPr/>
          <a:lstStyle/>
          <a:p>
            <a:endParaRPr lang="en-US"/>
          </a:p>
        </p:txBody>
      </p:sp>
      <p:pic>
        <p:nvPicPr>
          <p:cNvPr id="17" name="Image 2" descr="/home/claude/buddhism/icons/bookshelf_white.png"/>
          <p:cNvPicPr>
            <a:picLocks noChangeAspect="1"/>
          </p:cNvPicPr>
          <p:nvPr/>
        </p:nvPicPr>
        <p:blipFill>
          <a:blip r:embed="rId5"/>
          <a:stretch>
            <a:fillRect/>
          </a:stretch>
        </p:blipFill>
        <p:spPr>
          <a:xfrm>
            <a:off x="9692640" y="2811780"/>
            <a:ext cx="502920" cy="502920"/>
          </a:xfrm>
          <a:prstGeom prst="rect">
            <a:avLst/>
          </a:prstGeom>
        </p:spPr>
      </p:pic>
      <p:sp>
        <p:nvSpPr>
          <p:cNvPr id="18" name="Text 13"/>
          <p:cNvSpPr/>
          <p:nvPr/>
        </p:nvSpPr>
        <p:spPr>
          <a:xfrm>
            <a:off x="8321040" y="3657600"/>
            <a:ext cx="3246120" cy="45720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Abhidhamma Pitaka</a:t>
            </a:r>
            <a:endParaRPr lang="en-US" sz="1500" dirty="0"/>
          </a:p>
        </p:txBody>
      </p:sp>
      <p:sp>
        <p:nvSpPr>
          <p:cNvPr id="19" name="Text 14"/>
          <p:cNvSpPr/>
          <p:nvPr/>
        </p:nvSpPr>
        <p:spPr>
          <a:xfrm>
            <a:off x="8412480" y="4160520"/>
            <a:ext cx="3063240" cy="1554480"/>
          </a:xfrm>
          <a:prstGeom prst="rect">
            <a:avLst/>
          </a:prstGeom>
          <a:noFill/>
          <a:ln/>
        </p:spPr>
        <p:txBody>
          <a:bodyPr wrap="square" lIns="0" tIns="0" rIns="0" bIns="0" rtlCol="0" anchor="ctr"/>
          <a:lstStyle/>
          <a:p>
            <a:pPr marL="0" indent="0" algn="ctr">
              <a:buNone/>
            </a:pPr>
            <a:r>
              <a:rPr lang="en-US" sz="1150" dirty="0">
                <a:solidFill>
                  <a:srgbClr val="7A6660"/>
                </a:solidFill>
                <a:latin typeface="Calibri" pitchFamily="34" charset="0"/>
                <a:ea typeface="Calibri" pitchFamily="34" charset="-122"/>
                <a:cs typeface="Calibri" pitchFamily="34" charset="-120"/>
              </a:rPr>
              <a:t>A systematic philosophical and psychological analysis of mind and phenomena</a:t>
            </a:r>
            <a:endParaRPr lang="en-US" sz="1150" dirty="0"/>
          </a:p>
        </p:txBody>
      </p:sp>
      <p:sp>
        <p:nvSpPr>
          <p:cNvPr id="20" name="Text 15"/>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18</a:t>
            </a:r>
            <a:endParaRPr lang="en-US" sz="1000" dirty="0"/>
          </a:p>
        </p:txBody>
      </p:sp>
      <p:sp>
        <p:nvSpPr>
          <p:cNvPr id="21" name="Text 16"/>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320040"/>
          </a:xfrm>
          <a:prstGeom prst="rect">
            <a:avLst/>
          </a:prstGeom>
          <a:noFill/>
          <a:ln/>
        </p:spPr>
        <p:txBody>
          <a:bodyPr wrap="square" lIns="0" tIns="0" rIns="0" bIns="0" rtlCol="0" anchor="ctr"/>
          <a:lstStyle/>
          <a:p>
            <a:pPr marL="0" indent="0">
              <a:buNone/>
            </a:pPr>
            <a:r>
              <a:rPr lang="en-US" sz="1300" b="1" kern="0" spc="200" dirty="0">
                <a:solidFill>
                  <a:srgbClr val="C9922A"/>
                </a:solidFill>
                <a:latin typeface="Calibri" pitchFamily="34" charset="0"/>
                <a:ea typeface="Calibri" pitchFamily="34" charset="-122"/>
                <a:cs typeface="Calibri" pitchFamily="34" charset="-120"/>
              </a:rPr>
              <a:t>EDUCATION &amp; PHILOSOPHY</a:t>
            </a:r>
            <a:endParaRPr lang="en-US" sz="1300" dirty="0"/>
          </a:p>
        </p:txBody>
      </p:sp>
      <p:sp>
        <p:nvSpPr>
          <p:cNvPr id="3" name="Text 1"/>
          <p:cNvSpPr/>
          <p:nvPr/>
        </p:nvSpPr>
        <p:spPr>
          <a:xfrm>
            <a:off x="548640" y="685800"/>
            <a:ext cx="10789920" cy="822960"/>
          </a:xfrm>
          <a:prstGeom prst="rect">
            <a:avLst/>
          </a:prstGeom>
          <a:noFill/>
          <a:ln/>
        </p:spPr>
        <p:txBody>
          <a:bodyPr wrap="square" lIns="0" tIns="0" rIns="0" bIns="0" rtlCol="0" anchor="ctr"/>
          <a:lstStyle/>
          <a:p>
            <a:pPr marL="0" indent="0">
              <a:buNone/>
            </a:pPr>
            <a:r>
              <a:rPr lang="en-US" sz="3000" b="1" dirty="0">
                <a:solidFill>
                  <a:srgbClr val="5C1A1B"/>
                </a:solidFill>
                <a:latin typeface="Cambria" pitchFamily="34" charset="0"/>
                <a:ea typeface="Cambria" pitchFamily="34" charset="-122"/>
                <a:cs typeface="Cambria" pitchFamily="34" charset="-120"/>
              </a:rPr>
              <a:t>Monastic Education and Philosophical Method</a:t>
            </a:r>
            <a:endParaRPr lang="en-US" sz="3000" dirty="0"/>
          </a:p>
        </p:txBody>
      </p:sp>
      <p:sp>
        <p:nvSpPr>
          <p:cNvPr id="4" name="Text 2"/>
          <p:cNvSpPr/>
          <p:nvPr/>
        </p:nvSpPr>
        <p:spPr>
          <a:xfrm>
            <a:off x="548640" y="1828800"/>
            <a:ext cx="694944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320" dirty="0">
                <a:solidFill>
                  <a:srgbClr val="2B1A1A"/>
                </a:solidFill>
                <a:latin typeface="Calibri" pitchFamily="34" charset="0"/>
                <a:ea typeface="Calibri" pitchFamily="34" charset="-122"/>
                <a:cs typeface="Calibri" pitchFamily="34" charset="-120"/>
              </a:rPr>
              <a:t>Learning took place inside the Sangha, built on oral memorization, group chanting, and recitation</a:t>
            </a:r>
            <a:endParaRPr lang="en-US" sz="1320" dirty="0"/>
          </a:p>
          <a:p>
            <a:pPr marL="228600" indent="-228600">
              <a:lnSpc>
                <a:spcPct val="115000"/>
              </a:lnSpc>
              <a:spcAft>
                <a:spcPts val="1200"/>
              </a:spcAft>
              <a:buSzPct val="100000"/>
              <a:buChar char="▪"/>
            </a:pPr>
            <a:r>
              <a:rPr lang="en-US" sz="1320" dirty="0">
                <a:solidFill>
                  <a:srgbClr val="2B1A1A"/>
                </a:solidFill>
                <a:latin typeface="Calibri" pitchFamily="34" charset="0"/>
                <a:ea typeface="Calibri" pitchFamily="34" charset="-122"/>
                <a:cs typeface="Calibri" pitchFamily="34" charset="-120"/>
              </a:rPr>
              <a:t>The Buddha often taught through questions, analogies, and parables rather than fixed doctrine alone</a:t>
            </a:r>
            <a:endParaRPr lang="en-US" sz="1320" dirty="0"/>
          </a:p>
          <a:p>
            <a:pPr marL="228600" indent="-228600">
              <a:lnSpc>
                <a:spcPct val="115000"/>
              </a:lnSpc>
              <a:spcAft>
                <a:spcPts val="1200"/>
              </a:spcAft>
              <a:buSzPct val="100000"/>
              <a:buChar char="▪"/>
            </a:pPr>
            <a:r>
              <a:rPr lang="en-US" sz="1320" dirty="0">
                <a:solidFill>
                  <a:srgbClr val="2B1A1A"/>
                </a:solidFill>
                <a:latin typeface="Calibri" pitchFamily="34" charset="0"/>
                <a:ea typeface="Calibri" pitchFamily="34" charset="-122"/>
                <a:cs typeface="Calibri" pitchFamily="34" charset="-120"/>
              </a:rPr>
              <a:t>Dialogue and reasoned debate were central — students were expected to test teachings against experience</a:t>
            </a:r>
            <a:endParaRPr lang="en-US" sz="1320" dirty="0"/>
          </a:p>
          <a:p>
            <a:pPr marL="228600" indent="-228600">
              <a:lnSpc>
                <a:spcPct val="115000"/>
              </a:lnSpc>
              <a:spcAft>
                <a:spcPts val="1200"/>
              </a:spcAft>
              <a:buSzPct val="100000"/>
              <a:buChar char="▪"/>
            </a:pPr>
            <a:r>
              <a:rPr lang="en-US" sz="1320" dirty="0">
                <a:solidFill>
                  <a:srgbClr val="2B1A1A"/>
                </a:solidFill>
                <a:latin typeface="Calibri" pitchFamily="34" charset="0"/>
                <a:ea typeface="Calibri" pitchFamily="34" charset="-122"/>
                <a:cs typeface="Calibri" pitchFamily="34" charset="-120"/>
              </a:rPr>
              <a:t>Education was open across caste lines, unlike the Brahmanical system tied to birth status</a:t>
            </a:r>
            <a:endParaRPr lang="en-US" sz="1320" dirty="0"/>
          </a:p>
          <a:p>
            <a:pPr marL="228600" indent="-228600">
              <a:lnSpc>
                <a:spcPct val="115000"/>
              </a:lnSpc>
              <a:spcAft>
                <a:spcPts val="1200"/>
              </a:spcAft>
              <a:buSzPct val="100000"/>
              <a:buChar char="▪"/>
            </a:pPr>
            <a:r>
              <a:rPr lang="en-US" sz="1320" dirty="0">
                <a:solidFill>
                  <a:srgbClr val="2B1A1A"/>
                </a:solidFill>
                <a:latin typeface="Calibri" pitchFamily="34" charset="0"/>
                <a:ea typeface="Calibri" pitchFamily="34" charset="-122"/>
                <a:cs typeface="Calibri" pitchFamily="34" charset="-120"/>
              </a:rPr>
              <a:t>Study of doctrine (pariyatti) was paired with meditation practice (bhavana), not treated as separate from it</a:t>
            </a:r>
            <a:endParaRPr lang="en-US" sz="1320" dirty="0"/>
          </a:p>
          <a:p>
            <a:pPr marL="228600" indent="-228600">
              <a:lnSpc>
                <a:spcPct val="115000"/>
              </a:lnSpc>
              <a:spcAft>
                <a:spcPts val="1200"/>
              </a:spcAft>
              <a:buSzPct val="100000"/>
              <a:buChar char="▪"/>
            </a:pPr>
            <a:r>
              <a:rPr lang="en-US" sz="1320" dirty="0">
                <a:solidFill>
                  <a:srgbClr val="2B1A1A"/>
                </a:solidFill>
                <a:latin typeface="Calibri" pitchFamily="34" charset="0"/>
                <a:ea typeface="Calibri" pitchFamily="34" charset="-122"/>
                <a:cs typeface="Calibri" pitchFamily="34" charset="-120"/>
              </a:rPr>
              <a:t>This culture of oral scholarship laid the groundwork for later monastic universities, such as Nalanda</a:t>
            </a:r>
            <a:endParaRPr lang="en-US" sz="1320" dirty="0"/>
          </a:p>
        </p:txBody>
      </p:sp>
      <p:sp>
        <p:nvSpPr>
          <p:cNvPr id="5" name="Shape 3"/>
          <p:cNvSpPr/>
          <p:nvPr/>
        </p:nvSpPr>
        <p:spPr>
          <a:xfrm>
            <a:off x="8321040" y="1828800"/>
            <a:ext cx="3291840" cy="4114800"/>
          </a:xfrm>
          <a:prstGeom prst="roundRect">
            <a:avLst>
              <a:gd name="adj" fmla="val 2222"/>
            </a:avLst>
          </a:prstGeom>
          <a:solidFill>
            <a:srgbClr val="F6EDEA"/>
          </a:solidFill>
          <a:ln/>
          <a:effectLst>
            <a:outerShdw blurRad="101600" dist="38100" dir="5400000" algn="bl" rotWithShape="0">
              <a:srgbClr val="5C1A1B">
                <a:alpha val="12000"/>
              </a:srgbClr>
            </a:outerShdw>
          </a:effectLst>
        </p:spPr>
        <p:txBody>
          <a:bodyPr/>
          <a:lstStyle/>
          <a:p>
            <a:endParaRPr lang="en-US"/>
          </a:p>
        </p:txBody>
      </p:sp>
      <p:sp>
        <p:nvSpPr>
          <p:cNvPr id="6" name="Shape 4"/>
          <p:cNvSpPr/>
          <p:nvPr/>
        </p:nvSpPr>
        <p:spPr>
          <a:xfrm>
            <a:off x="9006840" y="2148840"/>
            <a:ext cx="914400" cy="914400"/>
          </a:xfrm>
          <a:prstGeom prst="ellipse">
            <a:avLst/>
          </a:prstGeom>
          <a:solidFill>
            <a:srgbClr val="5C1A1B"/>
          </a:solidFill>
          <a:ln/>
        </p:spPr>
        <p:txBody>
          <a:bodyPr/>
          <a:lstStyle/>
          <a:p>
            <a:endParaRPr lang="en-US"/>
          </a:p>
        </p:txBody>
      </p:sp>
      <p:pic>
        <p:nvPicPr>
          <p:cNvPr id="7" name="Image 0" descr="/home/claude/buddhism/icons/prayer_white.png"/>
          <p:cNvPicPr>
            <a:picLocks noChangeAspect="1"/>
          </p:cNvPicPr>
          <p:nvPr/>
        </p:nvPicPr>
        <p:blipFill>
          <a:blip r:embed="rId3"/>
          <a:stretch>
            <a:fillRect/>
          </a:stretch>
        </p:blipFill>
        <p:spPr>
          <a:xfrm>
            <a:off x="9212580" y="2354580"/>
            <a:ext cx="502920" cy="502920"/>
          </a:xfrm>
          <a:prstGeom prst="rect">
            <a:avLst/>
          </a:prstGeom>
        </p:spPr>
      </p:pic>
      <p:sp>
        <p:nvSpPr>
          <p:cNvPr id="8" name="Text 5"/>
          <p:cNvSpPr/>
          <p:nvPr/>
        </p:nvSpPr>
        <p:spPr>
          <a:xfrm>
            <a:off x="8503920" y="3246120"/>
            <a:ext cx="2834640" cy="731520"/>
          </a:xfrm>
          <a:prstGeom prst="rect">
            <a:avLst/>
          </a:prstGeom>
          <a:noFill/>
          <a:ln/>
        </p:spPr>
        <p:txBody>
          <a:bodyPr wrap="square" lIns="0" tIns="0" rIns="0" bIns="0" rtlCol="0" anchor="ctr"/>
          <a:lstStyle/>
          <a:p>
            <a:pPr marL="0" indent="0" algn="ctr">
              <a:buNone/>
            </a:pPr>
            <a:r>
              <a:rPr lang="en-US" sz="1500" b="1" dirty="0">
                <a:solidFill>
                  <a:srgbClr val="5C1A1B"/>
                </a:solidFill>
                <a:latin typeface="Cambria" pitchFamily="34" charset="0"/>
                <a:ea typeface="Cambria" pitchFamily="34" charset="-122"/>
                <a:cs typeface="Cambria" pitchFamily="34" charset="-120"/>
              </a:rPr>
              <a:t>Insight over</a:t>
            </a:r>
            <a:endParaRPr lang="en-US" sz="1500" dirty="0"/>
          </a:p>
          <a:p>
            <a:pPr marL="0" indent="0" algn="ctr">
              <a:buNone/>
            </a:pPr>
            <a:r>
              <a:rPr lang="en-US" sz="1500" b="1" dirty="0">
                <a:solidFill>
                  <a:srgbClr val="5C1A1B"/>
                </a:solidFill>
                <a:latin typeface="Cambria" pitchFamily="34" charset="0"/>
                <a:ea typeface="Cambria" pitchFamily="34" charset="-122"/>
                <a:cs typeface="Cambria" pitchFamily="34" charset="-120"/>
              </a:rPr>
              <a:t>Blind Faith</a:t>
            </a:r>
            <a:endParaRPr lang="en-US" sz="1500" dirty="0"/>
          </a:p>
        </p:txBody>
      </p:sp>
      <p:sp>
        <p:nvSpPr>
          <p:cNvPr id="9" name="Text 6"/>
          <p:cNvSpPr/>
          <p:nvPr/>
        </p:nvSpPr>
        <p:spPr>
          <a:xfrm>
            <a:off x="8503920" y="4023360"/>
            <a:ext cx="2834640" cy="1737360"/>
          </a:xfrm>
          <a:prstGeom prst="rect">
            <a:avLst/>
          </a:prstGeom>
          <a:noFill/>
          <a:ln/>
        </p:spPr>
        <p:txBody>
          <a:bodyPr wrap="square" lIns="0" tIns="0" rIns="0" bIns="0" rtlCol="0" anchor="ctr"/>
          <a:lstStyle/>
          <a:p>
            <a:pPr marL="0" indent="0" algn="ctr">
              <a:buNone/>
            </a:pPr>
            <a:r>
              <a:rPr lang="en-US" sz="1100" i="1" dirty="0">
                <a:solidFill>
                  <a:srgbClr val="7A6660"/>
                </a:solidFill>
                <a:latin typeface="Calibri" pitchFamily="34" charset="0"/>
                <a:ea typeface="Calibri" pitchFamily="34" charset="-122"/>
                <a:cs typeface="Calibri" pitchFamily="34" charset="-120"/>
              </a:rPr>
              <a:t>“Do not accept anything</a:t>
            </a:r>
            <a:endParaRPr lang="en-US" sz="1100" dirty="0"/>
          </a:p>
          <a:p>
            <a:pPr marL="0" indent="0" algn="ctr">
              <a:buNone/>
            </a:pPr>
            <a:r>
              <a:rPr lang="en-US" sz="1100" i="1" dirty="0">
                <a:solidFill>
                  <a:srgbClr val="7A6660"/>
                </a:solidFill>
                <a:latin typeface="Calibri" pitchFamily="34" charset="0"/>
                <a:ea typeface="Calibri" pitchFamily="34" charset="-122"/>
                <a:cs typeface="Calibri" pitchFamily="34" charset="-120"/>
              </a:rPr>
              <a:t>by mere tradition… but</a:t>
            </a:r>
            <a:endParaRPr lang="en-US" sz="1100" dirty="0"/>
          </a:p>
          <a:p>
            <a:pPr marL="0" indent="0" algn="ctr">
              <a:buNone/>
            </a:pPr>
            <a:r>
              <a:rPr lang="en-US" sz="1100" i="1" dirty="0">
                <a:solidFill>
                  <a:srgbClr val="7A6660"/>
                </a:solidFill>
                <a:latin typeface="Calibri" pitchFamily="34" charset="0"/>
                <a:ea typeface="Calibri" pitchFamily="34" charset="-122"/>
                <a:cs typeface="Calibri" pitchFamily="34" charset="-120"/>
              </a:rPr>
              <a:t>when you know for</a:t>
            </a:r>
            <a:endParaRPr lang="en-US" sz="1100" dirty="0"/>
          </a:p>
          <a:p>
            <a:pPr marL="0" indent="0" algn="ctr">
              <a:buNone/>
            </a:pPr>
            <a:r>
              <a:rPr lang="en-US" sz="1100" i="1" dirty="0">
                <a:solidFill>
                  <a:srgbClr val="7A6660"/>
                </a:solidFill>
                <a:latin typeface="Calibri" pitchFamily="34" charset="0"/>
                <a:ea typeface="Calibri" pitchFamily="34" charset="-122"/>
                <a:cs typeface="Calibri" pitchFamily="34" charset="-120"/>
              </a:rPr>
              <a:t>yourselves.”</a:t>
            </a:r>
            <a:endParaRPr lang="en-US" sz="1100" dirty="0"/>
          </a:p>
        </p:txBody>
      </p:sp>
      <p:sp>
        <p:nvSpPr>
          <p:cNvPr id="10" name="Text 7"/>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7A6660"/>
                </a:solidFill>
                <a:latin typeface="Calibri" pitchFamily="34" charset="0"/>
                <a:ea typeface="Calibri" pitchFamily="34" charset="-122"/>
                <a:cs typeface="Calibri" pitchFamily="34" charset="-120"/>
              </a:rPr>
              <a:t>19</a:t>
            </a:r>
            <a:endParaRPr lang="en-US" sz="1000" dirty="0"/>
          </a:p>
        </p:txBody>
      </p:sp>
      <p:sp>
        <p:nvSpPr>
          <p:cNvPr id="11" name="Text 8"/>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7A6660"/>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3D0F10"/>
        </a:solidFill>
        <a:effectLst/>
      </p:bgPr>
    </p:bg>
    <p:spTree>
      <p:nvGrpSpPr>
        <p:cNvPr id="1" name=""/>
        <p:cNvGrpSpPr/>
        <p:nvPr/>
      </p:nvGrpSpPr>
      <p:grpSpPr>
        <a:xfrm>
          <a:off x="0" y="0"/>
          <a:ext cx="0" cy="0"/>
          <a:chOff x="0" y="0"/>
          <a:chExt cx="0" cy="0"/>
        </a:xfrm>
      </p:grpSpPr>
      <p:sp>
        <p:nvSpPr>
          <p:cNvPr id="2" name="Shape 0"/>
          <p:cNvSpPr/>
          <p:nvPr/>
        </p:nvSpPr>
        <p:spPr>
          <a:xfrm>
            <a:off x="5408676" y="548640"/>
            <a:ext cx="1371600" cy="1371600"/>
          </a:xfrm>
          <a:prstGeom prst="ellipse">
            <a:avLst/>
          </a:prstGeom>
          <a:solidFill>
            <a:srgbClr val="5C1A1B"/>
          </a:solidFill>
          <a:ln/>
        </p:spPr>
        <p:txBody>
          <a:bodyPr/>
          <a:lstStyle/>
          <a:p>
            <a:endParaRPr lang="en-US"/>
          </a:p>
        </p:txBody>
      </p:sp>
      <p:pic>
        <p:nvPicPr>
          <p:cNvPr id="3" name="Image 0" descr="/home/claude/buddhism/icons/dove_white.png"/>
          <p:cNvPicPr>
            <a:picLocks noChangeAspect="1"/>
          </p:cNvPicPr>
          <p:nvPr/>
        </p:nvPicPr>
        <p:blipFill>
          <a:blip r:embed="rId3"/>
          <a:stretch>
            <a:fillRect/>
          </a:stretch>
        </p:blipFill>
        <p:spPr>
          <a:xfrm>
            <a:off x="5717286" y="857250"/>
            <a:ext cx="754380" cy="754380"/>
          </a:xfrm>
          <a:prstGeom prst="rect">
            <a:avLst/>
          </a:prstGeom>
        </p:spPr>
      </p:pic>
      <p:sp>
        <p:nvSpPr>
          <p:cNvPr id="4" name="Text 1"/>
          <p:cNvSpPr/>
          <p:nvPr/>
        </p:nvSpPr>
        <p:spPr>
          <a:xfrm>
            <a:off x="731520" y="2148840"/>
            <a:ext cx="10725912" cy="822960"/>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The Legacy of Early Buddhism</a:t>
            </a:r>
            <a:endParaRPr lang="en-US" sz="3200" dirty="0"/>
          </a:p>
        </p:txBody>
      </p:sp>
      <p:sp>
        <p:nvSpPr>
          <p:cNvPr id="5" name="Text 2"/>
          <p:cNvSpPr/>
          <p:nvPr/>
        </p:nvSpPr>
        <p:spPr>
          <a:xfrm>
            <a:off x="1463040" y="3200400"/>
            <a:ext cx="9235440" cy="274320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50" dirty="0">
                <a:solidFill>
                  <a:srgbClr val="F3E9E4"/>
                </a:solidFill>
                <a:latin typeface="Calibri" pitchFamily="34" charset="0"/>
                <a:ea typeface="Calibri" pitchFamily="34" charset="-122"/>
                <a:cs typeface="Calibri" pitchFamily="34" charset="-120"/>
              </a:rPr>
              <a:t>Under Emperor Ashoka in the 3rd century BCE, missions carried the Dharma to Sri Lanka, Central Asia, and beyond</a:t>
            </a:r>
            <a:endParaRPr lang="en-US" sz="1450" dirty="0"/>
          </a:p>
          <a:p>
            <a:pPr marL="228600" indent="-228600">
              <a:lnSpc>
                <a:spcPct val="115000"/>
              </a:lnSpc>
              <a:spcAft>
                <a:spcPts val="1200"/>
              </a:spcAft>
              <a:buSzPct val="100000"/>
              <a:buChar char="▪"/>
            </a:pPr>
            <a:r>
              <a:rPr lang="en-US" sz="1450" dirty="0">
                <a:solidFill>
                  <a:srgbClr val="F3E9E4"/>
                </a:solidFill>
                <a:latin typeface="Calibri" pitchFamily="34" charset="0"/>
                <a:ea typeface="Calibri" pitchFamily="34" charset="-122"/>
                <a:cs typeface="Calibri" pitchFamily="34" charset="-120"/>
              </a:rPr>
              <a:t>The oral teachings, once fixed in the Tripitaka, became the shared root of Theravada, Mahayana, and Vajrayana traditions</a:t>
            </a:r>
            <a:endParaRPr lang="en-US" sz="1450" dirty="0"/>
          </a:p>
          <a:p>
            <a:pPr marL="228600" indent="-228600">
              <a:lnSpc>
                <a:spcPct val="115000"/>
              </a:lnSpc>
              <a:spcAft>
                <a:spcPts val="1200"/>
              </a:spcAft>
              <a:buSzPct val="100000"/>
              <a:buChar char="▪"/>
            </a:pPr>
            <a:r>
              <a:rPr lang="en-US" sz="1450" dirty="0">
                <a:solidFill>
                  <a:srgbClr val="F3E9E4"/>
                </a:solidFill>
                <a:latin typeface="Calibri" pitchFamily="34" charset="0"/>
                <a:ea typeface="Calibri" pitchFamily="34" charset="-122"/>
                <a:cs typeface="Calibri" pitchFamily="34" charset="-120"/>
              </a:rPr>
              <a:t>Its emphasis on ethics, meditation, and direct insight continues to shape philosophy and practice worldwide</a:t>
            </a:r>
            <a:endParaRPr lang="en-US" sz="1450" dirty="0"/>
          </a:p>
        </p:txBody>
      </p:sp>
      <p:sp>
        <p:nvSpPr>
          <p:cNvPr id="6" name="Text 3"/>
          <p:cNvSpPr/>
          <p:nvPr/>
        </p:nvSpPr>
        <p:spPr>
          <a:xfrm>
            <a:off x="11411712" y="6400800"/>
            <a:ext cx="548640" cy="274320"/>
          </a:xfrm>
          <a:prstGeom prst="rect">
            <a:avLst/>
          </a:prstGeom>
          <a:noFill/>
          <a:ln/>
        </p:spPr>
        <p:txBody>
          <a:bodyPr wrap="square" lIns="0" tIns="0" rIns="0" bIns="0" rtlCol="0" anchor="ctr"/>
          <a:lstStyle/>
          <a:p>
            <a:pPr marL="0" indent="0" algn="r">
              <a:buNone/>
            </a:pPr>
            <a:r>
              <a:rPr lang="en-US" sz="1000" dirty="0">
                <a:solidFill>
                  <a:srgbClr val="D9C9C4"/>
                </a:solidFill>
                <a:latin typeface="Calibri" pitchFamily="34" charset="0"/>
                <a:ea typeface="Calibri" pitchFamily="34" charset="-122"/>
                <a:cs typeface="Calibri" pitchFamily="34" charset="-120"/>
              </a:rPr>
              <a:t>20</a:t>
            </a:r>
            <a:endParaRPr lang="en-US" sz="1000" dirty="0"/>
          </a:p>
        </p:txBody>
      </p:sp>
      <p:sp>
        <p:nvSpPr>
          <p:cNvPr id="7" name="Text 4"/>
          <p:cNvSpPr/>
          <p:nvPr/>
        </p:nvSpPr>
        <p:spPr>
          <a:xfrm>
            <a:off x="457200" y="6400800"/>
            <a:ext cx="3657600" cy="274320"/>
          </a:xfrm>
          <a:prstGeom prst="rect">
            <a:avLst/>
          </a:prstGeom>
          <a:noFill/>
          <a:ln/>
        </p:spPr>
        <p:txBody>
          <a:bodyPr wrap="square" lIns="0" tIns="0" rIns="0" bIns="0" rtlCol="0" anchor="ctr"/>
          <a:lstStyle/>
          <a:p>
            <a:pPr marL="0" indent="0">
              <a:buNone/>
            </a:pPr>
            <a:r>
              <a:rPr lang="en-US" sz="900" kern="0" spc="200" dirty="0">
                <a:solidFill>
                  <a:srgbClr val="D9C9C4"/>
                </a:solidFill>
                <a:latin typeface="Calibri" pitchFamily="34" charset="0"/>
                <a:ea typeface="Calibri" pitchFamily="34" charset="-122"/>
                <a:cs typeface="Calibri" pitchFamily="34" charset="-120"/>
              </a:rPr>
              <a:t>EARLY BUDDHISM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945</TotalTime>
  <Words>1903</Words>
  <Application>Microsoft Macintosh PowerPoint</Application>
  <PresentationFormat>Widescreen</PresentationFormat>
  <Paragraphs>270</Paragraphs>
  <Slides>22</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AMAN MISHRA</cp:lastModifiedBy>
  <cp:revision>3</cp:revision>
  <dcterms:created xsi:type="dcterms:W3CDTF">2026-08-23T15:00:33Z</dcterms:created>
  <dcterms:modified xsi:type="dcterms:W3CDTF">2026-08-24T06:56:40Z</dcterms:modified>
</cp:coreProperties>
</file>