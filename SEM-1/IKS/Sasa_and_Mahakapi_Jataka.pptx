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5" r:id="rId12"/>
    <p:sldId id="266" r:id="rId13"/>
    <p:sldId id="267" r:id="rId14"/>
    <p:sldId id="268" r:id="rId15"/>
    <p:sldId id="272" r:id="rId16"/>
    <p:sldId id="269" r:id="rId17"/>
    <p:sldId id="270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7773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talk retells two Jataka stories in which the Bodhisatta, the future Buddha, is born as an animal and gives everything for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Jatakas are birth stories of the Buddha. Each story ends with the Buddha identifying who in the story was who.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stories show the Bodhisatta offering his own body for others, one to a hungry stranger and one to his troop.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animals lived together near a wooded hillside and a river. The hare was the wisest and taught the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Uposatha (observance day) the hare reminded his friends to prepare food to give to any beggar who came.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hare had only grass, which is no food for a guest, so he decided to offer his own body.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Sakka, king of the gods, heard of their virtue and came disguised as a wandering brahmin to test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hare shook his fur three times so no living creature would be harmed, then leapt into the fire. The flames felt as cold as snow.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the end of the tale the Buddha explains who each animal was in that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Bodhisatta was a monkey king living by the Ganges, guarding a huge mango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King Brahmadatta of Benares tasted the fruit, followed the river upstream, and found the tree full of monkeys.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bamboo he tied was too short, so he held it with his hands and stretched across the river as a living bridge.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Devadatta, then a jealous monkey, jumped so hard on his back that the king's heart broke. The human king watched and was 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stories teach that real virtue is shown when someone is willing to give up what is most precious.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inviting the audience to reflect on which of these lessons speaks to them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760720" y="640080"/>
            <a:ext cx="3108960" cy="3108960"/>
          </a:xfrm>
          <a:prstGeom prst="ellipse">
            <a:avLst/>
          </a:prstGeom>
          <a:solidFill>
            <a:srgbClr val="F4EBC8"/>
          </a:solidFill>
          <a:ln w="12700">
            <a:solidFill>
              <a:srgbClr val="F4E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309360" y="1188720"/>
            <a:ext cx="640080" cy="640080"/>
          </a:xfrm>
          <a:prstGeom prst="ellipse">
            <a:avLst/>
          </a:prstGeom>
          <a:solidFill>
            <a:srgbClr val="E3D7A8"/>
          </a:solidFill>
          <a:ln w="12700">
            <a:solidFill>
              <a:srgbClr val="E3D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406640" y="2103120"/>
            <a:ext cx="822960" cy="822960"/>
          </a:xfrm>
          <a:prstGeom prst="ellipse">
            <a:avLst/>
          </a:prstGeom>
          <a:solidFill>
            <a:srgbClr val="E3D7A8"/>
          </a:solidFill>
          <a:ln w="12700">
            <a:solidFill>
              <a:srgbClr val="E3D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874520"/>
            <a:ext cx="822960" cy="8229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1097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JĀTAKA TALES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5544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Sasa Jātaka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Mahākapi Jātaka</a:t>
            </a:r>
            <a:endParaRPr lang="en-US" sz="40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32004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Hare who gave himself, and the Monkey King who became a bridge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Jātaka?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83880" y="457200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183880" y="457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85800" cy="68580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1543050"/>
            <a:ext cx="342900" cy="3429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stories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1463040" y="170078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Tales of the Buddha's previous lives, told to illustrate a lesson.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423160"/>
            <a:ext cx="685800" cy="68580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" y="2594610"/>
            <a:ext cx="342900" cy="3429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63040" y="2423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Bodhisatta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1463040" y="275234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Buddha appears as a human, deity or animal in each tale.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48640" y="3474720"/>
            <a:ext cx="685800" cy="68580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" y="3646170"/>
            <a:ext cx="342900" cy="3429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63040" y="3474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pāramīs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1463040" y="380390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life perfects a virtue: generosity, patience, compassion and more.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5943600" y="1371600"/>
            <a:ext cx="2651760" cy="3017520"/>
          </a:xfrm>
          <a:prstGeom prst="rect">
            <a:avLst/>
          </a:prstGeom>
          <a:solidFill>
            <a:srgbClr val="173A2B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 txBox="1"/>
          <p:nvPr/>
        </p:nvSpPr>
        <p:spPr>
          <a:xfrm>
            <a:off x="5943600" y="173736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547</a:t>
            </a:r>
            <a:endParaRPr lang="en-US" sz="6600" dirty="0"/>
          </a:p>
        </p:txBody>
      </p:sp>
      <p:sp>
        <p:nvSpPr>
          <p:cNvPr id="20" name="Text 14"/>
          <p:cNvSpPr txBox="1"/>
          <p:nvPr/>
        </p:nvSpPr>
        <p:spPr>
          <a:xfrm>
            <a:off x="6217920" y="29260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in the Pali Jātaka collection, part of the Khuddaka Nikāya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stories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83880" y="457200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183880" y="457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32588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22960" y="1554480"/>
            <a:ext cx="640080" cy="640080"/>
          </a:xfrm>
          <a:prstGeom prst="ellipse">
            <a:avLst/>
          </a:prstGeom>
          <a:solidFill>
            <a:srgbClr val="173A2B"/>
          </a:solidFill>
          <a:ln w="12700">
            <a:solidFill>
              <a:srgbClr val="173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171450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554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Sasa Jātaka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600200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Jātaka No. 316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26517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Bodhisatta: a wise hare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Virtue: perfect generosity (dāna)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Sacrifice: offers his own body as food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572000" y="132588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846320" y="1554480"/>
            <a:ext cx="640080" cy="640080"/>
          </a:xfrm>
          <a:prstGeom prst="ellipse">
            <a:avLst/>
          </a:prstGeom>
          <a:solidFill>
            <a:srgbClr val="173A2B"/>
          </a:solidFill>
          <a:ln w="12700">
            <a:solidFill>
              <a:srgbClr val="173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171450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623560" y="1554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Mahākapi Jātaka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5623560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Jātaka No. 407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846320" y="26517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Bodhisatta: the Great Monkey king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Virtue: compassion and selfless leadership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Sacrifice: becomes a bridge over the river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Sasa: four friends in the forest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83880" y="457200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183880" y="457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68680" y="1554480"/>
            <a:ext cx="1005840" cy="100584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1805940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Hare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3154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wise one, the Bodhisatta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2880360" y="1554480"/>
            <a:ext cx="1005840" cy="100584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1820" y="1805940"/>
            <a:ext cx="502920" cy="5029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560320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Monkey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2560320" y="3154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Lived in the mango trees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892040" y="1554480"/>
            <a:ext cx="1005840" cy="100584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805940"/>
            <a:ext cx="502920" cy="5029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572000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Jackal</a:t>
            </a:r>
            <a:endParaRPr lang="en-US" sz="2000" dirty="0"/>
          </a:p>
        </p:txBody>
      </p:sp>
      <p:sp>
        <p:nvSpPr>
          <p:cNvPr id="17" name="Text 11"/>
          <p:cNvSpPr txBox="1"/>
          <p:nvPr/>
        </p:nvSpPr>
        <p:spPr>
          <a:xfrm>
            <a:off x="4572000" y="3154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Foraged on the plains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903720" y="1554480"/>
            <a:ext cx="1005840" cy="100584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5180" y="1805940"/>
            <a:ext cx="502920" cy="5029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583680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Otter</a:t>
            </a:r>
            <a:endParaRPr lang="en-US" sz="2000" dirty="0"/>
          </a:p>
        </p:txBody>
      </p:sp>
      <p:sp>
        <p:nvSpPr>
          <p:cNvPr id="21" name="Text 14"/>
          <p:cNvSpPr txBox="1"/>
          <p:nvPr/>
        </p:nvSpPr>
        <p:spPr>
          <a:xfrm>
            <a:off x="6583680" y="3154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Hunted along the river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lived in harmony, and the hare taught them to give alms and keep the moral precepts.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hare's teaching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83880" y="457200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183880" y="457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4389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each Uposatha day, the hare urged his friends to fast and keep the precepts.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asked them to prepare food to give, so that a guest would never go away hungry.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friend promised to share what they could find.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669280" y="1280160"/>
            <a:ext cx="2834640" cy="2834640"/>
          </a:xfrm>
          <a:prstGeom prst="ellipse">
            <a:avLst/>
          </a:prstGeom>
          <a:solidFill>
            <a:srgbClr val="173A2B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783080"/>
            <a:ext cx="1280160" cy="12801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669280" y="4206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begins with a promise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friend prepared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83880" y="457200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183880" y="457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37947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7240" y="1691640"/>
            <a:ext cx="685800" cy="685800"/>
          </a:xfrm>
          <a:prstGeom prst="ellipse">
            <a:avLst/>
          </a:prstGeom>
          <a:solidFill>
            <a:srgbClr val="E3EEE7"/>
          </a:solidFill>
          <a:ln w="12700">
            <a:solidFill>
              <a:srgbClr val="E3E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1863090"/>
            <a:ext cx="342900" cy="342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Otter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645920" y="190195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seven fish left on the riverbank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617720" y="1280160"/>
            <a:ext cx="37947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846320" y="1691640"/>
            <a:ext cx="685800" cy="685800"/>
          </a:xfrm>
          <a:prstGeom prst="ellipse">
            <a:avLst/>
          </a:prstGeom>
          <a:solidFill>
            <a:srgbClr val="E3EEE7"/>
          </a:solidFill>
          <a:ln w="12700">
            <a:solidFill>
              <a:srgbClr val="E3E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7770" y="1863090"/>
            <a:ext cx="342900" cy="3429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715000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Jackal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5715000" y="190195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 lizard, a bowl of curd and roasted meat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2971800"/>
            <a:ext cx="37947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777240" y="3383280"/>
            <a:ext cx="685800" cy="685800"/>
          </a:xfrm>
          <a:prstGeom prst="ellipse">
            <a:avLst/>
          </a:prstGeom>
          <a:solidFill>
            <a:srgbClr val="E3EEE7"/>
          </a:solidFill>
          <a:ln w="12700">
            <a:solidFill>
              <a:srgbClr val="E3E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690" y="3554730"/>
            <a:ext cx="342900" cy="3429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4592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Monkey</a:t>
            </a:r>
            <a:endParaRPr lang="en-US" sz="1900" dirty="0"/>
          </a:p>
        </p:txBody>
      </p:sp>
      <p:sp>
        <p:nvSpPr>
          <p:cNvPr id="20" name="Text 14"/>
          <p:cNvSpPr txBox="1"/>
          <p:nvPr/>
        </p:nvSpPr>
        <p:spPr>
          <a:xfrm>
            <a:off x="1645920" y="359359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Gathered ripe mangoes from the trees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4617720" y="2971800"/>
            <a:ext cx="3794760" cy="1508760"/>
          </a:xfrm>
          <a:prstGeom prst="rect">
            <a:avLst/>
          </a:prstGeom>
          <a:solidFill>
            <a:srgbClr val="173A2B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4846320" y="3383280"/>
            <a:ext cx="685800" cy="6858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7770" y="3554730"/>
            <a:ext cx="342900" cy="3429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71500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Hare</a:t>
            </a:r>
            <a:endParaRPr lang="en-US" sz="1900" dirty="0"/>
          </a:p>
        </p:txBody>
      </p:sp>
      <p:sp>
        <p:nvSpPr>
          <p:cNvPr id="25" name="Text 18"/>
          <p:cNvSpPr txBox="1"/>
          <p:nvPr/>
        </p:nvSpPr>
        <p:spPr>
          <a:xfrm>
            <a:off x="5715000" y="359359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C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only grass, so he resolved to give himself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Sakka comes to test them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83880" y="457200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183880" y="457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82880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188720" y="1691640"/>
            <a:ext cx="548640" cy="54864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11887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4231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Sakka disguises himself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1546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appears as a hungry brahmin.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560320" y="1463040"/>
            <a:ext cx="182880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00400" y="1691640"/>
            <a:ext cx="548640" cy="54864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32004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2697480" y="24231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Otter, jackal, monkey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697480" y="31546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offers food and is praised.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0" y="1463040"/>
            <a:ext cx="182880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212080" y="1691640"/>
            <a:ext cx="548640" cy="54864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52120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4709160" y="24231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 turns to the hare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709160" y="31546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hare has no food to give.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583680" y="1463040"/>
            <a:ext cx="182880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7223760" y="1691640"/>
            <a:ext cx="548640" cy="54864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72237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6720840" y="24231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fire is lit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720840" y="31546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hare asks for a bed of coals.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3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943600" y="822960"/>
            <a:ext cx="2743200" cy="2743200"/>
          </a:xfrm>
          <a:prstGeom prst="ellipse">
            <a:avLst/>
          </a:prstGeom>
          <a:solidFill>
            <a:srgbClr val="F4EBC8"/>
          </a:solidFill>
          <a:ln w="12700">
            <a:solidFill>
              <a:srgbClr val="F4E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737360"/>
            <a:ext cx="914400" cy="9144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48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leap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37160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3E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hare shook his coat three times, so no small creature would burn with him.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3E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leapt into the blaze, ready to give his life.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3E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fire felt as cold as snow. Sakka revealed himself and praised him.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3E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drew the hare's form on the moon, so it is remembered for all ages.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Sasa: the moral and the cast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83880" y="457200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183880" y="457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80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17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giving holds nothing back. The hare gave without expecting reward, and even fear of pain did not stop him.</a:t>
            </a:r>
            <a:endParaRPr lang="en-US" sz="1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8046720" cy="2304288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the story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the Buddha's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Buddha himself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monkey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Sāriputta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jackal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Moggallāna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otter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Ānanda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Sakka in disguise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Anuruddha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painting of animals and birds&#10;&#10;AI-generated content may be incorrect.">
            <a:extLst>
              <a:ext uri="{FF2B5EF4-FFF2-40B4-BE49-F238E27FC236}">
                <a16:creationId xmlns:a16="http://schemas.microsoft.com/office/drawing/2014/main" id="{A3F644C4-4395-9AAA-BB41-4FFBDE4CB9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1" r="1" b="1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22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Mahākapi: the monkey king’s tree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83880" y="457200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183880" y="457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Bodhisatta was king of 80,000 monkeys in the Himalayan foothills.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lived on a huge mango tree beside the Ganges.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king ordered them to eat every fruit that hung over the water.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hidden mango, caught in a bird's nest, fell into the river and floated away.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943600" y="1371600"/>
            <a:ext cx="2651760" cy="3017520"/>
          </a:xfrm>
          <a:prstGeom prst="rect">
            <a:avLst/>
          </a:prstGeom>
          <a:solidFill>
            <a:srgbClr val="173A2B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943600" y="18288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80,000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29260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monkeys followed their king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king's mango and the archers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83880" y="457200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183880" y="457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85800" cy="68580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1543050"/>
            <a:ext cx="342900" cy="3429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3716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mango reaches Benares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1463040" y="171907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fruit lodges in a net downstream, and King Brahmadatta tastes it.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423160"/>
            <a:ext cx="685800" cy="68580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" y="2594610"/>
            <a:ext cx="342900" cy="3429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63040" y="24231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tracks it upriver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1463040" y="277063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finds the great tree and the monkeys feasting.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48640" y="3474720"/>
            <a:ext cx="685800" cy="68580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" y="3646170"/>
            <a:ext cx="342900" cy="3429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63040" y="34747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orders them shot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1463040" y="382219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Archers surround the tree, and the monkeys have nowhere to flee.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monkey becomes a bridge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83880" y="457200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183880" y="457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1828800" cy="128016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48640" y="13716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bank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(danger)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766560" y="1371600"/>
            <a:ext cx="1828800" cy="128016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766560" y="13716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bank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(safety)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377440" y="2103120"/>
            <a:ext cx="4389120" cy="548640"/>
          </a:xfrm>
          <a:prstGeom prst="rect">
            <a:avLst/>
          </a:prstGeom>
          <a:solidFill>
            <a:srgbClr val="BFD9E6"/>
          </a:solidFill>
          <a:ln w="12700">
            <a:solidFill>
              <a:srgbClr val="BFD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2377440" y="21031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7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Ganges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011680" y="1600200"/>
            <a:ext cx="5120640" cy="411480"/>
          </a:xfrm>
          <a:prstGeom prst="roundRect">
            <a:avLst>
              <a:gd name="adj" fmla="val 44444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2011680" y="1600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Monkey King's body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0632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leapt to the far bank and tied a bamboo shoot to himself, but it fell short.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held the tree with his hands, and his troop crossed over his back.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monkey escaped, and the king held on through the pain.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Betrayal and compassion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83880" y="457200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183880" y="457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325880"/>
            <a:ext cx="379476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82296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Devadatta, the jealous monkey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19659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rival in the troop saw a chance to kill the king. He jumped hard on the king's back, and broke it.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17720" y="1325880"/>
            <a:ext cx="3794760" cy="1874520"/>
          </a:xfrm>
          <a:prstGeom prst="rect">
            <a:avLst/>
          </a:prstGeom>
          <a:solidFill>
            <a:srgbClr val="173A2B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489204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King Brahmadatta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892040" y="19659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watched from below, lowered his bow, and had the king brought down and tended with care.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474720"/>
            <a:ext cx="8046720" cy="1051560"/>
          </a:xfrm>
          <a:prstGeom prst="rect">
            <a:avLst/>
          </a:prstGeom>
          <a:solidFill>
            <a:srgbClr val="E3EE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347472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7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he lay dying, the monkey king taught: a ruler lives for the welfare of his people, and gives his own life first.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painting of monkeys and a person&#10;&#10;AI-generated content may be incorrect.">
            <a:extLst>
              <a:ext uri="{FF2B5EF4-FFF2-40B4-BE49-F238E27FC236}">
                <a16:creationId xmlns:a16="http://schemas.microsoft.com/office/drawing/2014/main" id="{5D99F7F4-7524-738F-4843-9B435D7A28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1" r="1" b="1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5800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the two Jātakas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83880" y="457200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183880" y="457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3200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Sasa Jātaka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Mahākapi Jātaka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Bodhisatta 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monkey 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is helped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hungry stranger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 whole troop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Sakka in disguise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king with archers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sacrifice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Leaps into the fire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Becomes a bridge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placed on the moon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king is moved to compassion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Generosity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Compassionate leadership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3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309360" y="640080"/>
            <a:ext cx="2377440" cy="2377440"/>
          </a:xfrm>
          <a:prstGeom prst="ellipse">
            <a:avLst/>
          </a:prstGeom>
          <a:solidFill>
            <a:srgbClr val="F4EBC8"/>
          </a:solidFill>
          <a:ln w="12700">
            <a:solidFill>
              <a:srgbClr val="F4E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371600"/>
            <a:ext cx="914400" cy="9144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486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and legacy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371600"/>
            <a:ext cx="5394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3E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Generosity is measured by willingness, not by how much one has.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3E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leader protects others before himself.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3E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Compassion can change even those who mean harm.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3E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Asian traditions see a hare in the moon, and the tales live on in art and storytelling across Buddhist cultures.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630936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1216</Words>
  <Application>Microsoft Macintosh PowerPoint</Application>
  <PresentationFormat>On-screen Show (16:9)</PresentationFormat>
  <Paragraphs>179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Sasa Jataka and Mahakapi Jataka</dc:title>
  <dc:subject>PptxGenJS Presentation</dc:subject>
  <dc:creator>PptxGenJS</dc:creator>
  <cp:lastModifiedBy>AMAN MISHRA</cp:lastModifiedBy>
  <cp:revision>2</cp:revision>
  <dcterms:created xsi:type="dcterms:W3CDTF">2026-09-29T03:39:05Z</dcterms:created>
  <dcterms:modified xsi:type="dcterms:W3CDTF">2026-09-29T06:48:59Z</dcterms:modified>
</cp:coreProperties>
</file>