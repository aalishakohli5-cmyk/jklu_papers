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webextensions/webextension1.xml" ContentType="application/vnd.ms-office.webextensio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01"/>
  </p:notesMasterIdLst>
  <p:sldIdLst>
    <p:sldId id="258" r:id="rId2"/>
    <p:sldId id="260" r:id="rId3"/>
    <p:sldId id="261" r:id="rId4"/>
    <p:sldId id="293" r:id="rId5"/>
    <p:sldId id="279" r:id="rId6"/>
    <p:sldId id="272" r:id="rId7"/>
    <p:sldId id="262" r:id="rId8"/>
    <p:sldId id="263" r:id="rId9"/>
    <p:sldId id="273" r:id="rId10"/>
    <p:sldId id="274" r:id="rId11"/>
    <p:sldId id="290" r:id="rId12"/>
    <p:sldId id="291" r:id="rId13"/>
    <p:sldId id="294" r:id="rId14"/>
    <p:sldId id="295" r:id="rId15"/>
    <p:sldId id="275" r:id="rId16"/>
    <p:sldId id="276" r:id="rId17"/>
    <p:sldId id="277" r:id="rId18"/>
    <p:sldId id="278" r:id="rId19"/>
    <p:sldId id="257" r:id="rId20"/>
    <p:sldId id="296" r:id="rId21"/>
    <p:sldId id="264" r:id="rId22"/>
    <p:sldId id="266" r:id="rId23"/>
    <p:sldId id="298" r:id="rId24"/>
    <p:sldId id="299" r:id="rId25"/>
    <p:sldId id="300" r:id="rId26"/>
    <p:sldId id="267" r:id="rId27"/>
    <p:sldId id="268" r:id="rId28"/>
    <p:sldId id="256" r:id="rId29"/>
    <p:sldId id="280" r:id="rId30"/>
    <p:sldId id="313" r:id="rId31"/>
    <p:sldId id="292" r:id="rId32"/>
    <p:sldId id="301" r:id="rId33"/>
    <p:sldId id="302" r:id="rId34"/>
    <p:sldId id="270" r:id="rId35"/>
    <p:sldId id="271" r:id="rId36"/>
    <p:sldId id="282" r:id="rId37"/>
    <p:sldId id="303" r:id="rId38"/>
    <p:sldId id="304" r:id="rId39"/>
    <p:sldId id="305" r:id="rId40"/>
    <p:sldId id="306" r:id="rId41"/>
    <p:sldId id="284" r:id="rId42"/>
    <p:sldId id="307" r:id="rId43"/>
    <p:sldId id="308" r:id="rId44"/>
    <p:sldId id="309" r:id="rId45"/>
    <p:sldId id="310" r:id="rId46"/>
    <p:sldId id="286" r:id="rId47"/>
    <p:sldId id="287" r:id="rId48"/>
    <p:sldId id="288" r:id="rId49"/>
    <p:sldId id="289" r:id="rId50"/>
    <p:sldId id="312" r:id="rId51"/>
    <p:sldId id="316" r:id="rId52"/>
    <p:sldId id="315" r:id="rId53"/>
    <p:sldId id="319" r:id="rId54"/>
    <p:sldId id="350" r:id="rId55"/>
    <p:sldId id="317" r:id="rId56"/>
    <p:sldId id="318" r:id="rId57"/>
    <p:sldId id="320" r:id="rId58"/>
    <p:sldId id="339" r:id="rId59"/>
    <p:sldId id="341" r:id="rId60"/>
    <p:sldId id="343" r:id="rId61"/>
    <p:sldId id="342" r:id="rId62"/>
    <p:sldId id="322" r:id="rId63"/>
    <p:sldId id="324" r:id="rId64"/>
    <p:sldId id="325" r:id="rId65"/>
    <p:sldId id="326" r:id="rId66"/>
    <p:sldId id="348" r:id="rId67"/>
    <p:sldId id="349" r:id="rId68"/>
    <p:sldId id="347" r:id="rId69"/>
    <p:sldId id="327" r:id="rId70"/>
    <p:sldId id="328" r:id="rId71"/>
    <p:sldId id="330" r:id="rId72"/>
    <p:sldId id="329" r:id="rId73"/>
    <p:sldId id="334" r:id="rId74"/>
    <p:sldId id="337" r:id="rId75"/>
    <p:sldId id="332" r:id="rId76"/>
    <p:sldId id="340" r:id="rId77"/>
    <p:sldId id="344" r:id="rId78"/>
    <p:sldId id="346" r:id="rId79"/>
    <p:sldId id="338" r:id="rId80"/>
    <p:sldId id="335" r:id="rId81"/>
    <p:sldId id="336" r:id="rId82"/>
    <p:sldId id="333" r:id="rId83"/>
    <p:sldId id="345" r:id="rId84"/>
    <p:sldId id="351" r:id="rId85"/>
    <p:sldId id="352" r:id="rId86"/>
    <p:sldId id="353" r:id="rId87"/>
    <p:sldId id="357" r:id="rId88"/>
    <p:sldId id="355" r:id="rId89"/>
    <p:sldId id="356" r:id="rId90"/>
    <p:sldId id="358" r:id="rId91"/>
    <p:sldId id="361" r:id="rId92"/>
    <p:sldId id="365" r:id="rId93"/>
    <p:sldId id="366" r:id="rId94"/>
    <p:sldId id="360" r:id="rId95"/>
    <p:sldId id="363" r:id="rId96"/>
    <p:sldId id="359" r:id="rId97"/>
    <p:sldId id="362" r:id="rId98"/>
    <p:sldId id="364" r:id="rId99"/>
    <p:sldId id="367" r:id="rId1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2157" autoAdjust="0"/>
  </p:normalViewPr>
  <p:slideViewPr>
    <p:cSldViewPr snapToGrid="0">
      <p:cViewPr varScale="1">
        <p:scale>
          <a:sx n="76" d="100"/>
          <a:sy n="76" d="100"/>
        </p:scale>
        <p:origin x="950" y="53"/>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6E4D43-B417-4188-9461-B474E4342038}" type="datetimeFigureOut">
              <a:rPr lang="en-GB" smtClean="0"/>
              <a:t>08/09/2026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988CA6-E7AB-444F-8C7E-7177A6689493}" type="slidenum">
              <a:rPr lang="en-GB" smtClean="0"/>
              <a:t>‹#›</a:t>
            </a:fld>
            <a:endParaRPr lang="en-GB"/>
          </a:p>
        </p:txBody>
      </p:sp>
    </p:spTree>
    <p:extLst>
      <p:ext uri="{BB962C8B-B14F-4D97-AF65-F5344CB8AC3E}">
        <p14:creationId xmlns:p14="http://schemas.microsoft.com/office/powerpoint/2010/main" val="1278665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1</a:t>
            </a:fld>
            <a:endParaRPr lang="en-GB"/>
          </a:p>
        </p:txBody>
      </p:sp>
    </p:spTree>
    <p:extLst>
      <p:ext uri="{BB962C8B-B14F-4D97-AF65-F5344CB8AC3E}">
        <p14:creationId xmlns:p14="http://schemas.microsoft.com/office/powerpoint/2010/main" val="1457996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 </a:t>
            </a:r>
            <a:r>
              <a:rPr lang="en-IN" dirty="0" err="1"/>
              <a:t>F</a:t>
            </a:r>
            <a:r>
              <a:rPr lang="en-IN" dirty="0"/>
              <a:t> T F T</a:t>
            </a:r>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8</a:t>
            </a:fld>
            <a:endParaRPr lang="en-GB"/>
          </a:p>
        </p:txBody>
      </p:sp>
    </p:spTree>
    <p:extLst>
      <p:ext uri="{BB962C8B-B14F-4D97-AF65-F5344CB8AC3E}">
        <p14:creationId xmlns:p14="http://schemas.microsoft.com/office/powerpoint/2010/main" val="28400597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FFTTT</a:t>
            </a:r>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10</a:t>
            </a:fld>
            <a:endParaRPr lang="en-GB"/>
          </a:p>
        </p:txBody>
      </p:sp>
    </p:spTree>
    <p:extLst>
      <p:ext uri="{BB962C8B-B14F-4D97-AF65-F5344CB8AC3E}">
        <p14:creationId xmlns:p14="http://schemas.microsoft.com/office/powerpoint/2010/main" val="229737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Exercise 1: The typical community college student is no longer the teenager looking for a springboard to a four-year college, but instead is the part-time adult student resuming education where it was left off, or a student with special objectives who is not necessarily committed to pursuing a degree.</a:t>
            </a:r>
            <a:r>
              <a:rPr lang="en-GB" dirty="0"/>
              <a:t> </a:t>
            </a:r>
            <a:br>
              <a:rPr lang="en-GB" dirty="0"/>
            </a:br>
            <a:br>
              <a:rPr lang="en-GB" dirty="0"/>
            </a:br>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16</a:t>
            </a:fld>
            <a:endParaRPr lang="en-GB"/>
          </a:p>
        </p:txBody>
      </p:sp>
    </p:spTree>
    <p:extLst>
      <p:ext uri="{BB962C8B-B14F-4D97-AF65-F5344CB8AC3E}">
        <p14:creationId xmlns:p14="http://schemas.microsoft.com/office/powerpoint/2010/main" val="1582387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It is not true that people can think without language.</a:t>
            </a:r>
            <a:r>
              <a:rPr lang="en-GB" dirty="0"/>
              <a:t> </a:t>
            </a:r>
            <a:br>
              <a:rPr lang="en-GB" dirty="0"/>
            </a:br>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17</a:t>
            </a:fld>
            <a:endParaRPr lang="en-GB"/>
          </a:p>
        </p:txBody>
      </p:sp>
    </p:spTree>
    <p:extLst>
      <p:ext uri="{BB962C8B-B14F-4D97-AF65-F5344CB8AC3E}">
        <p14:creationId xmlns:p14="http://schemas.microsoft.com/office/powerpoint/2010/main" val="516261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18</a:t>
            </a:fld>
            <a:endParaRPr lang="en-GB"/>
          </a:p>
        </p:txBody>
      </p:sp>
    </p:spTree>
    <p:extLst>
      <p:ext uri="{BB962C8B-B14F-4D97-AF65-F5344CB8AC3E}">
        <p14:creationId xmlns:p14="http://schemas.microsoft.com/office/powerpoint/2010/main" val="211587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1" dirty="0"/>
              <a:t>Skimming is useful when:</a:t>
            </a:r>
          </a:p>
          <a:p>
            <a:pPr marL="342900" lvl="0" indent="-342900">
              <a:buFont typeface="Arial" panose="020B0604020202020204" pitchFamily="34" charset="0"/>
              <a:buChar char="•"/>
            </a:pPr>
            <a:r>
              <a:rPr lang="en-GB" dirty="0"/>
              <a:t>⏱️ </a:t>
            </a:r>
            <a:r>
              <a:rPr lang="en-GB" b="1" dirty="0"/>
              <a:t>Time is limited</a:t>
            </a:r>
            <a:r>
              <a:rPr lang="en-GB" dirty="0"/>
              <a:t> </a:t>
            </a:r>
          </a:p>
          <a:p>
            <a:pPr marL="342900" lvl="0" indent="-342900">
              <a:buFont typeface="Arial" panose="020B0604020202020204" pitchFamily="34" charset="0"/>
              <a:buChar char="•"/>
            </a:pPr>
            <a:r>
              <a:rPr lang="en-GB" dirty="0"/>
              <a:t>📖 The text is </a:t>
            </a:r>
            <a:r>
              <a:rPr lang="en-GB" b="1" dirty="0"/>
              <a:t>long</a:t>
            </a:r>
            <a:r>
              <a:rPr lang="en-GB" dirty="0"/>
              <a:t> </a:t>
            </a:r>
          </a:p>
          <a:p>
            <a:pPr marL="342900" lvl="0" indent="-342900">
              <a:buFont typeface="Arial" panose="020B0604020202020204" pitchFamily="34" charset="0"/>
              <a:buChar char="•"/>
            </a:pPr>
            <a:r>
              <a:rPr lang="en-GB" dirty="0"/>
              <a:t>🔍 You need only the </a:t>
            </a:r>
            <a:r>
              <a:rPr lang="en-GB" b="1" dirty="0"/>
              <a:t>main argument</a:t>
            </a:r>
            <a:r>
              <a:rPr lang="en-GB" dirty="0"/>
              <a:t> </a:t>
            </a:r>
          </a:p>
          <a:p>
            <a:pPr marL="342900" lvl="0" indent="-342900">
              <a:buFont typeface="Arial" panose="020B0604020202020204" pitchFamily="34" charset="0"/>
              <a:buChar char="•"/>
            </a:pPr>
            <a:r>
              <a:rPr lang="en-GB" dirty="0"/>
              <a:t>📝 You are preparing for a </a:t>
            </a:r>
            <a:r>
              <a:rPr lang="en-GB" b="1" dirty="0"/>
              <a:t>test</a:t>
            </a:r>
            <a:r>
              <a:rPr lang="en-GB" dirty="0"/>
              <a:t> </a:t>
            </a:r>
          </a:p>
          <a:p>
            <a:pPr marL="342900" lvl="0" indent="-342900">
              <a:buFont typeface="Arial" panose="020B0604020202020204" pitchFamily="34" charset="0"/>
              <a:buChar char="•"/>
            </a:pPr>
            <a:r>
              <a:rPr lang="en-GB" dirty="0"/>
              <a:t>🔄 You are </a:t>
            </a:r>
            <a:r>
              <a:rPr lang="en-GB" b="1" dirty="0"/>
              <a:t>reviewing</a:t>
            </a:r>
            <a:r>
              <a:rPr lang="en-GB" dirty="0"/>
              <a:t> something already read </a:t>
            </a:r>
          </a:p>
          <a:p>
            <a:pPr marL="342900" lvl="0" indent="-342900">
              <a:buFont typeface="Arial" panose="020B0604020202020204" pitchFamily="34" charset="0"/>
              <a:buChar char="•"/>
            </a:pPr>
            <a:r>
              <a:rPr lang="en-GB" dirty="0"/>
              <a:t>📚 The text contains lots of </a:t>
            </a:r>
            <a:r>
              <a:rPr lang="en-GB" b="1" dirty="0"/>
              <a:t>background information, examples or minor details</a:t>
            </a:r>
            <a:endParaRPr lang="en-GB" dirty="0"/>
          </a:p>
          <a:p>
            <a:endParaRPr lang="en-GB" dirty="0"/>
          </a:p>
          <a:p>
            <a:r>
              <a:rPr lang="en-GB" b="1" dirty="0"/>
              <a:t>Skimming does NOT mean careless reading.</a:t>
            </a:r>
            <a:endParaRPr lang="en-GB" dirty="0"/>
          </a:p>
          <a:p>
            <a:r>
              <a:rPr lang="en-GB" dirty="0"/>
              <a:t>Good skimming still requires </a:t>
            </a:r>
            <a:r>
              <a:rPr lang="en-GB" b="1" dirty="0"/>
              <a:t>comprehension and judgment</a:t>
            </a:r>
            <a:r>
              <a:rPr lang="en-GB" dirty="0"/>
              <a:t>.</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21</a:t>
            </a:fld>
            <a:endParaRPr lang="en-GB"/>
          </a:p>
        </p:txBody>
      </p:sp>
    </p:spTree>
    <p:extLst>
      <p:ext uri="{BB962C8B-B14F-4D97-AF65-F5344CB8AC3E}">
        <p14:creationId xmlns:p14="http://schemas.microsoft.com/office/powerpoint/2010/main" val="2504543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b="1" dirty="0"/>
              <a:t>Hyphen (-)</a:t>
            </a:r>
            <a:r>
              <a:rPr lang="en-GB" dirty="0"/>
              <a:t> → joins words: </a:t>
            </a:r>
            <a:r>
              <a:rPr lang="en-GB" b="1" dirty="0"/>
              <a:t>well-known</a:t>
            </a:r>
            <a:r>
              <a:rPr lang="en-GB" dirty="0"/>
              <a:t> </a:t>
            </a:r>
          </a:p>
          <a:p>
            <a:pPr lvl="0"/>
            <a:r>
              <a:rPr lang="en-GB" b="1" dirty="0"/>
              <a:t>En dash (–)</a:t>
            </a:r>
            <a:r>
              <a:rPr lang="en-GB" dirty="0"/>
              <a:t> → shows a range/connection: </a:t>
            </a:r>
            <a:r>
              <a:rPr lang="en-GB" b="1" dirty="0"/>
              <a:t>2010–2020</a:t>
            </a:r>
            <a:r>
              <a:rPr lang="en-GB" dirty="0"/>
              <a:t> </a:t>
            </a:r>
          </a:p>
          <a:p>
            <a:pPr lvl="0"/>
            <a:r>
              <a:rPr lang="en-GB" b="1" dirty="0"/>
              <a:t>Em dash (—)</a:t>
            </a:r>
            <a:r>
              <a:rPr lang="en-GB" dirty="0"/>
              <a:t> → creates a strong break: </a:t>
            </a:r>
            <a:r>
              <a:rPr lang="en-GB" b="1" dirty="0"/>
              <a:t>I tried — but I failed.</a:t>
            </a:r>
          </a:p>
          <a:p>
            <a:pPr lvl="0"/>
            <a:endParaRPr lang="en-GB" b="1" dirty="0"/>
          </a:p>
          <a:p>
            <a:pPr lvl="0"/>
            <a:endParaRPr lang="en-GB" b="1" dirty="0"/>
          </a:p>
          <a:p>
            <a:pPr lvl="0"/>
            <a:r>
              <a:rPr lang="en-GB" dirty="0"/>
              <a:t>certainly </a:t>
            </a:r>
          </a:p>
          <a:p>
            <a:pPr lvl="0"/>
            <a:r>
              <a:rPr lang="en-GB" dirty="0"/>
              <a:t>undoubtedly </a:t>
            </a:r>
          </a:p>
          <a:p>
            <a:pPr lvl="0"/>
            <a:r>
              <a:rPr lang="en-GB" dirty="0"/>
              <a:t>obviously</a:t>
            </a:r>
          </a:p>
          <a:p>
            <a:pPr lvl="0"/>
            <a:endParaRPr lang="en-GB" dirty="0"/>
          </a:p>
          <a:p>
            <a:pPr lvl="0"/>
            <a:r>
              <a:rPr lang="en-GB" dirty="0"/>
              <a:t>perhaps </a:t>
            </a:r>
          </a:p>
          <a:p>
            <a:pPr lvl="0"/>
            <a:r>
              <a:rPr lang="en-GB" dirty="0"/>
              <a:t>possibly </a:t>
            </a:r>
          </a:p>
          <a:p>
            <a:pPr lvl="0"/>
            <a:r>
              <a:rPr lang="en-GB" dirty="0"/>
              <a:t>may </a:t>
            </a:r>
          </a:p>
          <a:p>
            <a:pPr lvl="0"/>
            <a:r>
              <a:rPr lang="en-GB" dirty="0"/>
              <a:t>might</a:t>
            </a:r>
          </a:p>
          <a:p>
            <a:endParaRPr lang="en-GB" dirty="0"/>
          </a:p>
          <a:p>
            <a:endParaRPr lang="en-GB" dirty="0"/>
          </a:p>
          <a:p>
            <a:r>
              <a:rPr lang="en-GB" b="1" dirty="0"/>
              <a:t>1. Positive viewpoint</a:t>
            </a:r>
            <a:endParaRPr lang="en-GB" dirty="0"/>
          </a:p>
          <a:p>
            <a:r>
              <a:rPr lang="en-GB" dirty="0"/>
              <a:t>"Online education has </a:t>
            </a:r>
            <a:r>
              <a:rPr lang="en-GB" b="1" dirty="0"/>
              <a:t>greatly improved</a:t>
            </a:r>
            <a:r>
              <a:rPr lang="en-GB" dirty="0"/>
              <a:t> access to learning."</a:t>
            </a:r>
          </a:p>
          <a:p>
            <a:r>
              <a:rPr lang="en-GB" dirty="0"/>
              <a:t>Author's viewpoint: </a:t>
            </a:r>
            <a:r>
              <a:rPr lang="en-GB" b="1" dirty="0"/>
              <a:t>Positive</a:t>
            </a:r>
            <a:r>
              <a:rPr lang="en-GB" dirty="0"/>
              <a:t> — the author thinks online education is beneficial.</a:t>
            </a:r>
          </a:p>
          <a:p>
            <a:r>
              <a:rPr lang="en-GB" b="1" dirty="0"/>
              <a:t>2. Negative viewpoint</a:t>
            </a:r>
            <a:endParaRPr lang="en-GB" dirty="0"/>
          </a:p>
          <a:p>
            <a:r>
              <a:rPr lang="en-GB" dirty="0"/>
              <a:t>"Social media can have </a:t>
            </a:r>
            <a:r>
              <a:rPr lang="en-GB" b="1" dirty="0"/>
              <a:t>serious harmful effects</a:t>
            </a:r>
            <a:r>
              <a:rPr lang="en-GB" dirty="0"/>
              <a:t> on young people."</a:t>
            </a:r>
          </a:p>
          <a:p>
            <a:r>
              <a:rPr lang="en-GB" dirty="0"/>
              <a:t>Author's viewpoint: </a:t>
            </a:r>
            <a:r>
              <a:rPr lang="en-GB" b="1" dirty="0"/>
              <a:t>Negative/critical</a:t>
            </a:r>
            <a:r>
              <a:rPr lang="en-GB" dirty="0"/>
              <a:t> — the author is concerned about social media.</a:t>
            </a:r>
          </a:p>
          <a:p>
            <a:r>
              <a:rPr lang="en-GB" b="1" dirty="0"/>
              <a:t>3. Neutral viewpoint</a:t>
            </a:r>
            <a:endParaRPr lang="en-GB" dirty="0"/>
          </a:p>
          <a:p>
            <a:r>
              <a:rPr lang="en-GB" dirty="0"/>
              <a:t>"The government introduced a new policy in 2025."</a:t>
            </a:r>
          </a:p>
          <a:p>
            <a:r>
              <a:rPr lang="en-GB" dirty="0"/>
              <a:t>Author's viewpoint: </a:t>
            </a:r>
            <a:r>
              <a:rPr lang="en-GB" b="1" dirty="0"/>
              <a:t>Neutral</a:t>
            </a:r>
            <a:r>
              <a:rPr lang="en-GB" dirty="0"/>
              <a:t> — this is mainly a factual statement without obvious judgment.</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25</a:t>
            </a:fld>
            <a:endParaRPr lang="en-GB"/>
          </a:p>
        </p:txBody>
      </p:sp>
    </p:spTree>
    <p:extLst>
      <p:ext uri="{BB962C8B-B14F-4D97-AF65-F5344CB8AC3E}">
        <p14:creationId xmlns:p14="http://schemas.microsoft.com/office/powerpoint/2010/main" val="2294474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28</a:t>
            </a:fld>
            <a:endParaRPr lang="en-GB"/>
          </a:p>
        </p:txBody>
      </p:sp>
    </p:spTree>
    <p:extLst>
      <p:ext uri="{BB962C8B-B14F-4D97-AF65-F5344CB8AC3E}">
        <p14:creationId xmlns:p14="http://schemas.microsoft.com/office/powerpoint/2010/main" val="1080343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Let us see how we apply our skimming principles to this material. </a:t>
            </a:r>
          </a:p>
          <a:p>
            <a:r>
              <a:rPr lang="en-US" sz="1200" b="0" i="0" u="none" strike="noStrike" kern="1200" baseline="0" dirty="0">
                <a:solidFill>
                  <a:schemeClr val="tx1"/>
                </a:solidFill>
                <a:latin typeface="+mn-lt"/>
                <a:ea typeface="+mn-ea"/>
                <a:cs typeface="+mn-cs"/>
              </a:rPr>
              <a:t>The monthly pay check of a key executive, Porter says in paragraphs 1 and 2, is surprisingly small—but his cash salary is no indication of the actual financial setup. </a:t>
            </a:r>
          </a:p>
          <a:p>
            <a:r>
              <a:rPr lang="en-US" sz="1200" b="0" i="0" u="none" strike="noStrike" kern="1200" baseline="0" dirty="0">
                <a:solidFill>
                  <a:schemeClr val="tx1"/>
                </a:solidFill>
                <a:latin typeface="+mn-lt"/>
                <a:ea typeface="+mn-ea"/>
                <a:cs typeface="+mn-cs"/>
              </a:rPr>
              <a:t>All this is clearly central theme material, and you read most of it.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Then, from paragraphs 3 through 7, you skim by reading only opening lines, for this section of the article contains corroborating and illustrative details that support the statements made in the first two paragraphs.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opening lines of paragraphs 8 and 9 state that R.A. is no exception; you skip to paragraph 10, in which the central theme is extended— the fringe benefits, rather than the cash remuneration, keep executives tied to a corporation.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Paragraph 11 is a guidepost that alerts you to coming explanatory details, and these you pick up by skimming paragraphs 12 through 15, realizing, as you read, that these details for the most part are a repetition of those found in paragraphs 3-7.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In paragraphs 16 and 17 you recognize a recapitulation of the piece, including a restatement of the central theme,  and so you read more or less fully.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Thus, having read, in full, only paragraphs 1, 2, 10, 11, 16, and 17—six paragraphs out of seventeen—you have a clear understanding of what the author has said and of the pattern in which she has said it.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Fringe benefits, such as expense accounts, retirement programs, stock options, deferred bonuses, etc., are more the yardstick of remuneration to executives than their actual pay checks; and these keep the executives all but immune to offers from competitive corporations—this is the gist of the piece.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Central theme; supporting details; extension of the theme; more details; recapitulation—this is the structure of the author’s thinking, a structure to which you are keenly alert as you skim through the content.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What have you lost by partial skimming? A certain richness of detail and explanation, mainly, which you must expect to sacrifice whenever you skim—and very little else. If this richness were important to you, or if you had some special interest in every bit of information, no matter how minor, that the selection contained—why, then, of course, you would not skim it. </a:t>
            </a:r>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29</a:t>
            </a:fld>
            <a:endParaRPr lang="en-GB"/>
          </a:p>
        </p:txBody>
      </p:sp>
    </p:spTree>
    <p:extLst>
      <p:ext uri="{BB962C8B-B14F-4D97-AF65-F5344CB8AC3E}">
        <p14:creationId xmlns:p14="http://schemas.microsoft.com/office/powerpoint/2010/main" val="517584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Survey:</a:t>
            </a:r>
            <a:r>
              <a:rPr lang="en-GB" dirty="0"/>
              <a:t> What is this article probably about?</a:t>
            </a:r>
            <a:br>
              <a:rPr lang="en-GB" dirty="0"/>
            </a:br>
            <a:r>
              <a:rPr lang="en-GB" dirty="0"/>
              <a:t>↓</a:t>
            </a:r>
            <a:br>
              <a:rPr lang="en-GB" dirty="0"/>
            </a:br>
            <a:r>
              <a:rPr lang="en-GB" b="1" dirty="0"/>
              <a:t>Question:</a:t>
            </a:r>
            <a:r>
              <a:rPr lang="en-GB" dirty="0"/>
              <a:t> What is the author's main argument?</a:t>
            </a:r>
            <a:br>
              <a:rPr lang="en-GB" dirty="0"/>
            </a:br>
            <a:r>
              <a:rPr lang="en-GB" dirty="0"/>
              <a:t>↓</a:t>
            </a:r>
            <a:br>
              <a:rPr lang="en-GB" dirty="0"/>
            </a:br>
            <a:r>
              <a:rPr lang="en-GB" b="1" dirty="0"/>
              <a:t>Read:</a:t>
            </a:r>
            <a:r>
              <a:rPr lang="en-GB" dirty="0"/>
              <a:t> Find the claim, reasons and evidence.</a:t>
            </a:r>
            <a:br>
              <a:rPr lang="en-GB" dirty="0"/>
            </a:br>
            <a:r>
              <a:rPr lang="en-GB" dirty="0"/>
              <a:t>↓</a:t>
            </a:r>
            <a:br>
              <a:rPr lang="en-GB" dirty="0"/>
            </a:br>
            <a:r>
              <a:rPr lang="en-GB" b="1" dirty="0"/>
              <a:t>Recite:</a:t>
            </a:r>
            <a:r>
              <a:rPr lang="en-GB" dirty="0"/>
              <a:t> Explain the author's argument without looking at the text.</a:t>
            </a:r>
            <a:br>
              <a:rPr lang="en-GB" dirty="0"/>
            </a:br>
            <a:r>
              <a:rPr lang="en-GB" dirty="0"/>
              <a:t>↓</a:t>
            </a:r>
            <a:br>
              <a:rPr lang="en-GB" dirty="0"/>
            </a:br>
            <a:r>
              <a:rPr lang="en-GB" b="1" dirty="0"/>
              <a:t>Review:</a:t>
            </a:r>
            <a:r>
              <a:rPr lang="en-GB" dirty="0"/>
              <a:t> Is the argument convincing? What assumptions does the author make?</a:t>
            </a:r>
          </a:p>
        </p:txBody>
      </p:sp>
      <p:sp>
        <p:nvSpPr>
          <p:cNvPr id="4" name="Slide Number Placeholder 3"/>
          <p:cNvSpPr>
            <a:spLocks noGrp="1"/>
          </p:cNvSpPr>
          <p:nvPr>
            <p:ph type="sldNum" sz="quarter" idx="5"/>
          </p:nvPr>
        </p:nvSpPr>
        <p:spPr/>
        <p:txBody>
          <a:bodyPr/>
          <a:lstStyle/>
          <a:p>
            <a:fld id="{FD988CA6-E7AB-444F-8C7E-7177A6689493}" type="slidenum">
              <a:rPr lang="en-GB" smtClean="0"/>
              <a:t>32</a:t>
            </a:fld>
            <a:endParaRPr lang="en-GB"/>
          </a:p>
        </p:txBody>
      </p:sp>
    </p:spTree>
    <p:extLst>
      <p:ext uri="{BB962C8B-B14F-4D97-AF65-F5344CB8AC3E}">
        <p14:creationId xmlns:p14="http://schemas.microsoft.com/office/powerpoint/2010/main" val="2932360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 — SURVEY 👀</a:t>
            </a:r>
          </a:p>
          <a:p>
            <a:r>
              <a:rPr lang="en-GB" dirty="0"/>
              <a:t>Before reading, students look at the </a:t>
            </a:r>
            <a:r>
              <a:rPr lang="en-GB" b="1" dirty="0"/>
              <a:t>title</a:t>
            </a:r>
            <a:r>
              <a:rPr lang="en-GB" dirty="0"/>
              <a:t> and </a:t>
            </a:r>
            <a:r>
              <a:rPr lang="en-GB" b="1" dirty="0"/>
              <a:t>four paragraphs</a:t>
            </a:r>
            <a:r>
              <a:rPr lang="en-GB" dirty="0"/>
              <a:t>.</a:t>
            </a:r>
          </a:p>
          <a:p>
            <a:r>
              <a:rPr lang="en-GB" dirty="0"/>
              <a:t>Ask:</a:t>
            </a:r>
          </a:p>
          <a:p>
            <a:pPr lvl="0"/>
            <a:r>
              <a:rPr lang="en-GB" dirty="0"/>
              <a:t>What problem is likely to be discussed? </a:t>
            </a:r>
          </a:p>
          <a:p>
            <a:pPr lvl="0"/>
            <a:r>
              <a:rPr lang="en-GB" dirty="0"/>
              <a:t>What causes the problem? </a:t>
            </a:r>
          </a:p>
          <a:p>
            <a:pPr lvl="0"/>
            <a:r>
              <a:rPr lang="en-GB" dirty="0"/>
              <a:t>Will the author present only one side? </a:t>
            </a:r>
          </a:p>
          <a:p>
            <a:r>
              <a:rPr lang="en-GB" b="1" dirty="0"/>
              <a:t>Q — QUESTION ❓</a:t>
            </a:r>
          </a:p>
          <a:p>
            <a:r>
              <a:rPr lang="en-GB" dirty="0"/>
              <a:t>Students create questions such as:</a:t>
            </a:r>
          </a:p>
          <a:p>
            <a:pPr lvl="0"/>
            <a:r>
              <a:rPr lang="en-GB" dirty="0"/>
              <a:t>Why are forests important? </a:t>
            </a:r>
          </a:p>
          <a:p>
            <a:pPr lvl="0"/>
            <a:r>
              <a:rPr lang="en-GB" dirty="0"/>
              <a:t>What happens when forests disappear? </a:t>
            </a:r>
          </a:p>
          <a:p>
            <a:pPr lvl="0"/>
            <a:r>
              <a:rPr lang="en-GB" dirty="0"/>
              <a:t>Why do people continue to cut down forests? </a:t>
            </a:r>
          </a:p>
          <a:p>
            <a:pPr lvl="0"/>
            <a:r>
              <a:rPr lang="en-GB" dirty="0"/>
              <a:t>Is economic development necessarily opposed to environmental protection? </a:t>
            </a:r>
          </a:p>
          <a:p>
            <a:pPr lvl="0"/>
            <a:r>
              <a:rPr lang="en-GB" dirty="0"/>
              <a:t>What solutions does the author suggest? </a:t>
            </a:r>
          </a:p>
          <a:p>
            <a:r>
              <a:rPr lang="en-GB" b="1" dirty="0"/>
              <a:t>R — READ 📖</a:t>
            </a:r>
          </a:p>
          <a:p>
            <a:r>
              <a:rPr lang="en-GB" dirty="0"/>
              <a:t>While reading, identify:</a:t>
            </a:r>
          </a:p>
          <a:p>
            <a:r>
              <a:rPr lang="en-GB" b="1" dirty="0"/>
              <a:t>Main idea → Causes → Effects → Different viewpoints → Solutions → Author's conclusion</a:t>
            </a:r>
            <a:endParaRPr lang="en-GB" dirty="0"/>
          </a:p>
          <a:p>
            <a:r>
              <a:rPr lang="en-GB" b="1" dirty="0"/>
              <a:t>R — RECITE / RECALL 🗣️</a:t>
            </a:r>
          </a:p>
          <a:p>
            <a:r>
              <a:rPr lang="en-GB" dirty="0"/>
              <a:t>Close the passage and complete:</a:t>
            </a:r>
          </a:p>
          <a:p>
            <a:r>
              <a:rPr lang="en-GB" b="1" dirty="0"/>
              <a:t>Forests are important because ____________. Deforestation can lead to ____________. Although people need natural resources for ____________, the author suggests that ____________.</a:t>
            </a:r>
            <a:endParaRPr lang="en-GB" dirty="0"/>
          </a:p>
          <a:p>
            <a:r>
              <a:rPr lang="en-GB" b="1" dirty="0"/>
              <a:t>R — REVIEW 🔄</a:t>
            </a:r>
          </a:p>
          <a:p>
            <a:pPr lvl="0"/>
            <a:r>
              <a:rPr lang="en-GB" dirty="0"/>
              <a:t>What is the </a:t>
            </a:r>
            <a:r>
              <a:rPr lang="en-GB" b="1" dirty="0"/>
              <a:t>central argument</a:t>
            </a:r>
            <a:r>
              <a:rPr lang="en-GB" dirty="0"/>
              <a:t>? </a:t>
            </a:r>
          </a:p>
          <a:p>
            <a:pPr lvl="0"/>
            <a:r>
              <a:rPr lang="en-GB" dirty="0"/>
              <a:t>Give </a:t>
            </a:r>
            <a:r>
              <a:rPr lang="en-GB" b="1" dirty="0"/>
              <a:t>three ecological benefits</a:t>
            </a:r>
            <a:r>
              <a:rPr lang="en-GB" dirty="0"/>
              <a:t> of forests. </a:t>
            </a:r>
          </a:p>
          <a:p>
            <a:pPr lvl="0"/>
            <a:r>
              <a:rPr lang="en-GB" dirty="0"/>
              <a:t>What are </a:t>
            </a:r>
            <a:r>
              <a:rPr lang="en-GB" b="1" dirty="0"/>
              <a:t>two consequences</a:t>
            </a:r>
            <a:r>
              <a:rPr lang="en-GB" dirty="0"/>
              <a:t> of deforestation? </a:t>
            </a:r>
          </a:p>
          <a:p>
            <a:pPr lvl="0"/>
            <a:r>
              <a:rPr lang="en-GB" dirty="0"/>
              <a:t>Why might some people support continued use of forest resources? </a:t>
            </a:r>
          </a:p>
          <a:p>
            <a:pPr lvl="0"/>
            <a:r>
              <a:rPr lang="en-GB" dirty="0"/>
              <a:t>What does the author mean by </a:t>
            </a:r>
            <a:r>
              <a:rPr lang="en-GB" b="1" dirty="0"/>
              <a:t>“long-term thinking”</a:t>
            </a:r>
            <a:r>
              <a:rPr lang="en-GB" dirty="0"/>
              <a:t>? </a:t>
            </a:r>
          </a:p>
          <a:p>
            <a:pPr lvl="0"/>
            <a:r>
              <a:rPr lang="en-GB" dirty="0"/>
              <a:t>What solutions are suggested? </a:t>
            </a:r>
          </a:p>
          <a:p>
            <a:pPr lvl="0"/>
            <a:r>
              <a:rPr lang="en-GB" dirty="0"/>
              <a:t>What is the </a:t>
            </a:r>
            <a:r>
              <a:rPr lang="en-GB" b="1" dirty="0"/>
              <a:t>author's viewpoint</a:t>
            </a:r>
            <a:r>
              <a:rPr lang="en-GB" dirty="0"/>
              <a:t>? </a:t>
            </a:r>
          </a:p>
          <a:p>
            <a:pPr lvl="0"/>
            <a:r>
              <a:rPr lang="en-GB" dirty="0"/>
              <a:t>Is the author </a:t>
            </a:r>
            <a:r>
              <a:rPr lang="en-GB" b="1" dirty="0"/>
              <a:t>strongly against economic development</a:t>
            </a:r>
            <a:r>
              <a:rPr lang="en-GB" dirty="0"/>
              <a:t>, or does the author take a </a:t>
            </a:r>
            <a:r>
              <a:rPr lang="en-GB" b="1" dirty="0"/>
              <a:t>balanced position</a:t>
            </a:r>
            <a:r>
              <a:rPr lang="en-GB" dirty="0"/>
              <a:t>?</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33</a:t>
            </a:fld>
            <a:endParaRPr lang="en-GB"/>
          </a:p>
        </p:txBody>
      </p:sp>
    </p:spTree>
    <p:extLst>
      <p:ext uri="{BB962C8B-B14F-4D97-AF65-F5344CB8AC3E}">
        <p14:creationId xmlns:p14="http://schemas.microsoft.com/office/powerpoint/2010/main" val="10907892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1" dirty="0"/>
              <a:t>Earlier passage </a:t>
            </a:r>
          </a:p>
          <a:p>
            <a:pPr>
              <a:buNone/>
            </a:pPr>
            <a:r>
              <a:rPr lang="en-GB" b="1" dirty="0"/>
              <a:t>CLAIM -  Human needs should be met without destroying the ecological systems on which those needs depend.</a:t>
            </a:r>
          </a:p>
          <a:p>
            <a:pPr>
              <a:buNone/>
            </a:pPr>
            <a:r>
              <a:rPr lang="en-GB" b="1" dirty="0"/>
              <a:t>REASON - </a:t>
            </a:r>
            <a:r>
              <a:rPr lang="en-GB" dirty="0"/>
              <a:t>Forests provide essential ecological and economic benefits.</a:t>
            </a:r>
          </a:p>
          <a:p>
            <a:pPr>
              <a:buNone/>
            </a:pPr>
            <a:r>
              <a:rPr lang="en-GB" b="1" dirty="0"/>
              <a:t>EXAMPLES / EVIDENCE - </a:t>
            </a:r>
            <a:r>
              <a:rPr lang="en-GB" dirty="0"/>
              <a:t>Forests regulate water, protect soil, store carbon, provide habitats, and support livelihoods.</a:t>
            </a:r>
          </a:p>
          <a:p>
            <a:pPr>
              <a:buNone/>
            </a:pPr>
            <a:r>
              <a:rPr lang="en-GB" b="1" dirty="0"/>
              <a:t>EXPLANATION - </a:t>
            </a:r>
            <a:r>
              <a:rPr lang="en-GB" dirty="0"/>
              <a:t>If forests are destroyed, the resulting ecological damage can eventually undermine the very human needs that economic development is supposed to satisfy.</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34</a:t>
            </a:fld>
            <a:endParaRPr lang="en-GB"/>
          </a:p>
        </p:txBody>
      </p:sp>
    </p:spTree>
    <p:extLst>
      <p:ext uri="{BB962C8B-B14F-4D97-AF65-F5344CB8AC3E}">
        <p14:creationId xmlns:p14="http://schemas.microsoft.com/office/powerpoint/2010/main" val="21490815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sz="1200" b="0" i="0" dirty="0">
                <a:solidFill>
                  <a:srgbClr val="000000"/>
                </a:solidFill>
                <a:effectLst/>
                <a:latin typeface="Times-Roman"/>
              </a:rPr>
              <a:t>1. By counteracting damage through constructive action, or by engaging in some useful activity.</a:t>
            </a:r>
          </a:p>
          <a:p>
            <a:pPr>
              <a:buNone/>
            </a:pPr>
            <a:r>
              <a:rPr lang="en-GB" sz="1200" b="0" i="0" dirty="0">
                <a:solidFill>
                  <a:srgbClr val="000000"/>
                </a:solidFill>
                <a:effectLst/>
                <a:latin typeface="Times-Roman"/>
              </a:rPr>
              <a:t>2. Release of the tension (or draining off of the excess energy) produced by anger.</a:t>
            </a:r>
          </a:p>
          <a:p>
            <a:pPr>
              <a:buNone/>
            </a:pPr>
            <a:r>
              <a:rPr lang="en-GB" sz="1200" b="0" i="0" dirty="0">
                <a:solidFill>
                  <a:srgbClr val="000000"/>
                </a:solidFill>
                <a:effectLst/>
                <a:latin typeface="Times-Roman"/>
              </a:rPr>
              <a:t>3. Relieves his guilt or remorse.</a:t>
            </a:r>
          </a:p>
          <a:p>
            <a:pPr>
              <a:buNone/>
            </a:pPr>
            <a:r>
              <a:rPr lang="en-GB" sz="1200" b="0" i="0" dirty="0">
                <a:solidFill>
                  <a:srgbClr val="000000"/>
                </a:solidFill>
                <a:effectLst/>
                <a:latin typeface="Times-Roman"/>
              </a:rPr>
              <a:t>4. Flooding of the body with energy by the adrenal glands.</a:t>
            </a:r>
          </a:p>
          <a:p>
            <a:pPr>
              <a:buNone/>
            </a:pPr>
            <a:endParaRPr lang="en-GB" sz="1200" b="0" i="0" dirty="0">
              <a:solidFill>
                <a:srgbClr val="000000"/>
              </a:solidFill>
              <a:effectLst/>
              <a:latin typeface="Times-Roman"/>
            </a:endParaRPr>
          </a:p>
          <a:p>
            <a:pPr>
              <a:buNone/>
            </a:pPr>
            <a:r>
              <a:rPr lang="en-GB" sz="1100" b="0" i="0" dirty="0">
                <a:solidFill>
                  <a:srgbClr val="000000"/>
                </a:solidFill>
                <a:effectLst/>
                <a:latin typeface="Times-Roman"/>
              </a:rPr>
              <a:t>DISCUSSION</a:t>
            </a:r>
          </a:p>
          <a:p>
            <a:pPr>
              <a:buNone/>
            </a:pPr>
            <a:r>
              <a:rPr lang="en-GB" sz="1200" b="0" i="0" dirty="0">
                <a:solidFill>
                  <a:srgbClr val="000000"/>
                </a:solidFill>
                <a:effectLst/>
                <a:latin typeface="Times-Roman"/>
              </a:rPr>
              <a:t>After some introductory material, Dr. Greene foreshadows his main point toward the end of paragraph 1, expresses it completely in paragraph 3, and pounds it home again in the final paragraph. The three important details queried in the test (what we seek when we retaliate, how retaliation affects the other person, and what anger does to our physiology) all explain the reasoning behind the author’s central thought.</a:t>
            </a:r>
            <a:r>
              <a:rPr lang="en-GB" dirty="0"/>
              <a:t> </a:t>
            </a:r>
            <a:br>
              <a:rPr lang="en-GB" dirty="0"/>
            </a:br>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35</a:t>
            </a:fld>
            <a:endParaRPr lang="en-GB"/>
          </a:p>
        </p:txBody>
      </p:sp>
    </p:spTree>
    <p:extLst>
      <p:ext uri="{BB962C8B-B14F-4D97-AF65-F5344CB8AC3E}">
        <p14:creationId xmlns:p14="http://schemas.microsoft.com/office/powerpoint/2010/main" val="27194320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CLAIM</a:t>
            </a:r>
            <a:r>
              <a:rPr lang="en-GB" dirty="0"/>
              <a:t> → What is the writer saying?</a:t>
            </a:r>
          </a:p>
          <a:p>
            <a:r>
              <a:rPr lang="en-GB" b="1" dirty="0"/>
              <a:t>REASON</a:t>
            </a:r>
            <a:r>
              <a:rPr lang="en-GB" dirty="0"/>
              <a:t> → Why does the writer believe it?</a:t>
            </a:r>
          </a:p>
          <a:p>
            <a:r>
              <a:rPr lang="en-GB" b="1" dirty="0"/>
              <a:t>EXAMPLE</a:t>
            </a:r>
            <a:r>
              <a:rPr lang="en-GB" dirty="0"/>
              <a:t> → What illustrates the point?</a:t>
            </a:r>
          </a:p>
          <a:p>
            <a:r>
              <a:rPr lang="en-GB" b="1" dirty="0"/>
              <a:t>EXPLANATION</a:t>
            </a:r>
            <a:r>
              <a:rPr lang="en-GB" dirty="0"/>
              <a:t> → How does the example support the claim?</a:t>
            </a:r>
          </a:p>
          <a:p>
            <a:endParaRPr lang="en-GB" dirty="0"/>
          </a:p>
          <a:p>
            <a:r>
              <a:rPr lang="en-GB" b="1" dirty="0"/>
              <a:t>Students identify:</a:t>
            </a:r>
          </a:p>
          <a:p>
            <a:pPr lvl="0"/>
            <a:r>
              <a:rPr lang="en-GB" b="1" dirty="0"/>
              <a:t>Claim:</a:t>
            </a:r>
            <a:r>
              <a:rPr lang="en-GB" dirty="0"/>
              <a:t> Universities should encourage students to walk. </a:t>
            </a:r>
          </a:p>
          <a:p>
            <a:pPr lvl="0"/>
            <a:r>
              <a:rPr lang="en-GB" b="1" dirty="0"/>
              <a:t>Reason:</a:t>
            </a:r>
            <a:r>
              <a:rPr lang="en-GB" dirty="0"/>
              <a:t> Walking provides physical activity during a busy day. </a:t>
            </a:r>
          </a:p>
          <a:p>
            <a:pPr lvl="0"/>
            <a:r>
              <a:rPr lang="en-GB" b="1" dirty="0"/>
              <a:t>Example:</a:t>
            </a:r>
            <a:r>
              <a:rPr lang="en-GB" dirty="0"/>
              <a:t> Students accumulate activity while moving around campus. </a:t>
            </a:r>
          </a:p>
          <a:p>
            <a:pPr lvl="0"/>
            <a:r>
              <a:rPr lang="en-GB" b="1" dirty="0"/>
              <a:t>Explanation:</a:t>
            </a:r>
            <a:r>
              <a:rPr lang="en-GB" dirty="0"/>
              <a:t> Walking uses an activity students already have to do.</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36</a:t>
            </a:fld>
            <a:endParaRPr lang="en-GB"/>
          </a:p>
        </p:txBody>
      </p:sp>
    </p:spTree>
    <p:extLst>
      <p:ext uri="{BB962C8B-B14F-4D97-AF65-F5344CB8AC3E}">
        <p14:creationId xmlns:p14="http://schemas.microsoft.com/office/powerpoint/2010/main" val="2258922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Claim? </a:t>
            </a:r>
          </a:p>
          <a:p>
            <a:endParaRPr lang="en-GB" dirty="0"/>
          </a:p>
          <a:p>
            <a:r>
              <a:rPr lang="en-GB" dirty="0"/>
              <a:t>Fact - Claim that asserts some empirical truth. Careful observation</a:t>
            </a:r>
          </a:p>
          <a:p>
            <a:endParaRPr lang="en-GB" dirty="0"/>
          </a:p>
          <a:p>
            <a:r>
              <a:rPr lang="en-GB" dirty="0"/>
              <a:t>Children are common victims of bullying on social media</a:t>
            </a:r>
          </a:p>
          <a:p>
            <a:endParaRPr lang="en-GB" dirty="0"/>
          </a:p>
          <a:p>
            <a:r>
              <a:rPr lang="en-GB" dirty="0"/>
              <a:t>Judgement of some sort – claim-based preferences or likes or dislikes </a:t>
            </a:r>
          </a:p>
          <a:p>
            <a:r>
              <a:rPr lang="en-GB" dirty="0"/>
              <a:t>Washing hands is the better way to keep ourselves healthy </a:t>
            </a:r>
          </a:p>
          <a:p>
            <a:r>
              <a:rPr lang="en-GB" dirty="0"/>
              <a:t>Drug abuse is not an option if you have problems</a:t>
            </a:r>
          </a:p>
          <a:p>
            <a:endParaRPr lang="en-GB" dirty="0"/>
          </a:p>
          <a:p>
            <a:r>
              <a:rPr lang="en-GB" dirty="0"/>
              <a:t>Claim of action</a:t>
            </a:r>
          </a:p>
          <a:p>
            <a:r>
              <a:rPr lang="en-GB" dirty="0"/>
              <a:t>An action should be taken</a:t>
            </a:r>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37</a:t>
            </a:fld>
            <a:endParaRPr lang="en-GB"/>
          </a:p>
        </p:txBody>
      </p:sp>
    </p:spTree>
    <p:extLst>
      <p:ext uri="{BB962C8B-B14F-4D97-AF65-F5344CB8AC3E}">
        <p14:creationId xmlns:p14="http://schemas.microsoft.com/office/powerpoint/2010/main" val="374383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u="none" strike="noStrike" kern="1200" dirty="0">
                <a:solidFill>
                  <a:schemeClr val="tx1"/>
                </a:solidFill>
                <a:effectLst/>
                <a:latin typeface="+mn-lt"/>
                <a:ea typeface="+mn-ea"/>
                <a:cs typeface="+mn-cs"/>
              </a:rPr>
              <a:t>To Inform:</a:t>
            </a:r>
            <a:r>
              <a:rPr lang="en-GB" sz="1200" b="0" u="none" strike="noStrike" kern="1200" dirty="0">
                <a:solidFill>
                  <a:schemeClr val="tx1"/>
                </a:solidFill>
                <a:effectLst/>
                <a:latin typeface="+mn-lt"/>
                <a:ea typeface="+mn-ea"/>
                <a:cs typeface="+mn-cs"/>
              </a:rPr>
              <a:t> To teach, explain, or give facts (e.g., textbooks, news reports, recipes).</a:t>
            </a:r>
          </a:p>
          <a:p>
            <a:pPr lvl="0"/>
            <a:r>
              <a:rPr lang="en-GB" sz="1200" b="1" u="none" strike="noStrike" kern="1200" dirty="0">
                <a:solidFill>
                  <a:schemeClr val="tx1"/>
                </a:solidFill>
                <a:effectLst/>
                <a:latin typeface="+mn-lt"/>
                <a:ea typeface="+mn-ea"/>
                <a:cs typeface="+mn-cs"/>
              </a:rPr>
              <a:t>To Persuade:</a:t>
            </a:r>
            <a:r>
              <a:rPr lang="en-GB" sz="1200" b="0" u="none" strike="noStrike" kern="1200" dirty="0">
                <a:solidFill>
                  <a:schemeClr val="tx1"/>
                </a:solidFill>
                <a:effectLst/>
                <a:latin typeface="+mn-lt"/>
                <a:ea typeface="+mn-ea"/>
                <a:cs typeface="+mn-cs"/>
              </a:rPr>
              <a:t> To convince the reader to believe something or take action (e.g., advertisements, opinion articles).</a:t>
            </a:r>
          </a:p>
          <a:p>
            <a:pPr lvl="0"/>
            <a:r>
              <a:rPr lang="en-GB" sz="1200" b="1" u="none" strike="noStrike" kern="1200" dirty="0">
                <a:solidFill>
                  <a:schemeClr val="tx1"/>
                </a:solidFill>
                <a:effectLst/>
                <a:latin typeface="+mn-lt"/>
                <a:ea typeface="+mn-ea"/>
                <a:cs typeface="+mn-cs"/>
              </a:rPr>
              <a:t>To Entertain:</a:t>
            </a:r>
            <a:r>
              <a:rPr lang="en-GB" sz="1200" b="0" u="none" strike="noStrike" kern="1200" dirty="0">
                <a:solidFill>
                  <a:schemeClr val="tx1"/>
                </a:solidFill>
                <a:effectLst/>
                <a:latin typeface="+mn-lt"/>
                <a:ea typeface="+mn-ea"/>
                <a:cs typeface="+mn-cs"/>
              </a:rPr>
              <a:t> To amuse or tell an engaging story (e.g., novels, poems, humorous blogs)</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40</a:t>
            </a:fld>
            <a:endParaRPr lang="en-GB"/>
          </a:p>
        </p:txBody>
      </p:sp>
    </p:spTree>
    <p:extLst>
      <p:ext uri="{BB962C8B-B14F-4D97-AF65-F5344CB8AC3E}">
        <p14:creationId xmlns:p14="http://schemas.microsoft.com/office/powerpoint/2010/main" val="28341298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41</a:t>
            </a:fld>
            <a:endParaRPr lang="en-GB"/>
          </a:p>
        </p:txBody>
      </p:sp>
    </p:spTree>
    <p:extLst>
      <p:ext uri="{BB962C8B-B14F-4D97-AF65-F5344CB8AC3E}">
        <p14:creationId xmlns:p14="http://schemas.microsoft.com/office/powerpoint/2010/main" val="30093154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43</a:t>
            </a:fld>
            <a:endParaRPr lang="en-GB"/>
          </a:p>
        </p:txBody>
      </p:sp>
    </p:spTree>
    <p:extLst>
      <p:ext uri="{BB962C8B-B14F-4D97-AF65-F5344CB8AC3E}">
        <p14:creationId xmlns:p14="http://schemas.microsoft.com/office/powerpoint/2010/main" val="17032478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Cause signals</a:t>
            </a:r>
          </a:p>
          <a:p>
            <a:pPr lvl="0"/>
            <a:r>
              <a:rPr lang="en-GB" dirty="0"/>
              <a:t>because </a:t>
            </a:r>
          </a:p>
          <a:p>
            <a:pPr lvl="0"/>
            <a:r>
              <a:rPr lang="en-GB" dirty="0"/>
              <a:t>since </a:t>
            </a:r>
          </a:p>
          <a:p>
            <a:pPr lvl="0"/>
            <a:r>
              <a:rPr lang="en-GB" dirty="0"/>
              <a:t>owing to </a:t>
            </a:r>
          </a:p>
          <a:p>
            <a:pPr lvl="0"/>
            <a:r>
              <a:rPr lang="en-GB" dirty="0"/>
              <a:t>due to </a:t>
            </a:r>
          </a:p>
          <a:p>
            <a:pPr lvl="0"/>
            <a:r>
              <a:rPr lang="en-GB" dirty="0"/>
              <a:t>as </a:t>
            </a:r>
          </a:p>
          <a:p>
            <a:pPr lvl="0"/>
            <a:r>
              <a:rPr lang="en-GB" dirty="0"/>
              <a:t>because of </a:t>
            </a:r>
          </a:p>
          <a:p>
            <a:pPr lvl="0"/>
            <a:r>
              <a:rPr lang="en-GB" dirty="0"/>
              <a:t>stems from </a:t>
            </a:r>
          </a:p>
          <a:p>
            <a:pPr lvl="0"/>
            <a:r>
              <a:rPr lang="en-GB" dirty="0"/>
              <a:t>results from </a:t>
            </a:r>
          </a:p>
          <a:p>
            <a:pPr lvl="0"/>
            <a:r>
              <a:rPr lang="en-GB" dirty="0"/>
              <a:t>is caused by </a:t>
            </a:r>
          </a:p>
          <a:p>
            <a:r>
              <a:rPr lang="en-GB" b="1" dirty="0"/>
              <a:t>Effect signals</a:t>
            </a:r>
          </a:p>
          <a:p>
            <a:pPr lvl="0"/>
            <a:r>
              <a:rPr lang="en-GB" dirty="0"/>
              <a:t>therefore </a:t>
            </a:r>
          </a:p>
          <a:p>
            <a:pPr lvl="0"/>
            <a:r>
              <a:rPr lang="en-GB" dirty="0"/>
              <a:t>thus </a:t>
            </a:r>
          </a:p>
          <a:p>
            <a:pPr lvl="0"/>
            <a:r>
              <a:rPr lang="en-GB" dirty="0"/>
              <a:t>hence </a:t>
            </a:r>
          </a:p>
          <a:p>
            <a:pPr lvl="0"/>
            <a:r>
              <a:rPr lang="en-GB" dirty="0"/>
              <a:t>consequently </a:t>
            </a:r>
          </a:p>
          <a:p>
            <a:pPr lvl="0"/>
            <a:r>
              <a:rPr lang="en-GB" dirty="0"/>
              <a:t>as a result </a:t>
            </a:r>
          </a:p>
          <a:p>
            <a:pPr lvl="0"/>
            <a:r>
              <a:rPr lang="en-GB" dirty="0"/>
              <a:t>so </a:t>
            </a:r>
          </a:p>
          <a:p>
            <a:pPr lvl="0"/>
            <a:r>
              <a:rPr lang="en-GB" dirty="0"/>
              <a:t>leads to </a:t>
            </a:r>
          </a:p>
          <a:p>
            <a:pPr lvl="0"/>
            <a:r>
              <a:rPr lang="en-GB" dirty="0"/>
              <a:t>results in </a:t>
            </a:r>
          </a:p>
          <a:p>
            <a:pPr lvl="0"/>
            <a:r>
              <a:rPr lang="en-GB" dirty="0"/>
              <a:t>causes </a:t>
            </a:r>
          </a:p>
          <a:p>
            <a:pPr lvl="0"/>
            <a:r>
              <a:rPr lang="en-GB" dirty="0"/>
              <a:t>produces </a:t>
            </a:r>
          </a:p>
          <a:p>
            <a:pPr lvl="0"/>
            <a:r>
              <a:rPr lang="en-GB" dirty="0"/>
              <a:t>contributes t</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44</a:t>
            </a:fld>
            <a:endParaRPr lang="en-GB"/>
          </a:p>
        </p:txBody>
      </p:sp>
    </p:spTree>
    <p:extLst>
      <p:ext uri="{BB962C8B-B14F-4D97-AF65-F5344CB8AC3E}">
        <p14:creationId xmlns:p14="http://schemas.microsoft.com/office/powerpoint/2010/main" val="38870471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 </a:t>
            </a:r>
            <a:r>
              <a:rPr lang="en-IN" dirty="0" err="1"/>
              <a:t>C</a:t>
            </a:r>
            <a:endParaRPr lang="en-IN" dirty="0"/>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45</a:t>
            </a:fld>
            <a:endParaRPr lang="en-GB"/>
          </a:p>
        </p:txBody>
      </p:sp>
    </p:spTree>
    <p:extLst>
      <p:ext uri="{BB962C8B-B14F-4D97-AF65-F5344CB8AC3E}">
        <p14:creationId xmlns:p14="http://schemas.microsoft.com/office/powerpoint/2010/main" val="36702526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46</a:t>
            </a:fld>
            <a:endParaRPr lang="en-GB"/>
          </a:p>
        </p:txBody>
      </p:sp>
    </p:spTree>
    <p:extLst>
      <p:ext uri="{BB962C8B-B14F-4D97-AF65-F5344CB8AC3E}">
        <p14:creationId xmlns:p14="http://schemas.microsoft.com/office/powerpoint/2010/main" val="42581484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 </a:t>
            </a:r>
            <a:r>
              <a:rPr lang="en-IN" dirty="0" err="1"/>
              <a:t>B</a:t>
            </a:r>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47</a:t>
            </a:fld>
            <a:endParaRPr lang="en-GB"/>
          </a:p>
        </p:txBody>
      </p:sp>
    </p:spTree>
    <p:extLst>
      <p:ext uri="{BB962C8B-B14F-4D97-AF65-F5344CB8AC3E}">
        <p14:creationId xmlns:p14="http://schemas.microsoft.com/office/powerpoint/2010/main" val="22130551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48</a:t>
            </a:fld>
            <a:endParaRPr lang="en-GB"/>
          </a:p>
        </p:txBody>
      </p:sp>
    </p:spTree>
    <p:extLst>
      <p:ext uri="{BB962C8B-B14F-4D97-AF65-F5344CB8AC3E}">
        <p14:creationId xmlns:p14="http://schemas.microsoft.com/office/powerpoint/2010/main" val="11764929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Author's attitude:</a:t>
            </a:r>
            <a:r>
              <a:rPr lang="en-GB" dirty="0"/>
              <a:t> Analytical and balanced</a:t>
            </a:r>
            <a:br>
              <a:rPr lang="en-GB" dirty="0"/>
            </a:br>
            <a:r>
              <a:rPr lang="en-GB" b="1" dirty="0"/>
              <a:t>Author's purpose:</a:t>
            </a:r>
            <a:r>
              <a:rPr lang="en-GB" dirty="0"/>
              <a:t> To inform/explain</a:t>
            </a:r>
            <a:br>
              <a:rPr lang="en-GB" dirty="0"/>
            </a:br>
            <a:r>
              <a:rPr lang="en-GB" b="1" dirty="0"/>
              <a:t>Tone:</a:t>
            </a:r>
            <a:r>
              <a:rPr lang="en-GB" dirty="0"/>
              <a:t> Academic, measured, cautious</a:t>
            </a:r>
          </a:p>
        </p:txBody>
      </p:sp>
      <p:sp>
        <p:nvSpPr>
          <p:cNvPr id="4" name="Slide Number Placeholder 3"/>
          <p:cNvSpPr>
            <a:spLocks noGrp="1"/>
          </p:cNvSpPr>
          <p:nvPr>
            <p:ph type="sldNum" sz="quarter" idx="5"/>
          </p:nvPr>
        </p:nvSpPr>
        <p:spPr/>
        <p:txBody>
          <a:bodyPr/>
          <a:lstStyle/>
          <a:p>
            <a:fld id="{FD988CA6-E7AB-444F-8C7E-7177A6689493}" type="slidenum">
              <a:rPr lang="en-GB" smtClean="0"/>
              <a:t>49</a:t>
            </a:fld>
            <a:endParaRPr lang="en-GB"/>
          </a:p>
        </p:txBody>
      </p:sp>
    </p:spTree>
    <p:extLst>
      <p:ext uri="{BB962C8B-B14F-4D97-AF65-F5344CB8AC3E}">
        <p14:creationId xmlns:p14="http://schemas.microsoft.com/office/powerpoint/2010/main" val="19161045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ground becomes slippery only when it rains </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50</a:t>
            </a:fld>
            <a:endParaRPr lang="en-GB"/>
          </a:p>
        </p:txBody>
      </p:sp>
    </p:spTree>
    <p:extLst>
      <p:ext uri="{BB962C8B-B14F-4D97-AF65-F5344CB8AC3E}">
        <p14:creationId xmlns:p14="http://schemas.microsoft.com/office/powerpoint/2010/main" val="23862587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51</a:t>
            </a:fld>
            <a:endParaRPr lang="en-GB"/>
          </a:p>
        </p:txBody>
      </p:sp>
    </p:spTree>
    <p:extLst>
      <p:ext uri="{BB962C8B-B14F-4D97-AF65-F5344CB8AC3E}">
        <p14:creationId xmlns:p14="http://schemas.microsoft.com/office/powerpoint/2010/main" val="17379766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man lives on the 10th floor of a building. Every morning, he takes the elevator from the 10th floor to the ground floor and goes to work.</a:t>
            </a:r>
          </a:p>
          <a:p>
            <a:r>
              <a:rPr lang="en-GB" dirty="0"/>
              <a:t>When he returns in the evening, he takes the elevator up to the 7th floor and then walks up the stairs to the 10th floor.</a:t>
            </a:r>
          </a:p>
          <a:p>
            <a:r>
              <a:rPr lang="en-GB" dirty="0"/>
              <a:t>However, when it is raining, he takes the elevator directly to the 10th floor.</a:t>
            </a:r>
          </a:p>
          <a:p>
            <a:r>
              <a:rPr lang="en-GB" b="1" dirty="0"/>
              <a:t>Why?</a:t>
            </a:r>
            <a:endParaRPr lang="en-GB" dirty="0"/>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52</a:t>
            </a:fld>
            <a:endParaRPr lang="en-GB"/>
          </a:p>
        </p:txBody>
      </p:sp>
    </p:spTree>
    <p:extLst>
      <p:ext uri="{BB962C8B-B14F-4D97-AF65-F5344CB8AC3E}">
        <p14:creationId xmlns:p14="http://schemas.microsoft.com/office/powerpoint/2010/main" val="37813447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dirty="0"/>
              <a:t>Assumption</a:t>
            </a:r>
          </a:p>
          <a:p>
            <a:pPr>
              <a:buNone/>
            </a:pPr>
            <a:r>
              <a:rPr lang="en-GB" dirty="0"/>
              <a:t>Valid / Invalid</a:t>
            </a:r>
          </a:p>
          <a:p>
            <a:pPr>
              <a:buNone/>
            </a:pPr>
            <a:r>
              <a:rPr lang="en-GB" dirty="0"/>
              <a:t>Why?</a:t>
            </a:r>
          </a:p>
          <a:p>
            <a:pPr>
              <a:buNone/>
            </a:pPr>
            <a:endParaRPr lang="en-GB" dirty="0"/>
          </a:p>
          <a:p>
            <a:pPr>
              <a:buNone/>
            </a:pPr>
            <a:r>
              <a:rPr lang="en-GB" dirty="0"/>
              <a:t>The man lives on the 10th floor. </a:t>
            </a:r>
            <a:r>
              <a:rPr lang="en-GB" b="1" dirty="0"/>
              <a:t>Valid </a:t>
            </a:r>
            <a:r>
              <a:rPr lang="en-GB" dirty="0"/>
              <a:t>Explicitly stated. Strictly speaking, this is a </a:t>
            </a:r>
            <a:r>
              <a:rPr lang="en-GB" b="1" dirty="0"/>
              <a:t>fact</a:t>
            </a:r>
            <a:r>
              <a:rPr lang="en-GB" dirty="0"/>
              <a:t>, not an assumption.</a:t>
            </a:r>
          </a:p>
          <a:p>
            <a:pPr>
              <a:buNone/>
            </a:pPr>
            <a:endParaRPr lang="en-GB" dirty="0"/>
          </a:p>
          <a:p>
            <a:pPr>
              <a:buNone/>
            </a:pPr>
            <a:r>
              <a:rPr lang="en-GB" dirty="0"/>
              <a:t>The man works somewhere outside the building. </a:t>
            </a:r>
            <a:r>
              <a:rPr lang="en-GB" b="1" dirty="0"/>
              <a:t>Reasonable/valid inference </a:t>
            </a:r>
            <a:r>
              <a:rPr lang="en-GB" dirty="0"/>
              <a:t>He goes to work after leaving the building, although the exact workplace is not stated.</a:t>
            </a:r>
          </a:p>
          <a:p>
            <a:pPr>
              <a:buNone/>
            </a:pPr>
            <a:endParaRPr lang="en-GB" dirty="0"/>
          </a:p>
          <a:p>
            <a:pPr>
              <a:buNone/>
            </a:pPr>
            <a:r>
              <a:rPr lang="en-GB" dirty="0"/>
              <a:t>The man is physically capable of walking up stairs. </a:t>
            </a:r>
            <a:r>
              <a:rPr lang="en-GB" b="1" dirty="0"/>
              <a:t>Reasonable assumption </a:t>
            </a:r>
            <a:r>
              <a:rPr lang="en-GB" dirty="0"/>
              <a:t>He walks from the 7th to the 10th floor.</a:t>
            </a:r>
          </a:p>
          <a:p>
            <a:pPr>
              <a:buNone/>
            </a:pPr>
            <a:endParaRPr lang="en-GB" dirty="0"/>
          </a:p>
          <a:p>
            <a:pPr>
              <a:buNone/>
            </a:pPr>
            <a:r>
              <a:rPr lang="en-GB" dirty="0"/>
              <a:t>The man is short. </a:t>
            </a:r>
            <a:r>
              <a:rPr lang="en-GB" b="1" dirty="0"/>
              <a:t>Valid inference </a:t>
            </a:r>
            <a:r>
              <a:rPr lang="en-GB" dirty="0"/>
              <a:t>It explains why he cannot press the 10th-floor button but can press the 7th.</a:t>
            </a:r>
          </a:p>
          <a:p>
            <a:pPr>
              <a:buNone/>
            </a:pPr>
            <a:endParaRPr lang="en-GB" dirty="0"/>
          </a:p>
          <a:p>
            <a:pPr>
              <a:buNone/>
            </a:pPr>
            <a:r>
              <a:rPr lang="en-GB" dirty="0"/>
              <a:t>The elevator is working normally. </a:t>
            </a:r>
            <a:r>
              <a:rPr lang="en-GB" b="1" dirty="0"/>
              <a:t>Reasonable assumption </a:t>
            </a:r>
            <a:r>
              <a:rPr lang="en-GB" dirty="0"/>
              <a:t>He regularly uses it to travel between floors.</a:t>
            </a:r>
          </a:p>
          <a:p>
            <a:pPr>
              <a:buNone/>
            </a:pPr>
            <a:endParaRPr lang="en-GB" dirty="0"/>
          </a:p>
          <a:p>
            <a:pPr>
              <a:buNone/>
            </a:pPr>
            <a:r>
              <a:rPr lang="en-GB" dirty="0"/>
              <a:t>The man is afraid of elevators. </a:t>
            </a:r>
            <a:r>
              <a:rPr lang="en-GB" b="1" dirty="0"/>
              <a:t>Invalid </a:t>
            </a:r>
            <a:r>
              <a:rPr lang="en-GB" dirty="0"/>
              <a:t>Nothing in the passage suggests fear.</a:t>
            </a:r>
          </a:p>
          <a:p>
            <a:pPr>
              <a:buNone/>
            </a:pPr>
            <a:endParaRPr lang="en-GB" dirty="0"/>
          </a:p>
          <a:p>
            <a:pPr>
              <a:buNone/>
            </a:pPr>
            <a:r>
              <a:rPr lang="en-GB" dirty="0"/>
              <a:t>The man is lazy. </a:t>
            </a:r>
            <a:r>
              <a:rPr lang="en-GB" b="1" dirty="0"/>
              <a:t>Invalid </a:t>
            </a:r>
            <a:r>
              <a:rPr lang="en-GB" dirty="0"/>
              <a:t>There is no evidence for this.</a:t>
            </a:r>
          </a:p>
          <a:p>
            <a:pPr>
              <a:buNone/>
            </a:pPr>
            <a:endParaRPr lang="en-GB" dirty="0"/>
          </a:p>
          <a:p>
            <a:pPr>
              <a:buNone/>
            </a:pPr>
            <a:r>
              <a:rPr lang="en-GB" dirty="0"/>
              <a:t>The elevator is broken between the 7th and 10th floors. </a:t>
            </a:r>
            <a:r>
              <a:rPr lang="en-GB" b="1" dirty="0" err="1"/>
              <a:t>Invalid</a:t>
            </a:r>
            <a:r>
              <a:rPr lang="en-GB" dirty="0" err="1"/>
              <a:t>If</a:t>
            </a:r>
            <a:r>
              <a:rPr lang="en-GB" dirty="0"/>
              <a:t> this were true, the rain would not explain the change in behaviour.</a:t>
            </a:r>
          </a:p>
          <a:p>
            <a:pPr>
              <a:buNone/>
            </a:pPr>
            <a:endParaRPr lang="en-GB" dirty="0"/>
          </a:p>
          <a:p>
            <a:pPr>
              <a:buNone/>
            </a:pPr>
            <a:r>
              <a:rPr lang="en-GB" dirty="0"/>
              <a:t>The man deliberately chooses to exercise by climbing three floors. </a:t>
            </a:r>
            <a:r>
              <a:rPr lang="en-GB" b="1" dirty="0" err="1"/>
              <a:t>Invalid</a:t>
            </a:r>
            <a:r>
              <a:rPr lang="en-GB" dirty="0" err="1"/>
              <a:t>There</a:t>
            </a:r>
            <a:r>
              <a:rPr lang="en-GB" dirty="0"/>
              <a:t> is no evidence that exercise is his motivation.</a:t>
            </a:r>
          </a:p>
          <a:p>
            <a:pPr>
              <a:buNone/>
            </a:pPr>
            <a:endParaRPr lang="en-GB" dirty="0"/>
          </a:p>
          <a:p>
            <a:pPr>
              <a:buNone/>
            </a:pPr>
            <a:r>
              <a:rPr lang="en-GB" dirty="0"/>
              <a:t>The umbrella helps him reach the 10th-floor button. </a:t>
            </a:r>
            <a:r>
              <a:rPr lang="en-GB" b="1" dirty="0"/>
              <a:t>Valid </a:t>
            </a:r>
            <a:r>
              <a:rPr lang="en-GB" b="1" dirty="0" err="1"/>
              <a:t>inference</a:t>
            </a:r>
            <a:r>
              <a:rPr lang="en-GB" dirty="0" err="1"/>
              <a:t>This</a:t>
            </a:r>
            <a:r>
              <a:rPr lang="en-GB" dirty="0"/>
              <a:t> is the key explanation supported by the clues.</a:t>
            </a:r>
          </a:p>
          <a:p>
            <a:pPr>
              <a:buNone/>
            </a:pPr>
            <a:endParaRPr lang="en-GB" dirty="0"/>
          </a:p>
          <a:p>
            <a:pPr>
              <a:buNone/>
            </a:pPr>
            <a:r>
              <a:rPr lang="en-GB" dirty="0"/>
              <a:t>The man is unable to walk beyond the 7th floor. </a:t>
            </a:r>
            <a:r>
              <a:rPr lang="en-GB" b="1" dirty="0"/>
              <a:t>Invalid </a:t>
            </a:r>
            <a:r>
              <a:rPr lang="en-GB" dirty="0"/>
              <a:t>He actually walks from the 7th to the 10th floor.</a:t>
            </a:r>
          </a:p>
          <a:p>
            <a:pPr>
              <a:buNone/>
            </a:pPr>
            <a:endParaRPr lang="en-GB" dirty="0"/>
          </a:p>
          <a:p>
            <a:pPr>
              <a:buNone/>
            </a:pPr>
            <a:r>
              <a:rPr lang="en-GB" dirty="0"/>
              <a:t>It rains every day. </a:t>
            </a:r>
            <a:r>
              <a:rPr lang="en-GB" b="1" dirty="0"/>
              <a:t>Invalid </a:t>
            </a:r>
            <a:r>
              <a:rPr lang="en-GB" dirty="0"/>
              <a:t>The passage only says </a:t>
            </a:r>
            <a:r>
              <a:rPr lang="en-GB" b="1" dirty="0"/>
              <a:t>when it is raining</a:t>
            </a:r>
            <a:r>
              <a:rPr lang="en-GB" dirty="0"/>
              <a:t>.</a:t>
            </a:r>
          </a:p>
          <a:p>
            <a:pPr>
              <a:buNone/>
            </a:pPr>
            <a:endParaRPr lang="en-GB" dirty="0"/>
          </a:p>
          <a:p>
            <a:pPr>
              <a:buNone/>
            </a:pPr>
            <a:r>
              <a:rPr lang="en-GB" dirty="0"/>
              <a:t>The man owns an umbrella. </a:t>
            </a:r>
            <a:r>
              <a:rPr lang="en-GB" b="1" dirty="0"/>
              <a:t>Valid </a:t>
            </a:r>
            <a:r>
              <a:rPr lang="en-GB" b="1" dirty="0" err="1"/>
              <a:t>inference</a:t>
            </a:r>
            <a:r>
              <a:rPr lang="en-GB" dirty="0" err="1"/>
              <a:t>The</a:t>
            </a:r>
            <a:r>
              <a:rPr lang="en-GB" dirty="0"/>
              <a:t> explanation requires him to have an umbrella on rainy days.</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53</a:t>
            </a:fld>
            <a:endParaRPr lang="en-GB"/>
          </a:p>
        </p:txBody>
      </p:sp>
    </p:spTree>
    <p:extLst>
      <p:ext uri="{BB962C8B-B14F-4D97-AF65-F5344CB8AC3E}">
        <p14:creationId xmlns:p14="http://schemas.microsoft.com/office/powerpoint/2010/main" val="19759245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II and IV valid </a:t>
            </a:r>
          </a:p>
          <a:p>
            <a:endParaRPr lang="en-IN" dirty="0"/>
          </a:p>
          <a:p>
            <a:endParaRPr lang="en-IN" dirty="0"/>
          </a:p>
          <a:p>
            <a:r>
              <a:rPr lang="en-IN" dirty="0"/>
              <a:t>Earlier passage </a:t>
            </a:r>
          </a:p>
          <a:p>
            <a:endParaRPr lang="en-IN" dirty="0"/>
          </a:p>
          <a:p>
            <a:r>
              <a:rPr lang="en-GB" dirty="0"/>
              <a:t>Human beings have the ability to manage natural resources more responsibly.    valid</a:t>
            </a:r>
          </a:p>
          <a:p>
            <a:r>
              <a:rPr lang="en-GB" dirty="0"/>
              <a:t>Technological development will automatically solve the problem of deforestation.   Invalid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Economic growth should be pursued regardless of environmental consequences.   Invalid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Economic development is important to human societies.    valid</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55</a:t>
            </a:fld>
            <a:endParaRPr lang="en-GB"/>
          </a:p>
        </p:txBody>
      </p:sp>
    </p:spTree>
    <p:extLst>
      <p:ext uri="{BB962C8B-B14F-4D97-AF65-F5344CB8AC3E}">
        <p14:creationId xmlns:p14="http://schemas.microsoft.com/office/powerpoint/2010/main" val="22393347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might infer: X strongly believes the government is responsible for addressing the lack of education.</a:t>
            </a:r>
          </a:p>
          <a:p>
            <a:endParaRPr lang="en-GB" dirty="0"/>
          </a:p>
          <a:p>
            <a:pPr>
              <a:buNone/>
            </a:pPr>
            <a:r>
              <a:rPr lang="en-GB" sz="1200" b="1" dirty="0"/>
              <a:t>Assumption</a:t>
            </a:r>
            <a:r>
              <a:rPr lang="en-GB" sz="1200" dirty="0"/>
              <a:t> → Something the statement </a:t>
            </a:r>
            <a:r>
              <a:rPr lang="en-GB" sz="1200" b="1" dirty="0"/>
              <a:t>depends on</a:t>
            </a:r>
            <a:br>
              <a:rPr lang="en-GB" sz="1200" dirty="0"/>
            </a:br>
            <a:r>
              <a:rPr lang="en-GB" sz="1200" b="1" dirty="0"/>
              <a:t>Implication</a:t>
            </a:r>
            <a:r>
              <a:rPr lang="en-GB" sz="1200" dirty="0"/>
              <a:t> → Something that can be </a:t>
            </a:r>
            <a:r>
              <a:rPr lang="en-GB" sz="1200" b="1" dirty="0"/>
              <a:t>derived from</a:t>
            </a:r>
            <a:r>
              <a:rPr lang="en-GB" sz="1200" dirty="0"/>
              <a:t> the statement</a:t>
            </a:r>
          </a:p>
          <a:p>
            <a:pPr>
              <a:buNone/>
            </a:pP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t>Implication — What follows from the statement?</a:t>
            </a:r>
            <a:br>
              <a:rPr lang="en-GB" sz="1200" dirty="0"/>
            </a:br>
            <a:r>
              <a:rPr lang="en-GB" sz="1200" dirty="0"/>
              <a:t>→ </a:t>
            </a:r>
            <a:r>
              <a:rPr lang="en-GB" sz="1200" b="1" dirty="0"/>
              <a:t>Many children are not receiving education.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t>Assumption - Continuing the strike may pressure the government to accept the demand.</a:t>
            </a:r>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dirty="0"/>
          </a:p>
          <a:p>
            <a:pPr>
              <a:buNone/>
            </a:pPr>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56</a:t>
            </a:fld>
            <a:endParaRPr lang="en-GB"/>
          </a:p>
        </p:txBody>
      </p:sp>
    </p:spTree>
    <p:extLst>
      <p:ext uri="{BB962C8B-B14F-4D97-AF65-F5344CB8AC3E}">
        <p14:creationId xmlns:p14="http://schemas.microsoft.com/office/powerpoint/2010/main" val="38702533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Think aloud:</a:t>
            </a:r>
          </a:p>
          <a:p>
            <a:r>
              <a:rPr lang="en-GB" dirty="0"/>
              <a:t>"First, I am only describing. I am not judging."</a:t>
            </a:r>
          </a:p>
          <a:p>
            <a:r>
              <a:rPr lang="en-GB" dirty="0"/>
              <a:t>Then:</a:t>
            </a:r>
          </a:p>
          <a:p>
            <a:r>
              <a:rPr lang="en-GB" dirty="0"/>
              <a:t>"Now I'm examining. What reasons has the writer used?"</a:t>
            </a:r>
          </a:p>
          <a:p>
            <a:r>
              <a:rPr lang="en-GB" dirty="0"/>
              <a:t>Then:</a:t>
            </a:r>
          </a:p>
          <a:p>
            <a:r>
              <a:rPr lang="en-GB" dirty="0"/>
              <a:t>"Now I'm evaluating. Is that evidence sufficient?"</a:t>
            </a:r>
          </a:p>
          <a:p>
            <a:r>
              <a:rPr lang="en-GB" dirty="0"/>
              <a:t>Finally:</a:t>
            </a:r>
          </a:p>
          <a:p>
            <a:r>
              <a:rPr lang="en-GB" dirty="0"/>
              <a:t>"Now I'm making a judgment."</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57</a:t>
            </a:fld>
            <a:endParaRPr lang="en-GB"/>
          </a:p>
        </p:txBody>
      </p:sp>
    </p:spTree>
    <p:extLst>
      <p:ext uri="{BB962C8B-B14F-4D97-AF65-F5344CB8AC3E}">
        <p14:creationId xmlns:p14="http://schemas.microsoft.com/office/powerpoint/2010/main" val="36367983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 inference is an evidence-based conclusion, not a guess.</a:t>
            </a:r>
            <a:endParaRPr lang="en-GB" b="1" dirty="0"/>
          </a:p>
          <a:p>
            <a:endParaRPr lang="en-GB" b="1" dirty="0"/>
          </a:p>
          <a:p>
            <a:r>
              <a:rPr lang="en-GB" b="1" dirty="0"/>
              <a:t>Inference = What can I reasonably conclude from the evidence?</a:t>
            </a:r>
            <a:br>
              <a:rPr lang="en-GB" dirty="0"/>
            </a:br>
            <a:r>
              <a:rPr lang="en-GB" b="1" dirty="0"/>
              <a:t>Implication = What does the text suggest without saying directly?</a:t>
            </a:r>
            <a:br>
              <a:rPr lang="en-GB" dirty="0"/>
            </a:br>
            <a:r>
              <a:rPr lang="en-GB" b="1" dirty="0"/>
              <a:t>Assumption = What must the writer believe/take for granted for the argument to work</a:t>
            </a:r>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58</a:t>
            </a:fld>
            <a:endParaRPr lang="en-GB"/>
          </a:p>
        </p:txBody>
      </p:sp>
    </p:spTree>
    <p:extLst>
      <p:ext uri="{BB962C8B-B14F-4D97-AF65-F5344CB8AC3E}">
        <p14:creationId xmlns:p14="http://schemas.microsoft.com/office/powerpoint/2010/main" val="7219054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Privatisation is gaining support in India- valid</a:t>
            </a:r>
          </a:p>
          <a:p>
            <a:r>
              <a:rPr lang="en-GB" dirty="0"/>
              <a:t>India has decided to privatise. – invalid</a:t>
            </a:r>
          </a:p>
          <a:p>
            <a:r>
              <a:rPr lang="en-GB" dirty="0"/>
              <a:t>India should privatise. - invalid</a:t>
            </a:r>
          </a:p>
        </p:txBody>
      </p:sp>
      <p:sp>
        <p:nvSpPr>
          <p:cNvPr id="4" name="Slide Number Placeholder 3"/>
          <p:cNvSpPr>
            <a:spLocks noGrp="1"/>
          </p:cNvSpPr>
          <p:nvPr>
            <p:ph type="sldNum" sz="quarter" idx="5"/>
          </p:nvPr>
        </p:nvSpPr>
        <p:spPr/>
        <p:txBody>
          <a:bodyPr/>
          <a:lstStyle/>
          <a:p>
            <a:fld id="{FD988CA6-E7AB-444F-8C7E-7177A6689493}" type="slidenum">
              <a:rPr lang="en-GB" smtClean="0"/>
              <a:t>59</a:t>
            </a:fld>
            <a:endParaRPr lang="en-GB"/>
          </a:p>
        </p:txBody>
      </p:sp>
    </p:spTree>
    <p:extLst>
      <p:ext uri="{BB962C8B-B14F-4D97-AF65-F5344CB8AC3E}">
        <p14:creationId xmlns:p14="http://schemas.microsoft.com/office/powerpoint/2010/main" val="35472473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have a chain of events when the conclusion of one argument becomes the premise for another. </a:t>
            </a:r>
          </a:p>
          <a:p>
            <a:r>
              <a:rPr lang="en-US" dirty="0"/>
              <a:t>Only (C) can be concluded from the facts given in the passage - that is, because Sally overslept, she ran towards school, and because she ran, she did not notice the hole. </a:t>
            </a:r>
          </a:p>
          <a:p>
            <a:r>
              <a:rPr lang="en-US" dirty="0"/>
              <a:t>Choice (A) is inappropriate because the chain of events is not linked by the fact that Sally did not eat her breakfast. The passage does not include a consequence emanating from that fact. </a:t>
            </a:r>
          </a:p>
          <a:p>
            <a:r>
              <a:rPr lang="en-US" dirty="0"/>
              <a:t>Choice (B) is not appropriate because there is no way to link Sally's friend to the events in the passage. </a:t>
            </a:r>
          </a:p>
          <a:p>
            <a:r>
              <a:rPr lang="en-US" dirty="0"/>
              <a:t>Similarly, facts not included preclude (D) from being the appropriate answer. </a:t>
            </a:r>
          </a:p>
          <a:p>
            <a:r>
              <a:rPr lang="en-US" dirty="0"/>
              <a:t>Finally, (E) cannot be inferred, as we do not know what Sally did later that day; she may have been released from the hospital and gone to school.</a:t>
            </a:r>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61</a:t>
            </a:fld>
            <a:endParaRPr lang="en-GB"/>
          </a:p>
        </p:txBody>
      </p:sp>
    </p:spTree>
    <p:extLst>
      <p:ext uri="{BB962C8B-B14F-4D97-AF65-F5344CB8AC3E}">
        <p14:creationId xmlns:p14="http://schemas.microsoft.com/office/powerpoint/2010/main" val="30550252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62</a:t>
            </a:fld>
            <a:endParaRPr lang="en-GB"/>
          </a:p>
        </p:txBody>
      </p:sp>
    </p:spTree>
    <p:extLst>
      <p:ext uri="{BB962C8B-B14F-4D97-AF65-F5344CB8AC3E}">
        <p14:creationId xmlns:p14="http://schemas.microsoft.com/office/powerpoint/2010/main" val="3063337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63</a:t>
            </a:fld>
            <a:endParaRPr lang="en-GB"/>
          </a:p>
        </p:txBody>
      </p:sp>
    </p:spTree>
    <p:extLst>
      <p:ext uri="{BB962C8B-B14F-4D97-AF65-F5344CB8AC3E}">
        <p14:creationId xmlns:p14="http://schemas.microsoft.com/office/powerpoint/2010/main" val="8402641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64</a:t>
            </a:fld>
            <a:endParaRPr lang="en-GB"/>
          </a:p>
        </p:txBody>
      </p:sp>
    </p:spTree>
    <p:extLst>
      <p:ext uri="{BB962C8B-B14F-4D97-AF65-F5344CB8AC3E}">
        <p14:creationId xmlns:p14="http://schemas.microsoft.com/office/powerpoint/2010/main" val="33953321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Difficult – challenging – hard – tough – onerous – demanding- punishing – back breaking </a:t>
            </a:r>
          </a:p>
          <a:p>
            <a:r>
              <a:rPr lang="en-IN" dirty="0"/>
              <a:t>Burdensome – arduous – strenuous – taxing – laborious </a:t>
            </a:r>
          </a:p>
          <a:p>
            <a:endParaRPr lang="en-IN" dirty="0"/>
          </a:p>
          <a:p>
            <a:endParaRPr lang="en-IN" dirty="0"/>
          </a:p>
          <a:p>
            <a:r>
              <a:rPr lang="en-GB" dirty="0"/>
              <a:t>One who loves books Bibliophile</a:t>
            </a:r>
          </a:p>
          <a:p>
            <a:r>
              <a:rPr lang="en-GB" dirty="0"/>
              <a:t>One who cannot read or write Illiterate</a:t>
            </a:r>
          </a:p>
          <a:p>
            <a:r>
              <a:rPr lang="en-GB" dirty="0"/>
              <a:t>A person who speaks many languages Polyglot</a:t>
            </a:r>
          </a:p>
          <a:p>
            <a:endParaRPr lang="en-IN" dirty="0"/>
          </a:p>
          <a:p>
            <a:endParaRPr lang="en-IN" dirty="0"/>
          </a:p>
          <a:p>
            <a:r>
              <a:rPr lang="en-GB" dirty="0"/>
              <a:t>Break the ice</a:t>
            </a:r>
          </a:p>
          <a:p>
            <a:r>
              <a:rPr lang="en-GB" dirty="0"/>
              <a:t>Once in a blue moon</a:t>
            </a:r>
          </a:p>
          <a:p>
            <a:r>
              <a:rPr lang="en-GB"/>
              <a:t>Hit the nail on the head</a:t>
            </a:r>
            <a:endParaRPr lang="en-IN" dirty="0"/>
          </a:p>
          <a:p>
            <a:endParaRPr lang="en-IN" dirty="0"/>
          </a:p>
          <a:p>
            <a:r>
              <a:rPr lang="en-IN" dirty="0"/>
              <a:t> </a:t>
            </a:r>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65</a:t>
            </a:fld>
            <a:endParaRPr lang="en-GB"/>
          </a:p>
        </p:txBody>
      </p:sp>
    </p:spTree>
    <p:extLst>
      <p:ext uri="{BB962C8B-B14F-4D97-AF65-F5344CB8AC3E}">
        <p14:creationId xmlns:p14="http://schemas.microsoft.com/office/powerpoint/2010/main" val="3200489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Homophones / Homonyms</a:t>
            </a:r>
          </a:p>
          <a:p>
            <a:r>
              <a:rPr lang="en-GB" dirty="0"/>
              <a:t>Words that sound alike but have different meanings/spellings.</a:t>
            </a:r>
          </a:p>
          <a:p>
            <a:endParaRPr lang="en-GB" dirty="0"/>
          </a:p>
          <a:p>
            <a:r>
              <a:rPr lang="en-GB" b="1" dirty="0"/>
              <a:t>There / Their / They're</a:t>
            </a:r>
            <a:endParaRPr lang="en-GB" dirty="0"/>
          </a:p>
          <a:p>
            <a:pPr lvl="0"/>
            <a:r>
              <a:rPr lang="en-GB" b="1" dirty="0"/>
              <a:t>There</a:t>
            </a:r>
            <a:r>
              <a:rPr lang="en-GB" dirty="0"/>
              <a:t> = place → Put the books </a:t>
            </a:r>
            <a:r>
              <a:rPr lang="en-GB" b="1" dirty="0"/>
              <a:t>there</a:t>
            </a:r>
            <a:r>
              <a:rPr lang="en-GB" dirty="0"/>
              <a:t>. </a:t>
            </a:r>
          </a:p>
          <a:p>
            <a:pPr lvl="0"/>
            <a:r>
              <a:rPr lang="en-GB" b="1" dirty="0"/>
              <a:t>Their</a:t>
            </a:r>
            <a:r>
              <a:rPr lang="en-GB" dirty="0"/>
              <a:t> = belonging to them → </a:t>
            </a:r>
            <a:r>
              <a:rPr lang="en-GB" b="1" dirty="0"/>
              <a:t>Their</a:t>
            </a:r>
            <a:r>
              <a:rPr lang="en-GB" dirty="0"/>
              <a:t> house is large. </a:t>
            </a:r>
          </a:p>
          <a:p>
            <a:pPr lvl="0"/>
            <a:r>
              <a:rPr lang="en-GB" b="1" dirty="0"/>
              <a:t>They're</a:t>
            </a:r>
            <a:r>
              <a:rPr lang="en-GB" dirty="0"/>
              <a:t> = they are → </a:t>
            </a:r>
            <a:r>
              <a:rPr lang="en-GB" b="1" dirty="0"/>
              <a:t>They're</a:t>
            </a:r>
            <a:r>
              <a:rPr lang="en-GB" dirty="0"/>
              <a:t> coming soon. </a:t>
            </a:r>
          </a:p>
          <a:p>
            <a:pPr lvl="0"/>
            <a:endParaRPr lang="en-GB" dirty="0"/>
          </a:p>
          <a:p>
            <a:r>
              <a:rPr lang="en-GB" b="1" dirty="0"/>
              <a:t>Principle / Principal</a:t>
            </a:r>
          </a:p>
          <a:p>
            <a:endParaRPr lang="en-GB" b="1" dirty="0"/>
          </a:p>
          <a:p>
            <a:endParaRPr lang="en-GB" b="1" dirty="0"/>
          </a:p>
          <a:p>
            <a:endParaRPr lang="en-GB" b="1" dirty="0"/>
          </a:p>
          <a:p>
            <a:endParaRPr lang="en-GB" b="1" dirty="0"/>
          </a:p>
          <a:p>
            <a:r>
              <a:rPr lang="en-GB" b="1" dirty="0"/>
              <a:t>Root: </a:t>
            </a:r>
            <a:r>
              <a:rPr lang="en-GB" sz="1200" b="1" kern="1200" dirty="0">
                <a:solidFill>
                  <a:schemeClr val="tx1"/>
                </a:solidFill>
                <a:latin typeface="+mn-lt"/>
                <a:ea typeface="+mn-ea"/>
                <a:cs typeface="+mn-cs"/>
              </a:rPr>
              <a:t>bio</a:t>
            </a:r>
            <a:r>
              <a:rPr lang="en-GB" b="1" dirty="0"/>
              <a:t> = life</a:t>
            </a:r>
            <a:endParaRPr lang="en-GB" dirty="0"/>
          </a:p>
          <a:p>
            <a:pPr lvl="0"/>
            <a:r>
              <a:rPr lang="en-GB" dirty="0"/>
              <a:t>Biology → study of life </a:t>
            </a:r>
          </a:p>
          <a:p>
            <a:pPr lvl="0"/>
            <a:r>
              <a:rPr lang="en-GB" dirty="0"/>
              <a:t>Biography → story of someone's life </a:t>
            </a:r>
          </a:p>
          <a:p>
            <a:pPr lvl="0"/>
            <a:r>
              <a:rPr lang="en-GB" dirty="0"/>
              <a:t>Biodiversity → variety of life </a:t>
            </a:r>
          </a:p>
          <a:p>
            <a:r>
              <a:rPr lang="en-GB" b="1" dirty="0"/>
              <a:t>Prefix: </a:t>
            </a:r>
            <a:r>
              <a:rPr lang="en-GB" sz="1200" b="1" kern="1200" dirty="0">
                <a:solidFill>
                  <a:schemeClr val="tx1"/>
                </a:solidFill>
                <a:latin typeface="+mn-lt"/>
                <a:ea typeface="+mn-ea"/>
                <a:cs typeface="+mn-cs"/>
              </a:rPr>
              <a:t>anti-</a:t>
            </a:r>
            <a:r>
              <a:rPr lang="en-GB" b="1" dirty="0"/>
              <a:t> = against</a:t>
            </a:r>
            <a:endParaRPr lang="en-GB" dirty="0"/>
          </a:p>
          <a:p>
            <a:pPr lvl="0"/>
            <a:r>
              <a:rPr lang="en-GB" dirty="0"/>
              <a:t>Antisocial </a:t>
            </a:r>
          </a:p>
          <a:p>
            <a:pPr lvl="0"/>
            <a:r>
              <a:rPr lang="en-GB" dirty="0"/>
              <a:t>Antibacterial </a:t>
            </a:r>
          </a:p>
          <a:p>
            <a:pPr lvl="0"/>
            <a:r>
              <a:rPr lang="en-GB" dirty="0"/>
              <a:t>Antithesis </a:t>
            </a:r>
          </a:p>
          <a:p>
            <a:r>
              <a:rPr lang="en-GB" b="1" dirty="0"/>
              <a:t>Suffix: </a:t>
            </a:r>
            <a:r>
              <a:rPr lang="en-GB" sz="1200" b="1" kern="1200" dirty="0">
                <a:solidFill>
                  <a:schemeClr val="tx1"/>
                </a:solidFill>
                <a:latin typeface="+mn-lt"/>
                <a:ea typeface="+mn-ea"/>
                <a:cs typeface="+mn-cs"/>
              </a:rPr>
              <a:t>-less</a:t>
            </a:r>
            <a:r>
              <a:rPr lang="en-GB" b="1" dirty="0"/>
              <a:t> = without</a:t>
            </a:r>
            <a:endParaRPr lang="en-GB" dirty="0"/>
          </a:p>
          <a:p>
            <a:pPr lvl="0"/>
            <a:r>
              <a:rPr lang="en-GB" dirty="0"/>
              <a:t>Careless = without care </a:t>
            </a:r>
          </a:p>
          <a:p>
            <a:pPr lvl="0"/>
            <a:r>
              <a:rPr lang="en-GB" dirty="0"/>
              <a:t>Fearless = without fear </a:t>
            </a:r>
          </a:p>
          <a:p>
            <a:pPr lvl="0"/>
            <a:r>
              <a:rPr lang="en-GB" dirty="0"/>
              <a:t>Homeless = without a home</a:t>
            </a:r>
          </a:p>
          <a:p>
            <a:endParaRPr lang="en-GB" dirty="0"/>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70</a:t>
            </a:fld>
            <a:endParaRPr lang="en-GB"/>
          </a:p>
        </p:txBody>
      </p:sp>
    </p:spTree>
    <p:extLst>
      <p:ext uri="{BB962C8B-B14F-4D97-AF65-F5344CB8AC3E}">
        <p14:creationId xmlns:p14="http://schemas.microsoft.com/office/powerpoint/2010/main" val="33052744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Collocations</a:t>
            </a:r>
          </a:p>
          <a:p>
            <a:r>
              <a:rPr lang="en-GB" dirty="0"/>
              <a:t>Words that naturally occur together.</a:t>
            </a:r>
          </a:p>
          <a:p>
            <a:pPr lvl="0"/>
            <a:endParaRPr lang="en-GB" b="1" dirty="0"/>
          </a:p>
          <a:p>
            <a:pPr lvl="0"/>
            <a:endParaRPr lang="en-GB" b="1" dirty="0"/>
          </a:p>
          <a:p>
            <a:pPr lvl="0"/>
            <a:r>
              <a:rPr lang="en-GB" b="1" dirty="0"/>
              <a:t>make</a:t>
            </a:r>
            <a:r>
              <a:rPr lang="en-GB" dirty="0"/>
              <a:t> a decision ✅ </a:t>
            </a:r>
          </a:p>
          <a:p>
            <a:pPr lvl="0"/>
            <a:r>
              <a:rPr lang="en-GB" b="1" dirty="0"/>
              <a:t>do</a:t>
            </a:r>
            <a:r>
              <a:rPr lang="en-GB" dirty="0"/>
              <a:t> homework ✅ </a:t>
            </a:r>
          </a:p>
          <a:p>
            <a:pPr lvl="0"/>
            <a:r>
              <a:rPr lang="en-GB" b="1" dirty="0"/>
              <a:t>heavy</a:t>
            </a:r>
            <a:r>
              <a:rPr lang="en-GB" dirty="0"/>
              <a:t> rain ✅ </a:t>
            </a:r>
          </a:p>
          <a:p>
            <a:pPr lvl="0"/>
            <a:r>
              <a:rPr lang="en-GB" b="1" dirty="0"/>
              <a:t>strong</a:t>
            </a:r>
            <a:r>
              <a:rPr lang="en-GB" dirty="0"/>
              <a:t> coffee ✅ </a:t>
            </a:r>
          </a:p>
          <a:p>
            <a:pPr lvl="0"/>
            <a:r>
              <a:rPr lang="en-GB" b="1" dirty="0"/>
              <a:t>commit</a:t>
            </a:r>
            <a:r>
              <a:rPr lang="en-GB" dirty="0"/>
              <a:t> a crime ✅ </a:t>
            </a:r>
          </a:p>
          <a:p>
            <a:pPr lvl="0"/>
            <a:r>
              <a:rPr lang="en-GB" b="1" dirty="0"/>
              <a:t>take</a:t>
            </a:r>
            <a:r>
              <a:rPr lang="en-GB" dirty="0"/>
              <a:t> responsibility ✅</a:t>
            </a:r>
          </a:p>
          <a:p>
            <a:endParaRPr lang="en-GB" dirty="0"/>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71</a:t>
            </a:fld>
            <a:endParaRPr lang="en-GB"/>
          </a:p>
        </p:txBody>
      </p:sp>
    </p:spTree>
    <p:extLst>
      <p:ext uri="{BB962C8B-B14F-4D97-AF65-F5344CB8AC3E}">
        <p14:creationId xmlns:p14="http://schemas.microsoft.com/office/powerpoint/2010/main" val="29841886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sz="1200" b="0" i="0" kern="1200" dirty="0">
                <a:solidFill>
                  <a:schemeClr val="tx1"/>
                </a:solidFill>
                <a:effectLst/>
                <a:latin typeface="+mn-lt"/>
                <a:ea typeface="+mn-ea"/>
                <a:cs typeface="+mn-cs"/>
              </a:rPr>
              <a:t>Replace "less than" by "fewer than“</a:t>
            </a:r>
          </a:p>
          <a:p>
            <a:pPr marL="228600" indent="-228600">
              <a:buAutoNum type="arabicPeriod"/>
            </a:pPr>
            <a:r>
              <a:rPr lang="en-GB" sz="1200" b="0" i="0" kern="1200" dirty="0">
                <a:solidFill>
                  <a:schemeClr val="tx1"/>
                </a:solidFill>
                <a:effectLst/>
                <a:latin typeface="+mn-lt"/>
                <a:ea typeface="+mn-ea"/>
                <a:cs typeface="+mn-cs"/>
              </a:rPr>
              <a:t>Add "a" before "few"</a:t>
            </a:r>
            <a:br>
              <a:rPr lang="en-GB" dirty="0"/>
            </a:br>
            <a:br>
              <a:rPr lang="en-GB" dirty="0"/>
            </a:br>
            <a:r>
              <a:rPr lang="en-GB" sz="1200" b="0" i="0" kern="1200" dirty="0">
                <a:solidFill>
                  <a:schemeClr val="tx1"/>
                </a:solidFill>
                <a:effectLst/>
                <a:latin typeface="+mn-lt"/>
                <a:ea typeface="+mn-ea"/>
                <a:cs typeface="+mn-cs"/>
              </a:rPr>
              <a:t>Using "a few" instead of "few" in a sentence changes a sentence's meaning. Whereas "a few" implies a small number of some that is greater than two, "few" implies only a small number. Other words, like "very" or "quite," may also come before "a few" or "few" and further change sentence meaning. Examples can be found below</a:t>
            </a:r>
          </a:p>
          <a:p>
            <a:pPr marL="228600" indent="-228600">
              <a:buAutoNum type="arabicPeriod"/>
            </a:pPr>
            <a:r>
              <a:rPr lang="en-GB" sz="1200" b="0" i="0" kern="1200" dirty="0">
                <a:solidFill>
                  <a:schemeClr val="tx1"/>
                </a:solidFill>
                <a:effectLst/>
                <a:latin typeface="+mn-lt"/>
                <a:ea typeface="+mn-ea"/>
                <a:cs typeface="+mn-cs"/>
              </a:rPr>
              <a:t>Delete 'had'. In past perfect tense, simple past is used for the work completed later.</a:t>
            </a:r>
          </a:p>
          <a:p>
            <a:pPr marL="228600" indent="-228600">
              <a:buAutoNum type="arabicPeriod"/>
            </a:pPr>
            <a:r>
              <a:rPr lang="en-GB" sz="1200" b="0" i="0" kern="1200" dirty="0">
                <a:solidFill>
                  <a:schemeClr val="tx1"/>
                </a:solidFill>
                <a:effectLst/>
                <a:latin typeface="+mn-lt"/>
                <a:ea typeface="+mn-ea"/>
                <a:cs typeface="+mn-cs"/>
              </a:rPr>
              <a:t>delete 'a' before home work. Home work is an uncountable noun.</a:t>
            </a:r>
          </a:p>
          <a:p>
            <a:pPr marL="228600" indent="-228600">
              <a:buAutoNum type="arabicPeriod"/>
            </a:pPr>
            <a:r>
              <a:rPr lang="en-GB" sz="1200" b="0" i="0" kern="1200" dirty="0">
                <a:solidFill>
                  <a:schemeClr val="tx1"/>
                </a:solidFill>
                <a:effectLst/>
                <a:latin typeface="+mn-lt"/>
                <a:ea typeface="+mn-ea"/>
                <a:cs typeface="+mn-cs"/>
              </a:rPr>
              <a:t>Replace 'itself' by 'themselves'. Here, Board of Director is not used as a collective noun, that is why plural verb 'want' (not 'wants') is used.</a:t>
            </a:r>
          </a:p>
          <a:p>
            <a:pPr marL="228600" indent="-228600">
              <a:buAutoNum type="arabicPeriod"/>
            </a:pPr>
            <a:r>
              <a:rPr lang="en-GB" sz="1200" b="0" i="0" kern="1200" dirty="0">
                <a:solidFill>
                  <a:schemeClr val="tx1"/>
                </a:solidFill>
                <a:effectLst/>
                <a:latin typeface="+mn-lt"/>
                <a:ea typeface="+mn-ea"/>
                <a:cs typeface="+mn-cs"/>
              </a:rPr>
              <a:t>Replace 'their' by 'his'. Singular pronoun is used when two singular nouns are preceded by each/every.</a:t>
            </a:r>
          </a:p>
          <a:p>
            <a:r>
              <a:rPr lang="en-GB" sz="1200" b="0" i="0" kern="1200" dirty="0">
                <a:solidFill>
                  <a:schemeClr val="tx1"/>
                </a:solidFill>
                <a:effectLst/>
                <a:latin typeface="+mn-lt"/>
                <a:ea typeface="+mn-ea"/>
                <a:cs typeface="+mn-cs"/>
              </a:rPr>
              <a:t>7. Replace 'themselves' by 'him'. When two nouns are joined together with as well as/ besides/ in addition to, the pronoun is governed by the noun that comes first.</a:t>
            </a:r>
          </a:p>
          <a:p>
            <a:r>
              <a:rPr lang="en-GB" dirty="0"/>
              <a:t>8.  </a:t>
            </a:r>
            <a:r>
              <a:rPr lang="en-GB" sz="1200" b="0" i="0" kern="1200" dirty="0">
                <a:solidFill>
                  <a:schemeClr val="tx1"/>
                </a:solidFill>
                <a:effectLst/>
                <a:latin typeface="+mn-lt"/>
                <a:ea typeface="+mn-ea"/>
                <a:cs typeface="+mn-cs"/>
              </a:rPr>
              <a:t>Replace 'last' by 'latest'.</a:t>
            </a:r>
            <a:br>
              <a:rPr lang="en-GB" dirty="0"/>
            </a:br>
            <a:endParaRPr lang="en-GB" dirty="0"/>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72</a:t>
            </a:fld>
            <a:endParaRPr lang="en-GB"/>
          </a:p>
        </p:txBody>
      </p:sp>
    </p:spTree>
    <p:extLst>
      <p:ext uri="{BB962C8B-B14F-4D97-AF65-F5344CB8AC3E}">
        <p14:creationId xmlns:p14="http://schemas.microsoft.com/office/powerpoint/2010/main" val="149098182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Uncle has gone </a:t>
            </a:r>
            <a:r>
              <a:rPr lang="en-GB" sz="1200" b="1" u="none" strike="noStrike" kern="1200" dirty="0">
                <a:solidFill>
                  <a:schemeClr val="tx1"/>
                </a:solidFill>
                <a:effectLst/>
                <a:latin typeface="+mn-lt"/>
                <a:ea typeface="+mn-ea"/>
                <a:cs typeface="+mn-cs"/>
              </a:rPr>
              <a:t>doolally</a:t>
            </a:r>
            <a:r>
              <a:rPr lang="en-GB" dirty="0"/>
              <a:t> again after watching the news all morning</a:t>
            </a:r>
          </a:p>
        </p:txBody>
      </p:sp>
      <p:sp>
        <p:nvSpPr>
          <p:cNvPr id="4" name="Slide Number Placeholder 3"/>
          <p:cNvSpPr>
            <a:spLocks noGrp="1"/>
          </p:cNvSpPr>
          <p:nvPr>
            <p:ph type="sldNum" sz="quarter" idx="5"/>
          </p:nvPr>
        </p:nvSpPr>
        <p:spPr/>
        <p:txBody>
          <a:bodyPr/>
          <a:lstStyle/>
          <a:p>
            <a:fld id="{FD988CA6-E7AB-444F-8C7E-7177A6689493}" type="slidenum">
              <a:rPr lang="en-GB" smtClean="0"/>
              <a:t>74</a:t>
            </a:fld>
            <a:endParaRPr lang="en-GB"/>
          </a:p>
        </p:txBody>
      </p:sp>
    </p:spTree>
    <p:extLst>
      <p:ext uri="{BB962C8B-B14F-4D97-AF65-F5344CB8AC3E}">
        <p14:creationId xmlns:p14="http://schemas.microsoft.com/office/powerpoint/2010/main" val="1345417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75</a:t>
            </a:fld>
            <a:endParaRPr lang="en-GB"/>
          </a:p>
        </p:txBody>
      </p:sp>
    </p:spTree>
    <p:extLst>
      <p:ext uri="{BB962C8B-B14F-4D97-AF65-F5344CB8AC3E}">
        <p14:creationId xmlns:p14="http://schemas.microsoft.com/office/powerpoint/2010/main" val="5568904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1" dirty="0"/>
              <a:t>He shows </a:t>
            </a:r>
          </a:p>
          <a:p>
            <a:pPr>
              <a:buNone/>
            </a:pPr>
            <a:r>
              <a:rPr lang="en-GB" b="1" dirty="0"/>
              <a:t>They Show</a:t>
            </a:r>
          </a:p>
          <a:p>
            <a:pPr>
              <a:buNone/>
            </a:pPr>
            <a:endParaRPr lang="en-GB" b="1" dirty="0"/>
          </a:p>
          <a:p>
            <a:pPr>
              <a:buNone/>
            </a:pPr>
            <a:r>
              <a:rPr lang="en-GB" b="1" dirty="0"/>
              <a:t>List = is</a:t>
            </a:r>
          </a:p>
          <a:p>
            <a:pPr>
              <a:buNone/>
            </a:pPr>
            <a:r>
              <a:rPr lang="en-GB" b="1" dirty="0"/>
              <a:t>Quality = is</a:t>
            </a:r>
          </a:p>
          <a:p>
            <a:pPr>
              <a:buNone/>
            </a:pPr>
            <a:endParaRPr lang="en-GB" b="1" dirty="0"/>
          </a:p>
          <a:p>
            <a:pPr>
              <a:buNone/>
            </a:pPr>
            <a:endParaRPr lang="en-GB" b="1" dirty="0"/>
          </a:p>
          <a:p>
            <a:pPr>
              <a:buNone/>
            </a:pPr>
            <a:r>
              <a:rPr lang="en-GB" b="1" dirty="0"/>
              <a:t>The subject is result and not the experiment</a:t>
            </a:r>
          </a:p>
          <a:p>
            <a:pPr>
              <a:buNone/>
            </a:pPr>
            <a:endParaRPr lang="en-GB" b="1" dirty="0"/>
          </a:p>
          <a:p>
            <a:pPr>
              <a:buNone/>
            </a:pPr>
            <a:r>
              <a:rPr lang="en-GB" b="1" dirty="0"/>
              <a:t>The student works hard </a:t>
            </a:r>
          </a:p>
          <a:p>
            <a:pPr>
              <a:buNone/>
            </a:pPr>
            <a:r>
              <a:rPr lang="en-GB" b="1" dirty="0"/>
              <a:t>The students work hard</a:t>
            </a:r>
          </a:p>
          <a:p>
            <a:pPr>
              <a:buNone/>
            </a:pPr>
            <a:endParaRPr lang="en-GB" b="1" dirty="0"/>
          </a:p>
          <a:p>
            <a:pPr>
              <a:buNone/>
            </a:pPr>
            <a:endParaRPr lang="en-GB" b="1" dirty="0"/>
          </a:p>
          <a:p>
            <a:pPr>
              <a:buNone/>
            </a:pPr>
            <a:r>
              <a:rPr lang="en-GB" b="1" dirty="0"/>
              <a:t>Free gift </a:t>
            </a:r>
            <a:r>
              <a:rPr lang="en-GB" dirty="0" err="1"/>
              <a:t>Gift</a:t>
            </a:r>
            <a:endParaRPr lang="en-GB" dirty="0"/>
          </a:p>
          <a:p>
            <a:pPr>
              <a:buNone/>
            </a:pPr>
            <a:r>
              <a:rPr lang="en-GB" b="1" dirty="0"/>
              <a:t>Past history </a:t>
            </a:r>
            <a:r>
              <a:rPr lang="en-GB" dirty="0" err="1"/>
              <a:t>History</a:t>
            </a:r>
            <a:endParaRPr lang="en-GB" dirty="0"/>
          </a:p>
          <a:p>
            <a:pPr>
              <a:buNone/>
            </a:pPr>
            <a:r>
              <a:rPr lang="en-GB" b="1" dirty="0"/>
              <a:t>Future plans </a:t>
            </a:r>
            <a:r>
              <a:rPr lang="en-GB" dirty="0" err="1"/>
              <a:t>Plans</a:t>
            </a:r>
            <a:endParaRPr lang="en-GB" dirty="0"/>
          </a:p>
          <a:p>
            <a:pPr>
              <a:buNone/>
            </a:pPr>
            <a:r>
              <a:rPr lang="en-GB" b="1" dirty="0"/>
              <a:t>Basic fundamentals </a:t>
            </a:r>
            <a:r>
              <a:rPr lang="en-GB" dirty="0" err="1"/>
              <a:t>Fundamentals</a:t>
            </a:r>
            <a:endParaRPr lang="en-GB" dirty="0"/>
          </a:p>
          <a:p>
            <a:pPr>
              <a:buNone/>
            </a:pPr>
            <a:r>
              <a:rPr lang="en-GB" b="1" dirty="0"/>
              <a:t>Final conclusion </a:t>
            </a:r>
            <a:r>
              <a:rPr lang="en-GB" dirty="0" err="1"/>
              <a:t>Conclusion</a:t>
            </a:r>
            <a:endParaRPr lang="en-GB" dirty="0"/>
          </a:p>
          <a:p>
            <a:pPr>
              <a:buNone/>
            </a:pPr>
            <a:endParaRPr lang="en-GB" dirty="0"/>
          </a:p>
          <a:p>
            <a:pPr>
              <a:buNone/>
            </a:pPr>
            <a:endParaRPr lang="en-GB" dirty="0"/>
          </a:p>
          <a:p>
            <a:pPr fontAlgn="base"/>
            <a:r>
              <a:rPr lang="en-GB" sz="1200" b="1" i="0" kern="1200" dirty="0">
                <a:solidFill>
                  <a:schemeClr val="tx1"/>
                </a:solidFill>
                <a:effectLst/>
                <a:latin typeface="+mn-lt"/>
                <a:ea typeface="+mn-ea"/>
                <a:cs typeface="+mn-cs"/>
              </a:rPr>
              <a:t>Redundant Tense &amp; Helping Verbs</a:t>
            </a:r>
          </a:p>
          <a:p>
            <a:pPr fontAlgn="base"/>
            <a:endParaRPr lang="en-GB" sz="1200" b="1" i="0" kern="1200" dirty="0">
              <a:solidFill>
                <a:schemeClr val="tx1"/>
              </a:solidFill>
              <a:effectLst/>
              <a:latin typeface="+mn-lt"/>
              <a:ea typeface="+mn-ea"/>
              <a:cs typeface="+mn-cs"/>
            </a:endParaRPr>
          </a:p>
          <a:p>
            <a:pPr lvl="0" fontAlgn="base"/>
            <a:r>
              <a:rPr lang="en-GB" sz="1200" b="1" i="0" kern="1200" dirty="0">
                <a:solidFill>
                  <a:schemeClr val="tx1"/>
                </a:solidFill>
                <a:effectLst/>
                <a:latin typeface="+mn-lt"/>
                <a:ea typeface="+mn-ea"/>
                <a:cs typeface="+mn-cs"/>
              </a:rPr>
              <a:t>Incorrect:</a:t>
            </a:r>
            <a:r>
              <a:rPr lang="en-GB" sz="1200" b="0" i="0" kern="1200" dirty="0">
                <a:solidFill>
                  <a:schemeClr val="tx1"/>
                </a:solidFill>
                <a:effectLst/>
                <a:latin typeface="+mn-lt"/>
                <a:ea typeface="+mn-ea"/>
                <a:cs typeface="+mn-cs"/>
              </a:rPr>
              <a:t> I </a:t>
            </a:r>
            <a:r>
              <a:rPr lang="en-GB" sz="1200" b="1" i="0" kern="1200" dirty="0">
                <a:solidFill>
                  <a:schemeClr val="tx1"/>
                </a:solidFill>
                <a:effectLst/>
                <a:latin typeface="+mn-lt"/>
                <a:ea typeface="+mn-ea"/>
                <a:cs typeface="+mn-cs"/>
              </a:rPr>
              <a:t>did not saw</a:t>
            </a:r>
            <a:r>
              <a:rPr lang="en-GB" sz="1200" b="0" i="0" kern="1200" dirty="0">
                <a:solidFill>
                  <a:schemeClr val="tx1"/>
                </a:solidFill>
                <a:effectLst/>
                <a:latin typeface="+mn-lt"/>
                <a:ea typeface="+mn-ea"/>
                <a:cs typeface="+mn-cs"/>
              </a:rPr>
              <a:t> him. -&gt; </a:t>
            </a:r>
            <a:r>
              <a:rPr lang="en-GB" sz="1200" b="1" i="0" kern="1200" dirty="0">
                <a:solidFill>
                  <a:schemeClr val="tx1"/>
                </a:solidFill>
                <a:effectLst/>
                <a:latin typeface="+mn-lt"/>
                <a:ea typeface="+mn-ea"/>
                <a:cs typeface="+mn-cs"/>
              </a:rPr>
              <a:t>Correct:</a:t>
            </a:r>
            <a:r>
              <a:rPr lang="en-GB" sz="1200" b="0" i="0" kern="1200" dirty="0">
                <a:solidFill>
                  <a:schemeClr val="tx1"/>
                </a:solidFill>
                <a:effectLst/>
                <a:latin typeface="+mn-lt"/>
                <a:ea typeface="+mn-ea"/>
                <a:cs typeface="+mn-cs"/>
              </a:rPr>
              <a:t> I </a:t>
            </a:r>
            <a:r>
              <a:rPr lang="en-GB" sz="1200" b="1" i="0" kern="1200" dirty="0">
                <a:solidFill>
                  <a:schemeClr val="tx1"/>
                </a:solidFill>
                <a:effectLst/>
                <a:latin typeface="+mn-lt"/>
                <a:ea typeface="+mn-ea"/>
                <a:cs typeface="+mn-cs"/>
              </a:rPr>
              <a:t>did not see</a:t>
            </a:r>
            <a:r>
              <a:rPr lang="en-GB" sz="1200" b="0" i="0" kern="1200" dirty="0">
                <a:solidFill>
                  <a:schemeClr val="tx1"/>
                </a:solidFill>
                <a:effectLst/>
                <a:latin typeface="+mn-lt"/>
                <a:ea typeface="+mn-ea"/>
                <a:cs typeface="+mn-cs"/>
              </a:rPr>
              <a:t> him. (Always use the base verb after “did”).</a:t>
            </a:r>
          </a:p>
          <a:p>
            <a:pPr lvl="0" fontAlgn="base"/>
            <a:r>
              <a:rPr lang="en-GB" sz="1200" b="1" i="0" kern="1200" dirty="0">
                <a:solidFill>
                  <a:schemeClr val="tx1"/>
                </a:solidFill>
                <a:effectLst/>
                <a:latin typeface="+mn-lt"/>
                <a:ea typeface="+mn-ea"/>
                <a:cs typeface="+mn-cs"/>
              </a:rPr>
              <a:t>Incorrect:</a:t>
            </a:r>
            <a:r>
              <a:rPr lang="en-GB" sz="1200" b="0" i="0" kern="1200" dirty="0">
                <a:solidFill>
                  <a:schemeClr val="tx1"/>
                </a:solidFill>
                <a:effectLst/>
                <a:latin typeface="+mn-lt"/>
                <a:ea typeface="+mn-ea"/>
                <a:cs typeface="+mn-cs"/>
              </a:rPr>
              <a:t> We </a:t>
            </a:r>
            <a:r>
              <a:rPr lang="en-GB" sz="1200" b="1" i="0" kern="1200" dirty="0">
                <a:solidFill>
                  <a:schemeClr val="tx1"/>
                </a:solidFill>
                <a:effectLst/>
                <a:latin typeface="+mn-lt"/>
                <a:ea typeface="+mn-ea"/>
                <a:cs typeface="+mn-cs"/>
              </a:rPr>
              <a:t>have reached</a:t>
            </a:r>
            <a:r>
              <a:rPr lang="en-GB" sz="1200" b="0" i="0" kern="1200" dirty="0">
                <a:solidFill>
                  <a:schemeClr val="tx1"/>
                </a:solidFill>
                <a:effectLst/>
                <a:latin typeface="+mn-lt"/>
                <a:ea typeface="+mn-ea"/>
                <a:cs typeface="+mn-cs"/>
              </a:rPr>
              <a:t> yesterday. -&gt; </a:t>
            </a:r>
            <a:r>
              <a:rPr lang="en-GB" sz="1200" b="1" i="0" kern="1200" dirty="0">
                <a:solidFill>
                  <a:schemeClr val="tx1"/>
                </a:solidFill>
                <a:effectLst/>
                <a:latin typeface="+mn-lt"/>
                <a:ea typeface="+mn-ea"/>
                <a:cs typeface="+mn-cs"/>
              </a:rPr>
              <a:t>Correct:</a:t>
            </a:r>
            <a:r>
              <a:rPr lang="en-GB" sz="1200" b="0" i="0" kern="1200" dirty="0">
                <a:solidFill>
                  <a:schemeClr val="tx1"/>
                </a:solidFill>
                <a:effectLst/>
                <a:latin typeface="+mn-lt"/>
                <a:ea typeface="+mn-ea"/>
                <a:cs typeface="+mn-cs"/>
              </a:rPr>
              <a:t> We </a:t>
            </a:r>
            <a:r>
              <a:rPr lang="en-GB" sz="1200" b="1" i="0" kern="1200" dirty="0">
                <a:solidFill>
                  <a:schemeClr val="tx1"/>
                </a:solidFill>
                <a:effectLst/>
                <a:latin typeface="+mn-lt"/>
                <a:ea typeface="+mn-ea"/>
                <a:cs typeface="+mn-cs"/>
              </a:rPr>
              <a:t>reached</a:t>
            </a:r>
            <a:r>
              <a:rPr lang="en-GB" sz="1200" b="0" i="0" kern="1200" dirty="0">
                <a:solidFill>
                  <a:schemeClr val="tx1"/>
                </a:solidFill>
                <a:effectLst/>
                <a:latin typeface="+mn-lt"/>
                <a:ea typeface="+mn-ea"/>
                <a:cs typeface="+mn-cs"/>
              </a:rPr>
              <a:t> yesterday. (Don’t use “have” with a specific past time).</a:t>
            </a:r>
          </a:p>
          <a:p>
            <a:pPr lvl="0" fontAlgn="base"/>
            <a:r>
              <a:rPr lang="en-GB" sz="1200" b="1" i="0" kern="1200" dirty="0">
                <a:solidFill>
                  <a:schemeClr val="tx1"/>
                </a:solidFill>
                <a:effectLst/>
                <a:latin typeface="+mn-lt"/>
                <a:ea typeface="+mn-ea"/>
                <a:cs typeface="+mn-cs"/>
              </a:rPr>
              <a:t>Incorrect:</a:t>
            </a:r>
            <a:r>
              <a:rPr lang="en-GB" sz="1200" b="0" i="0" kern="1200" dirty="0">
                <a:solidFill>
                  <a:schemeClr val="tx1"/>
                </a:solidFill>
                <a:effectLst/>
                <a:latin typeface="+mn-lt"/>
                <a:ea typeface="+mn-ea"/>
                <a:cs typeface="+mn-cs"/>
              </a:rPr>
              <a:t> He </a:t>
            </a:r>
            <a:r>
              <a:rPr lang="en-GB" sz="1200" b="1" i="0" kern="1200" dirty="0">
                <a:solidFill>
                  <a:schemeClr val="tx1"/>
                </a:solidFill>
                <a:effectLst/>
                <a:latin typeface="+mn-lt"/>
                <a:ea typeface="+mn-ea"/>
                <a:cs typeface="+mn-cs"/>
              </a:rPr>
              <a:t>has been working</a:t>
            </a:r>
            <a:r>
              <a:rPr lang="en-GB" sz="1200" b="0" i="0" kern="1200" dirty="0">
                <a:solidFill>
                  <a:schemeClr val="tx1"/>
                </a:solidFill>
                <a:effectLst/>
                <a:latin typeface="+mn-lt"/>
                <a:ea typeface="+mn-ea"/>
                <a:cs typeface="+mn-cs"/>
              </a:rPr>
              <a:t> here since 10 years. -&gt; </a:t>
            </a:r>
            <a:r>
              <a:rPr lang="en-GB" sz="1200" b="1" i="0" kern="1200" dirty="0">
                <a:solidFill>
                  <a:schemeClr val="tx1"/>
                </a:solidFill>
                <a:effectLst/>
                <a:latin typeface="+mn-lt"/>
                <a:ea typeface="+mn-ea"/>
                <a:cs typeface="+mn-cs"/>
              </a:rPr>
              <a:t>Correct:</a:t>
            </a:r>
            <a:r>
              <a:rPr lang="en-GB" sz="1200" b="0" i="0" kern="1200" dirty="0">
                <a:solidFill>
                  <a:schemeClr val="tx1"/>
                </a:solidFill>
                <a:effectLst/>
                <a:latin typeface="+mn-lt"/>
                <a:ea typeface="+mn-ea"/>
                <a:cs typeface="+mn-cs"/>
              </a:rPr>
              <a:t> He has been working here </a:t>
            </a:r>
            <a:r>
              <a:rPr lang="en-GB" sz="1200" b="1" i="0" kern="1200" dirty="0">
                <a:solidFill>
                  <a:schemeClr val="tx1"/>
                </a:solidFill>
                <a:effectLst/>
                <a:latin typeface="+mn-lt"/>
                <a:ea typeface="+mn-ea"/>
                <a:cs typeface="+mn-cs"/>
              </a:rPr>
              <a:t>for</a:t>
            </a:r>
            <a:r>
              <a:rPr lang="en-GB" sz="1200" b="0" i="0" kern="1200" dirty="0">
                <a:solidFill>
                  <a:schemeClr val="tx1"/>
                </a:solidFill>
                <a:effectLst/>
                <a:latin typeface="+mn-lt"/>
                <a:ea typeface="+mn-ea"/>
                <a:cs typeface="+mn-cs"/>
              </a:rPr>
              <a:t> 10 years. (Use “for” for duration).</a:t>
            </a:r>
          </a:p>
          <a:p>
            <a:pPr>
              <a:buNone/>
            </a:pPr>
            <a:endParaRPr lang="en-GB" dirty="0"/>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76</a:t>
            </a:fld>
            <a:endParaRPr lang="en-GB"/>
          </a:p>
        </p:txBody>
      </p:sp>
    </p:spTree>
    <p:extLst>
      <p:ext uri="{BB962C8B-B14F-4D97-AF65-F5344CB8AC3E}">
        <p14:creationId xmlns:p14="http://schemas.microsoft.com/office/powerpoint/2010/main" val="35113066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Use </a:t>
            </a:r>
            <a:r>
              <a:rPr lang="en-GB" sz="1200" b="1" i="0" kern="1200" dirty="0">
                <a:solidFill>
                  <a:schemeClr val="tx1"/>
                </a:solidFill>
                <a:effectLst/>
                <a:latin typeface="+mn-lt"/>
                <a:ea typeface="+mn-ea"/>
                <a:cs typeface="+mn-cs"/>
              </a:rPr>
              <a:t>‘at’</a:t>
            </a:r>
            <a:r>
              <a:rPr lang="en-GB" sz="1200" b="0" i="0" kern="1200" dirty="0">
                <a:solidFill>
                  <a:schemeClr val="tx1"/>
                </a:solidFill>
                <a:effectLst/>
                <a:latin typeface="+mn-lt"/>
                <a:ea typeface="+mn-ea"/>
                <a:cs typeface="+mn-cs"/>
              </a:rPr>
              <a:t> when you’re talking about specific locations, like </a:t>
            </a:r>
            <a:r>
              <a:rPr lang="en-GB" sz="1200" b="0" i="1" kern="1200" dirty="0">
                <a:solidFill>
                  <a:schemeClr val="tx1"/>
                </a:solidFill>
                <a:effectLst/>
                <a:latin typeface="+mn-lt"/>
                <a:ea typeface="+mn-ea"/>
                <a:cs typeface="+mn-cs"/>
              </a:rPr>
              <a:t>“at the office”</a:t>
            </a:r>
            <a:r>
              <a:rPr lang="en-GB" sz="1200" b="0" i="0" kern="1200" dirty="0">
                <a:solidFill>
                  <a:schemeClr val="tx1"/>
                </a:solidFill>
                <a:effectLst/>
                <a:latin typeface="+mn-lt"/>
                <a:ea typeface="+mn-ea"/>
                <a:cs typeface="+mn-cs"/>
              </a:rPr>
              <a:t> or </a:t>
            </a:r>
            <a:r>
              <a:rPr lang="en-GB" sz="1200" b="0" i="1" kern="1200" dirty="0">
                <a:solidFill>
                  <a:schemeClr val="tx1"/>
                </a:solidFill>
                <a:effectLst/>
                <a:latin typeface="+mn-lt"/>
                <a:ea typeface="+mn-ea"/>
                <a:cs typeface="+mn-cs"/>
              </a:rPr>
              <a:t>“at the park.”</a:t>
            </a:r>
            <a:r>
              <a:rPr lang="en-GB" sz="1200" b="0" i="0" kern="1200" dirty="0">
                <a:solidFill>
                  <a:schemeClr val="tx1"/>
                </a:solidFill>
                <a:effectLst/>
                <a:latin typeface="+mn-lt"/>
                <a:ea typeface="+mn-ea"/>
                <a:cs typeface="+mn-cs"/>
              </a:rPr>
              <a:t> Use </a:t>
            </a:r>
            <a:r>
              <a:rPr lang="en-GB" sz="1200" b="1" i="0" kern="1200" dirty="0">
                <a:solidFill>
                  <a:schemeClr val="tx1"/>
                </a:solidFill>
                <a:effectLst/>
                <a:latin typeface="+mn-lt"/>
                <a:ea typeface="+mn-ea"/>
                <a:cs typeface="+mn-cs"/>
              </a:rPr>
              <a:t>‘in’</a:t>
            </a:r>
            <a:r>
              <a:rPr lang="en-GB" sz="1200" b="0" i="0" kern="1200" dirty="0">
                <a:solidFill>
                  <a:schemeClr val="tx1"/>
                </a:solidFill>
                <a:effectLst/>
                <a:latin typeface="+mn-lt"/>
                <a:ea typeface="+mn-ea"/>
                <a:cs typeface="+mn-cs"/>
              </a:rPr>
              <a:t> when you’re referring to something more general or enclosed, like </a:t>
            </a:r>
            <a:r>
              <a:rPr lang="en-GB" sz="1200" b="0" i="1" kern="1200" dirty="0">
                <a:solidFill>
                  <a:schemeClr val="tx1"/>
                </a:solidFill>
                <a:effectLst/>
                <a:latin typeface="+mn-lt"/>
                <a:ea typeface="+mn-ea"/>
                <a:cs typeface="+mn-cs"/>
              </a:rPr>
              <a:t>“in the city”</a:t>
            </a:r>
            <a:r>
              <a:rPr lang="en-GB" sz="1200" b="0" i="0" kern="1200" dirty="0">
                <a:solidFill>
                  <a:schemeClr val="tx1"/>
                </a:solidFill>
                <a:effectLst/>
                <a:latin typeface="+mn-lt"/>
                <a:ea typeface="+mn-ea"/>
                <a:cs typeface="+mn-cs"/>
              </a:rPr>
              <a:t> or </a:t>
            </a:r>
            <a:r>
              <a:rPr lang="en-GB" sz="1200" b="0" i="1" kern="1200" dirty="0">
                <a:solidFill>
                  <a:schemeClr val="tx1"/>
                </a:solidFill>
                <a:effectLst/>
                <a:latin typeface="+mn-lt"/>
                <a:ea typeface="+mn-ea"/>
                <a:cs typeface="+mn-cs"/>
              </a:rPr>
              <a:t>“in the car.”</a:t>
            </a:r>
          </a:p>
          <a:p>
            <a:endParaRPr lang="en-GB" sz="1200" b="0" i="1" kern="1200" dirty="0">
              <a:solidFill>
                <a:schemeClr val="tx1"/>
              </a:solidFill>
              <a:effectLst/>
              <a:latin typeface="+mn-lt"/>
              <a:ea typeface="+mn-ea"/>
              <a:cs typeface="+mn-cs"/>
            </a:endParaRPr>
          </a:p>
          <a:p>
            <a:pPr>
              <a:buNone/>
            </a:pPr>
            <a:r>
              <a:rPr lang="en-GB" dirty="0"/>
              <a:t>	PLACE  		 TIME</a:t>
            </a:r>
          </a:p>
          <a:p>
            <a:pPr>
              <a:buNone/>
            </a:pPr>
            <a:r>
              <a:rPr lang="en-GB" b="1" dirty="0"/>
              <a:t>IN	</a:t>
            </a:r>
            <a:r>
              <a:rPr lang="en-GB" dirty="0"/>
              <a:t>large/enclosed	 area 	long period</a:t>
            </a:r>
          </a:p>
          <a:p>
            <a:pPr>
              <a:buNone/>
            </a:pPr>
            <a:r>
              <a:rPr lang="en-GB" b="1" dirty="0"/>
              <a:t>ON	</a:t>
            </a:r>
            <a:r>
              <a:rPr lang="en-GB" dirty="0"/>
              <a:t>surface		day/date</a:t>
            </a:r>
          </a:p>
          <a:p>
            <a:pPr>
              <a:buNone/>
            </a:pPr>
            <a:r>
              <a:rPr lang="en-GB" b="1" dirty="0"/>
              <a:t>AT	</a:t>
            </a:r>
            <a:r>
              <a:rPr lang="en-GB" dirty="0"/>
              <a:t>exact point		exact time</a:t>
            </a:r>
          </a:p>
          <a:p>
            <a:pPr>
              <a:buNone/>
            </a:pPr>
            <a:endParaRPr lang="en-GB" dirty="0"/>
          </a:p>
          <a:p>
            <a:pPr>
              <a:buNone/>
            </a:pPr>
            <a:endParaRPr lang="en-GB" dirty="0"/>
          </a:p>
          <a:p>
            <a:r>
              <a:rPr lang="en-GB" b="1" dirty="0"/>
              <a:t>Little </a:t>
            </a:r>
            <a:r>
              <a:rPr lang="en-GB" dirty="0"/>
              <a:t>almost none </a:t>
            </a:r>
            <a:r>
              <a:rPr lang="en-GB" b="1" dirty="0"/>
              <a:t>negative</a:t>
            </a:r>
            <a:endParaRPr lang="en-GB" dirty="0"/>
          </a:p>
          <a:p>
            <a:r>
              <a:rPr lang="en-GB" b="1" dirty="0"/>
              <a:t>a little </a:t>
            </a:r>
            <a:r>
              <a:rPr lang="en-GB" dirty="0"/>
              <a:t>some, though not much </a:t>
            </a:r>
            <a:r>
              <a:rPr lang="en-GB" b="1" dirty="0"/>
              <a:t>positive/neutral</a:t>
            </a:r>
            <a:endParaRPr lang="en-GB" dirty="0"/>
          </a:p>
          <a:p>
            <a:r>
              <a:rPr lang="en-GB" b="1" dirty="0"/>
              <a:t>the little </a:t>
            </a:r>
            <a:r>
              <a:rPr lang="en-GB" dirty="0"/>
              <a:t>the small amount that exists </a:t>
            </a:r>
            <a:r>
              <a:rPr lang="en-GB" b="1" dirty="0"/>
              <a:t>specific</a:t>
            </a:r>
            <a:endParaRPr lang="en-GB" dirty="0"/>
          </a:p>
          <a:p>
            <a:pPr>
              <a:buNone/>
            </a:pPr>
            <a:endParaRPr lang="en-GB" dirty="0"/>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77</a:t>
            </a:fld>
            <a:endParaRPr lang="en-GB"/>
          </a:p>
        </p:txBody>
      </p:sp>
    </p:spTree>
    <p:extLst>
      <p:ext uri="{BB962C8B-B14F-4D97-AF65-F5344CB8AC3E}">
        <p14:creationId xmlns:p14="http://schemas.microsoft.com/office/powerpoint/2010/main" val="26761787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Open word file</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78</a:t>
            </a:fld>
            <a:endParaRPr lang="en-GB"/>
          </a:p>
        </p:txBody>
      </p:sp>
    </p:spTree>
    <p:extLst>
      <p:ext uri="{BB962C8B-B14F-4D97-AF65-F5344CB8AC3E}">
        <p14:creationId xmlns:p14="http://schemas.microsoft.com/office/powerpoint/2010/main" val="2456510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l">
              <a:buNone/>
            </a:pPr>
            <a:r>
              <a:rPr lang="en-GB" sz="1200" b="0" i="0" dirty="0">
                <a:solidFill>
                  <a:srgbClr val="000000"/>
                </a:solidFill>
                <a:effectLst/>
                <a:latin typeface="Arial" panose="020B0604020202020204" pitchFamily="34" charset="0"/>
              </a:rPr>
              <a:t>In India, people say passed out of college meaning graduated </a:t>
            </a:r>
          </a:p>
          <a:p>
            <a:pPr marL="0" marR="0" algn="l">
              <a:buNone/>
            </a:pPr>
            <a:r>
              <a:rPr lang="en-GB" sz="1200" b="0" i="0" dirty="0">
                <a:solidFill>
                  <a:srgbClr val="000000"/>
                </a:solidFill>
                <a:effectLst/>
                <a:latin typeface="Arial" panose="020B0604020202020204" pitchFamily="34" charset="0"/>
              </a:rPr>
              <a:t>In global English, passed out means faint</a:t>
            </a:r>
            <a:r>
              <a:rPr lang="en-GB" sz="1200" b="0" i="0">
                <a:solidFill>
                  <a:srgbClr val="000000"/>
                </a:solidFill>
                <a:effectLst/>
                <a:latin typeface="Arial" panose="020B0604020202020204" pitchFamily="34" charset="0"/>
              </a:rPr>
              <a:t>, collapse </a:t>
            </a:r>
            <a:endParaRPr lang="en-GB" sz="1200" b="0" i="0" dirty="0">
              <a:solidFill>
                <a:srgbClr val="000000"/>
              </a:solidFill>
              <a:effectLst/>
              <a:latin typeface="Arial" panose="020B0604020202020204" pitchFamily="34" charset="0"/>
            </a:endParaRPr>
          </a:p>
          <a:p>
            <a:pPr marL="0" marR="0" algn="l">
              <a:buNone/>
            </a:pPr>
            <a:endParaRPr lang="en-GB" sz="1200" b="0" i="0" dirty="0">
              <a:solidFill>
                <a:srgbClr val="000000"/>
              </a:solidFill>
              <a:effectLst/>
              <a:latin typeface="Arial" panose="020B0604020202020204" pitchFamily="34" charset="0"/>
            </a:endParaRPr>
          </a:p>
          <a:p>
            <a:pPr marL="0" marR="0" algn="l">
              <a:buNone/>
            </a:pPr>
            <a:endParaRPr lang="en-GB" sz="1200" b="0" i="0" dirty="0">
              <a:solidFill>
                <a:srgbClr val="000000"/>
              </a:solidFill>
              <a:effectLst/>
              <a:latin typeface="Arial" panose="020B0604020202020204" pitchFamily="34" charset="0"/>
            </a:endParaRPr>
          </a:p>
          <a:p>
            <a:pPr marL="0" marR="0" algn="l">
              <a:buNone/>
            </a:pPr>
            <a:r>
              <a:rPr lang="en-GB" sz="1200" b="0" i="0" dirty="0">
                <a:solidFill>
                  <a:srgbClr val="000000"/>
                </a:solidFill>
                <a:effectLst/>
                <a:latin typeface="Arial" panose="020B0604020202020204" pitchFamily="34" charset="0"/>
              </a:rPr>
              <a:t>I’ll “</a:t>
            </a:r>
            <a:r>
              <a:rPr lang="en-GB" sz="1200" b="1" i="0" dirty="0">
                <a:solidFill>
                  <a:srgbClr val="000000"/>
                </a:solidFill>
                <a:effectLst/>
                <a:latin typeface="Arial" panose="020B0604020202020204" pitchFamily="34" charset="0"/>
              </a:rPr>
              <a:t>prepone</a:t>
            </a:r>
            <a:r>
              <a:rPr lang="en-GB" sz="1200" b="0" i="0" dirty="0">
                <a:solidFill>
                  <a:srgbClr val="000000"/>
                </a:solidFill>
                <a:effectLst/>
                <a:latin typeface="Arial" panose="020B0604020202020204" pitchFamily="34" charset="0"/>
              </a:rPr>
              <a:t>” the meeting.   I’ll </a:t>
            </a:r>
            <a:r>
              <a:rPr lang="en-GB" sz="1200" b="1" i="0" dirty="0">
                <a:solidFill>
                  <a:srgbClr val="000000"/>
                </a:solidFill>
                <a:effectLst/>
                <a:latin typeface="Arial" panose="020B0604020202020204" pitchFamily="34" charset="0"/>
              </a:rPr>
              <a:t>bring the meeting forward</a:t>
            </a:r>
            <a:endParaRPr lang="en-GB" sz="1200" b="0" i="0" dirty="0">
              <a:solidFill>
                <a:srgbClr val="000000"/>
              </a:solidFill>
              <a:effectLst/>
              <a:latin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80</a:t>
            </a:fld>
            <a:endParaRPr lang="en-GB"/>
          </a:p>
        </p:txBody>
      </p:sp>
    </p:spTree>
    <p:extLst>
      <p:ext uri="{BB962C8B-B14F-4D97-AF65-F5344CB8AC3E}">
        <p14:creationId xmlns:p14="http://schemas.microsoft.com/office/powerpoint/2010/main" val="15344053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Norm providing developing and dependent </a:t>
            </a:r>
          </a:p>
          <a:p>
            <a:endParaRPr lang="en-IN" dirty="0"/>
          </a:p>
          <a:p>
            <a:r>
              <a:rPr lang="en-IN" dirty="0"/>
              <a:t>ENL ESL EFL</a:t>
            </a:r>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81</a:t>
            </a:fld>
            <a:endParaRPr lang="en-GB"/>
          </a:p>
        </p:txBody>
      </p:sp>
    </p:spTree>
    <p:extLst>
      <p:ext uri="{BB962C8B-B14F-4D97-AF65-F5344CB8AC3E}">
        <p14:creationId xmlns:p14="http://schemas.microsoft.com/office/powerpoint/2010/main" val="31380711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organizations which failed to recognize or value these skills in their employees would simply not generate the trust, co-operation and creativity which are needed for long-term success.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baseline="0" dirty="0"/>
              <a:t>people spend almost 45 per cent of their</a:t>
            </a:r>
            <a:r>
              <a:rPr lang="en-US" sz="1200" dirty="0"/>
              <a:t> </a:t>
            </a:r>
            <a:r>
              <a:rPr lang="en-GB" sz="1200" b="0" i="0" u="none" strike="noStrike" baseline="0" dirty="0"/>
              <a:t>working time in listening.</a:t>
            </a:r>
            <a:endParaRPr lang="en-US" dirty="0"/>
          </a:p>
          <a:p>
            <a:endParaRPr lang="en-US" dirty="0"/>
          </a:p>
          <a:p>
            <a:r>
              <a:rPr lang="en-US" sz="1200" b="0" i="0" u="none" strike="noStrike" kern="1200" baseline="0" dirty="0">
                <a:solidFill>
                  <a:schemeClr val="tx1"/>
                </a:solidFill>
                <a:latin typeface="+mn-lt"/>
                <a:ea typeface="+mn-ea"/>
                <a:cs typeface="+mn-cs"/>
              </a:rPr>
              <a:t>respond or react to the other person or persons in ways which appear ‘natural’ and which are ‘effective</a:t>
            </a:r>
          </a:p>
          <a:p>
            <a:endParaRPr lang="en-US" sz="1200" b="0" i="0" u="none" strike="noStrike" kern="1200" baseline="0" dirty="0">
              <a:solidFill>
                <a:schemeClr val="tx1"/>
              </a:solidFill>
              <a:latin typeface="+mn-lt"/>
              <a:ea typeface="+mn-ea"/>
              <a:cs typeface="+mn-cs"/>
            </a:endParaRPr>
          </a:p>
          <a:p>
            <a:pPr algn="l"/>
            <a:r>
              <a:rPr lang="en-GB" sz="1200" b="0" i="0" u="none" strike="noStrike" baseline="0" dirty="0">
                <a:latin typeface="Perpetua" panose="02020502060401020303" pitchFamily="18" charset="0"/>
              </a:rPr>
              <a:t>non-verbal communication (NVC);</a:t>
            </a:r>
          </a:p>
          <a:p>
            <a:pPr algn="l"/>
            <a:r>
              <a:rPr lang="en-GB" sz="900" b="0" i="0" u="none" strike="noStrike" baseline="0" dirty="0">
                <a:latin typeface="ZapfDingbats"/>
              </a:rPr>
              <a:t> </a:t>
            </a:r>
            <a:r>
              <a:rPr lang="en-GB" sz="1200" b="0" i="0" u="none" strike="noStrike" baseline="0" dirty="0">
                <a:latin typeface="Perpetua" panose="02020502060401020303" pitchFamily="18" charset="0"/>
              </a:rPr>
              <a:t>reinforcement;</a:t>
            </a:r>
          </a:p>
          <a:p>
            <a:pPr algn="l"/>
            <a:r>
              <a:rPr lang="en-GB" sz="900" b="0" i="0" u="none" strike="noStrike" baseline="0" dirty="0">
                <a:latin typeface="ZapfDingbats"/>
              </a:rPr>
              <a:t> </a:t>
            </a:r>
            <a:r>
              <a:rPr lang="en-GB" sz="1200" b="0" i="0" u="none" strike="noStrike" baseline="0" dirty="0">
                <a:latin typeface="Perpetua" panose="02020502060401020303" pitchFamily="18" charset="0"/>
              </a:rPr>
              <a:t>questioning;</a:t>
            </a:r>
          </a:p>
          <a:p>
            <a:pPr algn="l"/>
            <a:r>
              <a:rPr lang="en-GB" sz="900" b="0" i="0" u="none" strike="noStrike" baseline="0" dirty="0">
                <a:latin typeface="ZapfDingbats"/>
              </a:rPr>
              <a:t> </a:t>
            </a:r>
            <a:r>
              <a:rPr lang="en-GB" sz="1200" b="0" i="0" u="none" strike="noStrike" baseline="0" dirty="0">
                <a:latin typeface="Perpetua" panose="02020502060401020303" pitchFamily="18" charset="0"/>
              </a:rPr>
              <a:t>reflecting;</a:t>
            </a:r>
          </a:p>
          <a:p>
            <a:pPr algn="l"/>
            <a:r>
              <a:rPr lang="en-GB" sz="900" b="0" i="0" u="none" strike="noStrike" baseline="0" dirty="0">
                <a:latin typeface="ZapfDingbats"/>
              </a:rPr>
              <a:t> </a:t>
            </a:r>
            <a:r>
              <a:rPr lang="en-GB" sz="1200" b="0" i="0" u="none" strike="noStrike" baseline="0" dirty="0">
                <a:latin typeface="Perpetua" panose="02020502060401020303" pitchFamily="18" charset="0"/>
              </a:rPr>
              <a:t>opening and closing;</a:t>
            </a:r>
          </a:p>
          <a:p>
            <a:pPr algn="l"/>
            <a:r>
              <a:rPr lang="en-GB" sz="900" b="0" i="0" u="none" strike="noStrike" baseline="0" dirty="0">
                <a:latin typeface="ZapfDingbats"/>
              </a:rPr>
              <a:t> </a:t>
            </a:r>
            <a:r>
              <a:rPr lang="en-GB" sz="1200" b="0" i="0" u="none" strike="noStrike" baseline="0" dirty="0">
                <a:latin typeface="Perpetua" panose="02020502060401020303" pitchFamily="18" charset="0"/>
              </a:rPr>
              <a:t>explanation;</a:t>
            </a:r>
          </a:p>
          <a:p>
            <a:pPr algn="l"/>
            <a:r>
              <a:rPr lang="en-GB" sz="900" b="0" i="0" u="none" strike="noStrike" baseline="0" dirty="0">
                <a:latin typeface="ZapfDingbats"/>
              </a:rPr>
              <a:t> </a:t>
            </a:r>
            <a:r>
              <a:rPr lang="en-GB" sz="1200" b="0" i="0" u="none" strike="noStrike" baseline="0" dirty="0">
                <a:latin typeface="Perpetua" panose="02020502060401020303" pitchFamily="18" charset="0"/>
              </a:rPr>
              <a:t>listening;</a:t>
            </a:r>
          </a:p>
          <a:p>
            <a:pPr algn="l"/>
            <a:r>
              <a:rPr lang="en-GB" sz="900" b="0" i="0" u="none" strike="noStrike" baseline="0" dirty="0">
                <a:latin typeface="ZapfDingbats"/>
              </a:rPr>
              <a:t> </a:t>
            </a:r>
            <a:r>
              <a:rPr lang="en-GB" sz="1200" b="0" i="0" u="none" strike="noStrike" baseline="0" dirty="0">
                <a:latin typeface="Perpetua" panose="02020502060401020303" pitchFamily="18" charset="0"/>
              </a:rPr>
              <a:t>self-disclosure;</a:t>
            </a:r>
          </a:p>
          <a:p>
            <a:pPr algn="l"/>
            <a:r>
              <a:rPr lang="en-GB" sz="900" b="0" i="0" u="none" strike="noStrike" baseline="0" dirty="0">
                <a:latin typeface="ZapfDingbats"/>
              </a:rPr>
              <a:t> </a:t>
            </a:r>
            <a:r>
              <a:rPr lang="en-GB" sz="1200" b="0" i="0" u="none" strike="noStrike" baseline="0" dirty="0">
                <a:latin typeface="Perpetua" panose="02020502060401020303" pitchFamily="18" charset="0"/>
              </a:rPr>
              <a:t>influencing;</a:t>
            </a:r>
          </a:p>
          <a:p>
            <a:pPr algn="l"/>
            <a:r>
              <a:rPr lang="en-GB" sz="900" b="0" i="0" u="none" strike="noStrike" baseline="0" dirty="0">
                <a:latin typeface="ZapfDingbats"/>
              </a:rPr>
              <a:t> </a:t>
            </a:r>
            <a:r>
              <a:rPr lang="en-GB" sz="1200" b="0" i="0" u="none" strike="noStrike" baseline="0" dirty="0">
                <a:latin typeface="Perpetua" panose="02020502060401020303" pitchFamily="18" charset="0"/>
              </a:rPr>
              <a:t>assertiveness;</a:t>
            </a:r>
          </a:p>
          <a:p>
            <a:pPr algn="l"/>
            <a:r>
              <a:rPr lang="en-GB" sz="900" b="0" i="0" u="none" strike="noStrike" baseline="0" dirty="0">
                <a:latin typeface="ZapfDingbats"/>
              </a:rPr>
              <a:t> </a:t>
            </a:r>
            <a:r>
              <a:rPr lang="en-GB" sz="1200" b="0" i="0" u="none" strike="noStrike" baseline="0" dirty="0">
                <a:latin typeface="Perpetua" panose="02020502060401020303" pitchFamily="18" charset="0"/>
              </a:rPr>
              <a:t>group interaction and leadership;</a:t>
            </a:r>
          </a:p>
          <a:p>
            <a:pPr algn="l"/>
            <a:r>
              <a:rPr lang="en-GB" sz="900" b="0" i="0" u="none" strike="noStrike" baseline="0" dirty="0">
                <a:latin typeface="ZapfDingbats"/>
              </a:rPr>
              <a:t> </a:t>
            </a:r>
            <a:r>
              <a:rPr lang="en-GB" sz="1200" b="0" i="0" u="none" strike="noStrike" baseline="0" dirty="0">
                <a:latin typeface="Perpetua" panose="02020502060401020303" pitchFamily="18" charset="0"/>
              </a:rPr>
              <a:t>humour and laughter.</a:t>
            </a:r>
            <a:endParaRPr lang="en-GB" dirty="0"/>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84</a:t>
            </a:fld>
            <a:endParaRPr lang="en-GB"/>
          </a:p>
        </p:txBody>
      </p:sp>
    </p:spTree>
    <p:extLst>
      <p:ext uri="{BB962C8B-B14F-4D97-AF65-F5344CB8AC3E}">
        <p14:creationId xmlns:p14="http://schemas.microsoft.com/office/powerpoint/2010/main" val="49467931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Active listening = listening to understand.</a:t>
            </a:r>
            <a:br>
              <a:rPr lang="en-GB" dirty="0"/>
            </a:br>
            <a:r>
              <a:rPr lang="en-GB" b="1" dirty="0"/>
              <a:t>Passive listening = hearing without actively engaging with or processing the speaker's message.</a:t>
            </a:r>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If you observe a </a:t>
            </a:r>
            <a:r>
              <a:rPr lang="en-US" sz="1200" b="1" i="0" u="none" strike="noStrike" kern="1200" baseline="0" dirty="0">
                <a:solidFill>
                  <a:schemeClr val="tx1"/>
                </a:solidFill>
                <a:latin typeface="+mn-lt"/>
                <a:ea typeface="+mn-ea"/>
                <a:cs typeface="+mn-cs"/>
              </a:rPr>
              <a:t>salesperson</a:t>
            </a:r>
            <a:r>
              <a:rPr lang="en-US" sz="1200" b="0" i="0" u="none" strike="noStrike" kern="1200" baseline="0" dirty="0">
                <a:solidFill>
                  <a:schemeClr val="tx1"/>
                </a:solidFill>
                <a:latin typeface="+mn-lt"/>
                <a:ea typeface="+mn-ea"/>
                <a:cs typeface="+mn-cs"/>
              </a:rPr>
              <a:t> carefully, you will realize that he/she is successful not because of his/her persuasive power in speaking but because he/she has</a:t>
            </a:r>
          </a:p>
          <a:p>
            <a:r>
              <a:rPr lang="en-US" sz="1200" b="0" i="0" u="none" strike="noStrike" kern="1200" baseline="0" dirty="0">
                <a:solidFill>
                  <a:schemeClr val="tx1"/>
                </a:solidFill>
                <a:latin typeface="+mn-lt"/>
                <a:ea typeface="+mn-ea"/>
                <a:cs typeface="+mn-cs"/>
              </a:rPr>
              <a:t>listened to the customer’s need carefully, which has enabled him/her to sell his/her point well.</a:t>
            </a:r>
          </a:p>
          <a:p>
            <a:endParaRPr lang="en-US" sz="1200" b="0" i="0" u="none" strike="noStrike" kern="1200" baseline="0" dirty="0">
              <a:solidFill>
                <a:schemeClr val="tx1"/>
              </a:solidFill>
              <a:latin typeface="+mn-lt"/>
              <a:ea typeface="+mn-ea"/>
              <a:cs typeface="+mn-cs"/>
            </a:endParaRPr>
          </a:p>
          <a:p>
            <a:r>
              <a:rPr lang="en-GB" b="1" dirty="0"/>
              <a:t>doctor</a:t>
            </a:r>
          </a:p>
        </p:txBody>
      </p:sp>
      <p:sp>
        <p:nvSpPr>
          <p:cNvPr id="4" name="Slide Number Placeholder 3"/>
          <p:cNvSpPr>
            <a:spLocks noGrp="1"/>
          </p:cNvSpPr>
          <p:nvPr>
            <p:ph type="sldNum" sz="quarter" idx="5"/>
          </p:nvPr>
        </p:nvSpPr>
        <p:spPr/>
        <p:txBody>
          <a:bodyPr/>
          <a:lstStyle/>
          <a:p>
            <a:fld id="{FD988CA6-E7AB-444F-8C7E-7177A6689493}" type="slidenum">
              <a:rPr lang="en-GB" smtClean="0"/>
              <a:t>85</a:t>
            </a:fld>
            <a:endParaRPr lang="en-GB"/>
          </a:p>
        </p:txBody>
      </p:sp>
    </p:spTree>
    <p:extLst>
      <p:ext uri="{BB962C8B-B14F-4D97-AF65-F5344CB8AC3E}">
        <p14:creationId xmlns:p14="http://schemas.microsoft.com/office/powerpoint/2010/main" val="3391489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How Much are You Paid for Listening? A manager asked her secretary to keep track of the</a:t>
            </a:r>
          </a:p>
          <a:p>
            <a:r>
              <a:rPr lang="en-US" sz="1200" b="0" i="0" u="none" strike="noStrike" kern="1200" baseline="0" dirty="0">
                <a:solidFill>
                  <a:schemeClr val="tx1"/>
                </a:solidFill>
                <a:latin typeface="+mn-lt"/>
                <a:ea typeface="+mn-ea"/>
                <a:cs typeface="+mn-cs"/>
              </a:rPr>
              <a:t>time she spent listening on the telephone. She was shocked to discover that her company was paying</a:t>
            </a:r>
          </a:p>
          <a:p>
            <a:r>
              <a:rPr lang="en-US" sz="1200" b="0" i="0" u="none" strike="noStrike" kern="1200" baseline="0" dirty="0">
                <a:solidFill>
                  <a:schemeClr val="tx1"/>
                </a:solidFill>
                <a:latin typeface="+mn-lt"/>
                <a:ea typeface="+mn-ea"/>
                <a:cs typeface="+mn-cs"/>
              </a:rPr>
              <a:t>her 35 per cent of her salary, or $18,000, for this </a:t>
            </a:r>
            <a:r>
              <a:rPr lang="en-GB" sz="1200" b="0" i="0" u="none" strike="noStrike" kern="1200" baseline="0" dirty="0">
                <a:solidFill>
                  <a:schemeClr val="tx1"/>
                </a:solidFill>
                <a:latin typeface="+mn-lt"/>
                <a:ea typeface="+mn-ea"/>
                <a:cs typeface="+mn-cs"/>
              </a:rPr>
              <a:t>function.</a:t>
            </a:r>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86</a:t>
            </a:fld>
            <a:endParaRPr lang="en-GB"/>
          </a:p>
        </p:txBody>
      </p:sp>
    </p:spTree>
    <p:extLst>
      <p:ext uri="{BB962C8B-B14F-4D97-AF65-F5344CB8AC3E}">
        <p14:creationId xmlns:p14="http://schemas.microsoft.com/office/powerpoint/2010/main" val="25214256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responses are intended to help. But are they actually responding to what Rahul is feeling?”</a:t>
            </a:r>
          </a:p>
          <a:p>
            <a:endParaRPr lang="en-US" dirty="0"/>
          </a:p>
          <a:p>
            <a:r>
              <a:rPr lang="en-GB" dirty="0"/>
              <a:t>“That must have been really embarrassing, especially after preparing for three days and then forgetting your points in front of everyone. I can understand why you feel terrible about it. But one difficult presentation doesn't mean you're terrible at presentations.”</a:t>
            </a:r>
          </a:p>
          <a:p>
            <a:endParaRPr lang="en-GB" dirty="0"/>
          </a:p>
          <a:p>
            <a:pPr lvl="0"/>
            <a:r>
              <a:rPr lang="en-GB" b="1" dirty="0"/>
              <a:t>Recognises the emotion:</a:t>
            </a:r>
            <a:r>
              <a:rPr lang="en-GB" dirty="0"/>
              <a:t> “That must have been really embarrassing.” </a:t>
            </a:r>
          </a:p>
          <a:p>
            <a:pPr lvl="0"/>
            <a:r>
              <a:rPr lang="en-GB" b="1" dirty="0"/>
              <a:t>Acknowledges his perspective:</a:t>
            </a:r>
            <a:r>
              <a:rPr lang="en-GB" dirty="0"/>
              <a:t> “I can understand why you feel terrible about it.” </a:t>
            </a:r>
          </a:p>
          <a:p>
            <a:pPr lvl="0"/>
            <a:r>
              <a:rPr lang="en-GB" b="1" dirty="0"/>
              <a:t>Doesn't immediately judge or give advice:</a:t>
            </a:r>
            <a:r>
              <a:rPr lang="en-GB" dirty="0"/>
              <a:t> It first shows understanding before trying to change his thinking.</a:t>
            </a:r>
          </a:p>
          <a:p>
            <a:endParaRPr lang="en-GB" dirty="0"/>
          </a:p>
          <a:p>
            <a:r>
              <a:rPr lang="en-GB" dirty="0"/>
              <a:t>❌ </a:t>
            </a:r>
            <a:r>
              <a:rPr lang="en-GB" b="1" dirty="0"/>
              <a:t>Advice: </a:t>
            </a:r>
            <a:r>
              <a:rPr lang="en-GB" dirty="0"/>
              <a:t>“Don't worry. Just practise more next time.”</a:t>
            </a:r>
          </a:p>
          <a:p>
            <a:r>
              <a:rPr lang="en-GB" dirty="0"/>
              <a:t>❌ </a:t>
            </a:r>
            <a:r>
              <a:rPr lang="en-GB" b="1" dirty="0"/>
              <a:t>Dismissal: </a:t>
            </a:r>
            <a:r>
              <a:rPr lang="en-GB" dirty="0"/>
              <a:t>“It's not a big deal. Everyone makes mistakes.”</a:t>
            </a:r>
          </a:p>
          <a:p>
            <a:r>
              <a:rPr lang="en-GB" dirty="0"/>
              <a:t>❌ </a:t>
            </a:r>
            <a:r>
              <a:rPr lang="en-GB" b="1" dirty="0"/>
              <a:t>Judgment: </a:t>
            </a:r>
            <a:r>
              <a:rPr lang="en-GB" dirty="0"/>
              <a:t>“You should have prepared better.”</a:t>
            </a:r>
          </a:p>
          <a:p>
            <a:r>
              <a:rPr lang="en-GB" dirty="0"/>
              <a:t>❌ </a:t>
            </a:r>
            <a:r>
              <a:rPr lang="en-GB" b="1" dirty="0"/>
              <a:t>Forced positivity: </a:t>
            </a:r>
            <a:r>
              <a:rPr lang="en-GB" dirty="0"/>
              <a:t>“Come on, you're actually a great presenter!”</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87</a:t>
            </a:fld>
            <a:endParaRPr lang="en-GB"/>
          </a:p>
        </p:txBody>
      </p:sp>
    </p:spTree>
    <p:extLst>
      <p:ext uri="{BB962C8B-B14F-4D97-AF65-F5344CB8AC3E}">
        <p14:creationId xmlns:p14="http://schemas.microsoft.com/office/powerpoint/2010/main" val="5369012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t>He was lazy. </a:t>
            </a:r>
          </a:p>
          <a:p>
            <a:pPr lvl="0"/>
            <a:r>
              <a:rPr lang="en-GB" dirty="0"/>
              <a:t>He forgot. </a:t>
            </a:r>
          </a:p>
          <a:p>
            <a:pPr lvl="0"/>
            <a:r>
              <a:rPr lang="en-GB" dirty="0"/>
              <a:t>He didn't understand the assignment. </a:t>
            </a:r>
          </a:p>
          <a:p>
            <a:pPr lvl="0"/>
            <a:r>
              <a:rPr lang="en-GB" dirty="0"/>
              <a:t>He was busy. </a:t>
            </a:r>
          </a:p>
          <a:p>
            <a:pPr lvl="0"/>
            <a:r>
              <a:rPr lang="en-GB" dirty="0"/>
              <a:t>He had another problem. </a:t>
            </a:r>
          </a:p>
          <a:p>
            <a:pPr lvl="0"/>
            <a:r>
              <a:rPr lang="en-GB" dirty="0"/>
              <a:t>He was struggling with the topic.</a:t>
            </a:r>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89</a:t>
            </a:fld>
            <a:endParaRPr lang="en-GB"/>
          </a:p>
        </p:txBody>
      </p:sp>
    </p:spTree>
    <p:extLst>
      <p:ext uri="{BB962C8B-B14F-4D97-AF65-F5344CB8AC3E}">
        <p14:creationId xmlns:p14="http://schemas.microsoft.com/office/powerpoint/2010/main" val="24620096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t>Pay attention to the speaker's </a:t>
            </a:r>
            <a:r>
              <a:rPr lang="en-GB" b="1" dirty="0"/>
              <a:t>emotions</a:t>
            </a:r>
            <a:r>
              <a:rPr lang="en-GB" dirty="0"/>
              <a:t>, not just words </a:t>
            </a:r>
          </a:p>
          <a:p>
            <a:pPr lvl="0"/>
            <a:r>
              <a:rPr lang="en-GB" dirty="0"/>
              <a:t>Notice feelings that may be implied rather than explicitly stated </a:t>
            </a:r>
          </a:p>
          <a:p>
            <a:pPr lvl="0"/>
            <a:r>
              <a:rPr lang="en-GB" dirty="0"/>
              <a:t>Respond with empathy </a:t>
            </a:r>
          </a:p>
          <a:p>
            <a:pPr lvl="0"/>
            <a:r>
              <a:rPr lang="en-GB" dirty="0"/>
              <a:t>Be careful not to tell people </a:t>
            </a:r>
            <a:r>
              <a:rPr lang="en-GB" b="1" dirty="0"/>
              <a:t>what they should feel</a:t>
            </a:r>
            <a:endParaRPr lang="en-GB" dirty="0"/>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90</a:t>
            </a:fld>
            <a:endParaRPr lang="en-GB"/>
          </a:p>
        </p:txBody>
      </p:sp>
    </p:spTree>
    <p:extLst>
      <p:ext uri="{BB962C8B-B14F-4D97-AF65-F5344CB8AC3E}">
        <p14:creationId xmlns:p14="http://schemas.microsoft.com/office/powerpoint/2010/main" val="39776595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 Specific</a:t>
            </a:r>
          </a:p>
          <a:p>
            <a:r>
              <a:rPr lang="en-GB" dirty="0"/>
              <a:t>Focus on Behaviour, Not Personality   </a:t>
            </a:r>
          </a:p>
          <a:p>
            <a:r>
              <a:rPr lang="en-GB" dirty="0"/>
              <a:t>❌ “You are careless.”</a:t>
            </a:r>
          </a:p>
          <a:p>
            <a:r>
              <a:rPr lang="en-GB" dirty="0"/>
              <a:t>✅ “You missed two important points in the final section.</a:t>
            </a:r>
          </a:p>
          <a:p>
            <a:endParaRPr lang="en-GB" dirty="0"/>
          </a:p>
          <a:p>
            <a:endParaRPr lang="en-GB" dirty="0"/>
          </a:p>
          <a:p>
            <a:r>
              <a:rPr lang="en-GB" b="1" dirty="0"/>
              <a:t>Be Balanced</a:t>
            </a:r>
          </a:p>
          <a:p>
            <a:r>
              <a:rPr lang="en-GB" dirty="0"/>
              <a:t>Good feedback can include both </a:t>
            </a:r>
            <a:r>
              <a:rPr lang="en-GB" b="1" dirty="0"/>
              <a:t>strengths and areas for improvement</a:t>
            </a:r>
            <a:r>
              <a:rPr lang="en-GB" dirty="0"/>
              <a:t>.</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96</a:t>
            </a:fld>
            <a:endParaRPr lang="en-GB"/>
          </a:p>
        </p:txBody>
      </p:sp>
    </p:spTree>
    <p:extLst>
      <p:ext uri="{BB962C8B-B14F-4D97-AF65-F5344CB8AC3E}">
        <p14:creationId xmlns:p14="http://schemas.microsoft.com/office/powerpoint/2010/main" val="11940245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“Your main argument was interesting, but the presentation became difficult to follow because you moved between three points without explaining the connection.”</a:t>
            </a:r>
          </a:p>
        </p:txBody>
      </p:sp>
      <p:sp>
        <p:nvSpPr>
          <p:cNvPr id="4" name="Slide Number Placeholder 3"/>
          <p:cNvSpPr>
            <a:spLocks noGrp="1"/>
          </p:cNvSpPr>
          <p:nvPr>
            <p:ph type="sldNum" sz="quarter" idx="5"/>
          </p:nvPr>
        </p:nvSpPr>
        <p:spPr/>
        <p:txBody>
          <a:bodyPr/>
          <a:lstStyle/>
          <a:p>
            <a:fld id="{FD988CA6-E7AB-444F-8C7E-7177A6689493}" type="slidenum">
              <a:rPr lang="en-GB" smtClean="0"/>
              <a:t>97</a:t>
            </a:fld>
            <a:endParaRPr lang="en-GB"/>
          </a:p>
        </p:txBody>
      </p:sp>
    </p:spTree>
    <p:extLst>
      <p:ext uri="{BB962C8B-B14F-4D97-AF65-F5344CB8AC3E}">
        <p14:creationId xmlns:p14="http://schemas.microsoft.com/office/powerpoint/2010/main" val="25142617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988CA6-E7AB-444F-8C7E-7177A6689493}" type="slidenum">
              <a:rPr lang="en-GB" smtClean="0"/>
              <a:t>98</a:t>
            </a:fld>
            <a:endParaRPr lang="en-GB"/>
          </a:p>
        </p:txBody>
      </p:sp>
    </p:spTree>
    <p:extLst>
      <p:ext uri="{BB962C8B-B14F-4D97-AF65-F5344CB8AC3E}">
        <p14:creationId xmlns:p14="http://schemas.microsoft.com/office/powerpoint/2010/main" val="24761512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endParaRPr lang="en-GB"/>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950E154D-36DA-47AC-BF16-0C691B5BD279}" type="slidenum">
              <a:rPr lang="en-GB" smtClean="0"/>
              <a:t>‹#›</a:t>
            </a:fld>
            <a:endParaRPr lang="en-GB"/>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0828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950E154D-36DA-47AC-BF16-0C691B5BD279}" type="slidenum">
              <a:rPr lang="en-GB" smtClean="0"/>
              <a:t>‹#›</a:t>
            </a:fld>
            <a:endParaRPr lang="en-GB"/>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0861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endParaRPr lang="en-GB"/>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81662847-457F-4802-A607-80FD5F787C61}" type="datetimeFigureOut">
              <a:rPr lang="en-GB" smtClean="0"/>
              <a:t>08/09/2026</a:t>
            </a:fld>
            <a:endParaRPr lang="en-GB"/>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950E154D-36DA-47AC-BF16-0C691B5BD279}" type="slidenum">
              <a:rPr lang="en-GB" smtClean="0"/>
              <a:t>‹#›</a:t>
            </a:fld>
            <a:endParaRPr lang="en-GB"/>
          </a:p>
        </p:txBody>
      </p:sp>
    </p:spTree>
    <p:extLst>
      <p:ext uri="{BB962C8B-B14F-4D97-AF65-F5344CB8AC3E}">
        <p14:creationId xmlns:p14="http://schemas.microsoft.com/office/powerpoint/2010/main" val="1897503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950E154D-36DA-47AC-BF16-0C691B5BD279}" type="slidenum">
              <a:rPr lang="en-GB" smtClean="0"/>
              <a:t>‹#›</a:t>
            </a:fld>
            <a:endParaRPr lang="en-GB"/>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5149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endParaRPr lang="en-GB"/>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950E154D-36DA-47AC-BF16-0C691B5BD279}" type="slidenum">
              <a:rPr lang="en-GB" smtClean="0"/>
              <a:t>‹#›</a:t>
            </a:fld>
            <a:endParaRPr lang="en-GB"/>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1934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GB"/>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950E154D-36DA-47AC-BF16-0C691B5BD279}" type="slidenum">
              <a:rPr lang="en-GB" smtClean="0"/>
              <a:t>‹#›</a:t>
            </a:fld>
            <a:endParaRPr lang="en-GB"/>
          </a:p>
        </p:txBody>
      </p:sp>
    </p:spTree>
    <p:extLst>
      <p:ext uri="{BB962C8B-B14F-4D97-AF65-F5344CB8AC3E}">
        <p14:creationId xmlns:p14="http://schemas.microsoft.com/office/powerpoint/2010/main" val="3285185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endParaRPr lang="en-GB"/>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81662847-457F-4802-A607-80FD5F787C61}" type="datetimeFigureOut">
              <a:rPr lang="en-GB" smtClean="0"/>
              <a:t>08/09/2026</a:t>
            </a:fld>
            <a:endParaRPr lang="en-GB"/>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950E154D-36DA-47AC-BF16-0C691B5BD279}" type="slidenum">
              <a:rPr lang="en-GB" smtClean="0"/>
              <a:t>‹#›</a:t>
            </a:fld>
            <a:endParaRPr lang="en-GB"/>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3503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950E154D-36DA-47AC-BF16-0C691B5BD279}" type="slidenum">
              <a:rPr lang="en-GB" smtClean="0"/>
              <a:t>‹#›</a:t>
            </a:fld>
            <a:endParaRPr lang="en-GB"/>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554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950E154D-36DA-47AC-BF16-0C691B5BD279}" type="slidenum">
              <a:rPr lang="en-GB" smtClean="0"/>
              <a:t>‹#›</a:t>
            </a:fld>
            <a:endParaRPr lang="en-GB"/>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8243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endParaRPr lang="en-US" dirty="0"/>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950E154D-36DA-47AC-BF16-0C691B5BD279}" type="slidenum">
              <a:rPr lang="en-GB" smtClean="0"/>
              <a:t>‹#›</a:t>
            </a:fld>
            <a:endParaRPr lang="en-GB"/>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3106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950E154D-36DA-47AC-BF16-0C691B5BD279}" type="slidenum">
              <a:rPr lang="en-GB" smtClean="0"/>
              <a:t>‹#›</a:t>
            </a:fld>
            <a:endParaRPr lang="en-GB"/>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196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950E154D-36DA-47AC-BF16-0C691B5BD279}" type="slidenum">
              <a:rPr lang="en-GB" smtClean="0"/>
              <a:t>‹#›</a:t>
            </a:fld>
            <a:endParaRPr lang="en-GB"/>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89323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950E154D-36DA-47AC-BF16-0C691B5BD279}" type="slidenum">
              <a:rPr lang="en-GB" smtClean="0"/>
              <a:t>‹#›</a:t>
            </a:fld>
            <a:endParaRPr lang="en-GB"/>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83218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endParaRPr lang="en-GB"/>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950E154D-36DA-47AC-BF16-0C691B5BD279}" type="slidenum">
              <a:rPr lang="en-GB" smtClean="0"/>
              <a:t>‹#›</a:t>
            </a:fld>
            <a:endParaRPr lang="en-GB"/>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78688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endParaRPr lang="en-US" dirty="0"/>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endParaRPr lang="en-GB"/>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81662847-457F-4802-A607-80FD5F787C61}" type="datetimeFigureOut">
              <a:rPr lang="en-GB" smtClean="0"/>
              <a:t>08/09/2026</a:t>
            </a:fld>
            <a:endParaRPr lang="en-GB"/>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950E154D-36DA-47AC-BF16-0C691B5BD279}" type="slidenum">
              <a:rPr lang="en-GB" smtClean="0"/>
              <a:t>‹#›</a:t>
            </a:fld>
            <a:endParaRPr lang="en-GB"/>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9213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endParaRPr lang="en-GB"/>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950E154D-36DA-47AC-BF16-0C691B5BD279}" type="slidenum">
              <a:rPr lang="en-GB" smtClean="0"/>
              <a:t>‹#›</a:t>
            </a:fld>
            <a:endParaRPr lang="en-GB"/>
          </a:p>
        </p:txBody>
      </p:sp>
    </p:spTree>
    <p:extLst>
      <p:ext uri="{BB962C8B-B14F-4D97-AF65-F5344CB8AC3E}">
        <p14:creationId xmlns:p14="http://schemas.microsoft.com/office/powerpoint/2010/main" val="1087015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endParaRPr lang="en-GB"/>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950E154D-36DA-47AC-BF16-0C691B5BD279}" type="slidenum">
              <a:rPr lang="en-GB" smtClean="0"/>
              <a:t>‹#›</a:t>
            </a:fld>
            <a:endParaRPr lang="en-GB"/>
          </a:p>
        </p:txBody>
      </p:sp>
    </p:spTree>
    <p:extLst>
      <p:ext uri="{BB962C8B-B14F-4D97-AF65-F5344CB8AC3E}">
        <p14:creationId xmlns:p14="http://schemas.microsoft.com/office/powerpoint/2010/main" val="21657659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endParaRPr lang="en-US" dirty="0"/>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endParaRPr lang="en-GB"/>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81662847-457F-4802-A607-80FD5F787C61}" type="datetimeFigureOut">
              <a:rPr lang="en-GB" smtClean="0"/>
              <a:t>08/09/2026</a:t>
            </a:fld>
            <a:endParaRPr lang="en-GB"/>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950E154D-36DA-47AC-BF16-0C691B5BD279}" type="slidenum">
              <a:rPr lang="en-GB" smtClean="0"/>
              <a:t>‹#›</a:t>
            </a:fld>
            <a:endParaRPr lang="en-GB"/>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84927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dirty="0"/>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dirty="0"/>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endParaRPr lang="en-GB"/>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81662847-457F-4802-A607-80FD5F787C61}" type="datetimeFigureOut">
              <a:rPr lang="en-GB" smtClean="0"/>
              <a:t>08/09/2026</a:t>
            </a:fld>
            <a:endParaRPr lang="en-GB"/>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950E154D-36DA-47AC-BF16-0C691B5BD279}" type="slidenum">
              <a:rPr lang="en-GB" smtClean="0"/>
              <a:t>‹#›</a:t>
            </a:fld>
            <a:endParaRPr lang="en-GB"/>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78069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endParaRPr lang="en-GB"/>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81662847-457F-4802-A607-80FD5F787C61}" type="datetimeFigureOut">
              <a:rPr lang="en-GB" smtClean="0"/>
              <a:t>08/09/2026</a:t>
            </a:fld>
            <a:endParaRPr lang="en-GB"/>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950E154D-36DA-47AC-BF16-0C691B5BD279}" type="slidenum">
              <a:rPr lang="en-GB" smtClean="0"/>
              <a:t>‹#›</a:t>
            </a:fld>
            <a:endParaRPr lang="en-GB"/>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32290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dirty="0"/>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dirty="0"/>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endParaRPr lang="en-GB"/>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81662847-457F-4802-A607-80FD5F787C61}" type="datetimeFigureOut">
              <a:rPr lang="en-GB" smtClean="0"/>
              <a:t>08/09/2026</a:t>
            </a:fld>
            <a:endParaRPr lang="en-GB"/>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950E154D-36DA-47AC-BF16-0C691B5BD279}" type="slidenum">
              <a:rPr lang="en-GB" smtClean="0"/>
              <a:t>‹#›</a:t>
            </a:fld>
            <a:endParaRPr lang="en-GB"/>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12434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en-GB"/>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950E154D-36DA-47AC-BF16-0C691B5BD279}" type="slidenum">
              <a:rPr lang="en-GB" smtClean="0"/>
              <a:t>‹#›</a:t>
            </a:fld>
            <a:endParaRPr lang="en-GB"/>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71972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en-GB"/>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950E154D-36DA-47AC-BF16-0C691B5BD279}" type="slidenum">
              <a:rPr lang="en-GB" smtClean="0"/>
              <a:t>‹#›</a:t>
            </a:fld>
            <a:endParaRPr lang="en-GB"/>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72497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endParaRPr lang="en-GB"/>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950E154D-36DA-47AC-BF16-0C691B5BD279}" type="slidenum">
              <a:rPr lang="en-GB" smtClean="0"/>
              <a:t>‹#›</a:t>
            </a:fld>
            <a:endParaRPr lang="en-GB"/>
          </a:p>
        </p:txBody>
      </p:sp>
    </p:spTree>
    <p:extLst>
      <p:ext uri="{BB962C8B-B14F-4D97-AF65-F5344CB8AC3E}">
        <p14:creationId xmlns:p14="http://schemas.microsoft.com/office/powerpoint/2010/main" val="42411567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endParaRPr lang="en-GB"/>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950E154D-36DA-47AC-BF16-0C691B5BD279}" type="slidenum">
              <a:rPr lang="en-GB" smtClean="0"/>
              <a:t>‹#›</a:t>
            </a:fld>
            <a:endParaRPr lang="en-GB"/>
          </a:p>
        </p:txBody>
      </p:sp>
    </p:spTree>
    <p:extLst>
      <p:ext uri="{BB962C8B-B14F-4D97-AF65-F5344CB8AC3E}">
        <p14:creationId xmlns:p14="http://schemas.microsoft.com/office/powerpoint/2010/main" val="2809146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950E154D-36DA-47AC-BF16-0C691B5BD279}" type="slidenum">
              <a:rPr lang="en-GB" smtClean="0"/>
              <a:t>‹#›</a:t>
            </a:fld>
            <a:endParaRPr lang="en-GB"/>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35160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950E154D-36DA-47AC-BF16-0C691B5BD279}" type="slidenum">
              <a:rPr lang="en-GB" smtClean="0"/>
              <a:t>‹#›</a:t>
            </a:fld>
            <a:endParaRPr lang="en-GB"/>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25312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1662847-457F-4802-A607-80FD5F787C61}" type="datetimeFigureOut">
              <a:rPr lang="en-GB" smtClean="0"/>
              <a:t>08/09/2026</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950E154D-36DA-47AC-BF16-0C691B5BD279}" type="slidenum">
              <a:rPr lang="en-GB" smtClean="0"/>
              <a:t>‹#›</a:t>
            </a:fld>
            <a:endParaRPr lang="en-GB"/>
          </a:p>
        </p:txBody>
      </p:sp>
    </p:spTree>
    <p:extLst>
      <p:ext uri="{BB962C8B-B14F-4D97-AF65-F5344CB8AC3E}">
        <p14:creationId xmlns:p14="http://schemas.microsoft.com/office/powerpoint/2010/main" val="4208170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endParaRPr lang="en-GB"/>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81662847-457F-4802-A607-80FD5F787C61}" type="datetimeFigureOut">
              <a:rPr lang="en-GB" smtClean="0"/>
              <a:t>08/09/2026</a:t>
            </a:fld>
            <a:endParaRPr lang="en-GB"/>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950E154D-36DA-47AC-BF16-0C691B5BD279}" type="slidenum">
              <a:rPr lang="en-GB" smtClean="0"/>
              <a:t>‹#›</a:t>
            </a:fld>
            <a:endParaRPr lang="en-GB"/>
          </a:p>
        </p:txBody>
      </p:sp>
      <p:sp>
        <p:nvSpPr>
          <p:cNvPr id="8" name="TextBox 7">
            <a:extLst>
              <a:ext uri="{FF2B5EF4-FFF2-40B4-BE49-F238E27FC236}">
                <a16:creationId xmlns:a16="http://schemas.microsoft.com/office/drawing/2014/main" id="{CE1E8D67-00CA-7CDE-66AF-4E6E2CA0045D}"/>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299688494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7" r:id="rId28"/>
  </p:sldLayoutIdLst>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8.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5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8.xml"/><Relationship Id="rId1" Type="http://schemas.openxmlformats.org/officeDocument/2006/relationships/slideLayout" Target="../slideLayouts/slideLayout25.xml"/><Relationship Id="rId4" Type="http://schemas.openxmlformats.org/officeDocument/2006/relationships/image" Target="../media/image21.jpeg"/></Relationships>
</file>

<file path=ppt/slides/_rels/slide5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9.xml"/><Relationship Id="rId1" Type="http://schemas.openxmlformats.org/officeDocument/2006/relationships/slideLayout" Target="../slideLayouts/slideLayout25.xml"/><Relationship Id="rId4" Type="http://schemas.openxmlformats.org/officeDocument/2006/relationships/image" Target="../media/image23.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5.xml"/></Relationships>
</file>

<file path=ppt/slides/_rels/slide6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6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5.xml"/></Relationships>
</file>

<file path=ppt/slides/_rels/slide7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5.xml"/></Relationships>
</file>

<file path=ppt/slides/_rels/slide7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25.xml"/><Relationship Id="rId4" Type="http://schemas.openxmlformats.org/officeDocument/2006/relationships/image" Target="../media/image31.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5.xml"/></Relationships>
</file>

<file path=ppt/slides/_rels/slide81.xml.rels><?xml version="1.0" encoding="UTF-8" standalone="yes"?>
<Relationships xmlns="http://schemas.openxmlformats.org/package/2006/relationships"><Relationship Id="rId3" Type="http://schemas.openxmlformats.org/officeDocument/2006/relationships/hyperlink" Target="https://youtu.be/HyqSi6zNKKs" TargetMode="External"/><Relationship Id="rId2" Type="http://schemas.openxmlformats.org/officeDocument/2006/relationships/notesSlide" Target="../notesSlides/notesSlide49.xml"/><Relationship Id="rId1" Type="http://schemas.openxmlformats.org/officeDocument/2006/relationships/slideLayout" Target="../slideLayouts/slideLayout25.xml"/><Relationship Id="rId4" Type="http://schemas.openxmlformats.org/officeDocument/2006/relationships/image" Target="../media/image3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5.xml"/></Relationships>
</file>

<file path=ppt/slides/_rels/slide99.xml.rels><?xml version="1.0" encoding="UTF-8" standalone="yes"?>
<Relationships xmlns="http://schemas.openxmlformats.org/package/2006/relationships"><Relationship Id="rId3" Type="http://schemas.openxmlformats.org/officeDocument/2006/relationships/image" Target="../media/image33.png"/><Relationship Id="rId2" Type="http://schemas.microsoft.com/office/2011/relationships/webextension" Target="../webextensions/webextension1.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5ACEC5-C10B-9049-F92F-8FC7F403CB61}"/>
              </a:ext>
            </a:extLst>
          </p:cNvPr>
          <p:cNvSpPr txBox="1"/>
          <p:nvPr/>
        </p:nvSpPr>
        <p:spPr>
          <a:xfrm>
            <a:off x="1173095" y="2059795"/>
            <a:ext cx="10068232" cy="1569660"/>
          </a:xfrm>
          <a:prstGeom prst="rect">
            <a:avLst/>
          </a:prstGeom>
          <a:noFill/>
        </p:spPr>
        <p:txBody>
          <a:bodyPr wrap="square">
            <a:spAutoFit/>
          </a:bodyPr>
          <a:lstStyle/>
          <a:p>
            <a:r>
              <a:rPr lang="en-US" sz="2400" b="0" i="0" u="none" strike="noStrike" baseline="0" dirty="0">
                <a:solidFill>
                  <a:srgbClr val="000000"/>
                </a:solidFill>
                <a:latin typeface="Times New Roman" panose="02020603050405020304" pitchFamily="18" charset="0"/>
              </a:rPr>
              <a:t>“A Reader lives a thousand lives before he dies; the man who never reads lives only one”. </a:t>
            </a:r>
          </a:p>
          <a:p>
            <a:endParaRPr lang="en-US" sz="2400" b="0" i="0" u="none" strike="noStrike" baseline="0" dirty="0">
              <a:solidFill>
                <a:srgbClr val="000000"/>
              </a:solidFill>
              <a:latin typeface="Times New Roman" panose="02020603050405020304" pitchFamily="18" charset="0"/>
            </a:endParaRPr>
          </a:p>
          <a:p>
            <a:r>
              <a:rPr lang="en-GB" sz="2400" b="0" i="0" u="none" strike="noStrike" baseline="0" dirty="0">
                <a:solidFill>
                  <a:srgbClr val="000000"/>
                </a:solidFill>
                <a:latin typeface="Times New Roman" panose="02020603050405020304" pitchFamily="18" charset="0"/>
              </a:rPr>
              <a:t>								- George </a:t>
            </a:r>
            <a:r>
              <a:rPr lang="en-GB" sz="2400" b="0" i="0" u="none" strike="noStrike" baseline="0" dirty="0" err="1">
                <a:solidFill>
                  <a:srgbClr val="000000"/>
                </a:solidFill>
                <a:latin typeface="Times New Roman" panose="02020603050405020304" pitchFamily="18" charset="0"/>
              </a:rPr>
              <a:t>R.R.Martin</a:t>
            </a:r>
            <a:r>
              <a:rPr lang="en-GB" sz="2400" b="0" i="0" u="none" strike="noStrike" baseline="0" dirty="0">
                <a:solidFill>
                  <a:srgbClr val="000000"/>
                </a:solidFill>
                <a:latin typeface="Times New Roman" panose="02020603050405020304" pitchFamily="18" charset="0"/>
              </a:rPr>
              <a:t> </a:t>
            </a:r>
          </a:p>
        </p:txBody>
      </p:sp>
    </p:spTree>
    <p:extLst>
      <p:ext uri="{BB962C8B-B14F-4D97-AF65-F5344CB8AC3E}">
        <p14:creationId xmlns:p14="http://schemas.microsoft.com/office/powerpoint/2010/main" val="361765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83C24-565E-9490-9E7A-8285E232FCC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8049DD-98E9-9852-34D1-B76188436270}"/>
              </a:ext>
            </a:extLst>
          </p:cNvPr>
          <p:cNvSpPr txBox="1"/>
          <p:nvPr/>
        </p:nvSpPr>
        <p:spPr>
          <a:xfrm>
            <a:off x="1124067" y="111211"/>
            <a:ext cx="10215716" cy="6370975"/>
          </a:xfrm>
          <a:prstGeom prst="rect">
            <a:avLst/>
          </a:prstGeom>
          <a:noFill/>
        </p:spPr>
        <p:txBody>
          <a:bodyPr wrap="square">
            <a:spAutoFit/>
          </a:bodyPr>
          <a:lstStyle/>
          <a:p>
            <a:pPr algn="l"/>
            <a:endParaRPr lang="en-GB" sz="2400" b="0" i="0" u="none" strike="noStrike" baseline="0" dirty="0">
              <a:latin typeface="ACaslonPro-Regular"/>
            </a:endParaRPr>
          </a:p>
          <a:p>
            <a:pPr algn="l"/>
            <a:r>
              <a:rPr lang="en-US" sz="2400" b="1" i="0" u="none" strike="noStrike" baseline="0" dirty="0">
                <a:latin typeface="ACaslonPro-Bold"/>
              </a:rPr>
              <a:t>• </a:t>
            </a:r>
            <a:r>
              <a:rPr lang="en-US" sz="2400" b="0" i="0" u="none" strike="noStrike" baseline="0" dirty="0">
                <a:latin typeface="ACaslonPro-Regular"/>
              </a:rPr>
              <a:t>Read a variety of materials. Do not limit yourself to textbooks.</a:t>
            </a:r>
          </a:p>
          <a:p>
            <a:pPr algn="l"/>
            <a:endParaRPr lang="en-US" sz="2400" b="0" i="0" u="none" strike="noStrike" baseline="0" dirty="0">
              <a:latin typeface="ACaslonPro-Regular"/>
            </a:endParaRPr>
          </a:p>
          <a:p>
            <a:pPr algn="l"/>
            <a:r>
              <a:rPr lang="en-US" sz="2400" b="1" i="0" u="none" strike="noStrike" baseline="0" dirty="0">
                <a:latin typeface="ACaslonPro-Bold"/>
              </a:rPr>
              <a:t>• </a:t>
            </a:r>
            <a:r>
              <a:rPr lang="en-US" sz="2400" b="0" i="0" u="none" strike="noStrike" baseline="0" dirty="0">
                <a:latin typeface="ACaslonPro-Regular"/>
              </a:rPr>
              <a:t>Read a fairly long portion of the material. It would be difficult to assess reading comprehension based on one or two paragraphs. Try to read an entire section or chapter instead.</a:t>
            </a:r>
          </a:p>
          <a:p>
            <a:pPr algn="l"/>
            <a:endParaRPr lang="en-US" sz="2400" b="0" i="0" u="none" strike="noStrike" baseline="0" dirty="0">
              <a:latin typeface="ACaslonPro-Regular"/>
            </a:endParaRPr>
          </a:p>
          <a:p>
            <a:pPr algn="l"/>
            <a:r>
              <a:rPr lang="en-US" sz="2400" b="1" i="0" u="none" strike="noStrike" baseline="0" dirty="0">
                <a:latin typeface="ACaslonPro-Bold"/>
              </a:rPr>
              <a:t>• </a:t>
            </a:r>
            <a:r>
              <a:rPr lang="en-US" sz="2400" b="0" i="0" u="none" strike="noStrike" baseline="0" dirty="0">
                <a:latin typeface="ACaslonPro-Regular"/>
              </a:rPr>
              <a:t>Circle unknown or unfamiliar words as you read.</a:t>
            </a:r>
          </a:p>
          <a:p>
            <a:pPr algn="l"/>
            <a:endParaRPr lang="en-US" sz="2400" b="0" i="0" u="none" strike="noStrike" baseline="0" dirty="0">
              <a:latin typeface="ACaslonPro-Regular"/>
            </a:endParaRPr>
          </a:p>
          <a:p>
            <a:pPr algn="l"/>
            <a:r>
              <a:rPr lang="en-US" sz="2400" b="1" i="0" u="none" strike="noStrike" baseline="0" dirty="0">
                <a:latin typeface="ACaslonPro-Bold"/>
              </a:rPr>
              <a:t>• </a:t>
            </a:r>
            <a:r>
              <a:rPr lang="en-US" sz="2400" b="0" i="0" u="none" strike="noStrike" baseline="0" dirty="0">
                <a:latin typeface="ACaslonPro-Regular"/>
              </a:rPr>
              <a:t>After reading, recall as much of the information as possible. Jot down points if you like. Then check the accuracy and completeness of your recollections. If the main ideas are presented in a particular order, see if you can recall the structure.</a:t>
            </a:r>
          </a:p>
          <a:p>
            <a:pPr algn="l"/>
            <a:endParaRPr lang="en-US" sz="2400" b="0" i="0" u="none" strike="noStrike" baseline="0" dirty="0">
              <a:latin typeface="ACaslonPro-Regular"/>
            </a:endParaRPr>
          </a:p>
          <a:p>
            <a:pPr algn="l"/>
            <a:r>
              <a:rPr lang="en-US" sz="2400" b="1" i="0" u="none" strike="noStrike" baseline="0" dirty="0">
                <a:latin typeface="ACaslonPro-Bold"/>
              </a:rPr>
              <a:t>• </a:t>
            </a:r>
            <a:r>
              <a:rPr lang="en-US" sz="2400" b="0" i="0" u="none" strike="noStrike" baseline="0" dirty="0">
                <a:latin typeface="ACaslonPro-Regular"/>
              </a:rPr>
              <a:t>Consider how interesting the subject matter is and how much you already know about </a:t>
            </a:r>
            <a:r>
              <a:rPr lang="en-GB" sz="2400" b="0" i="0" u="none" strike="noStrike" baseline="0" dirty="0">
                <a:latin typeface="ACaslonPro-Regular"/>
              </a:rPr>
              <a:t>the subject.</a:t>
            </a:r>
          </a:p>
          <a:p>
            <a:pPr algn="l"/>
            <a:endParaRPr lang="en-GB" sz="2400" b="0" i="0" u="none" strike="noStrike" baseline="0" dirty="0">
              <a:latin typeface="ACaslonPro-Regular"/>
            </a:endParaRPr>
          </a:p>
          <a:p>
            <a:pPr algn="l"/>
            <a:r>
              <a:rPr lang="en-US" sz="2400" b="1" i="0" u="none" strike="noStrike" baseline="0" dirty="0">
                <a:latin typeface="ACaslonPro-Bold"/>
              </a:rPr>
              <a:t>• </a:t>
            </a:r>
            <a:r>
              <a:rPr lang="en-US" sz="2400" b="0" i="0" u="none" strike="noStrike" baseline="0" dirty="0">
                <a:latin typeface="ACaslonPro-Regular"/>
              </a:rPr>
              <a:t>Answer questions about the material after reading it.</a:t>
            </a:r>
            <a:endParaRPr lang="en-GB" sz="2400" dirty="0"/>
          </a:p>
        </p:txBody>
      </p:sp>
    </p:spTree>
    <p:extLst>
      <p:ext uri="{BB962C8B-B14F-4D97-AF65-F5344CB8AC3E}">
        <p14:creationId xmlns:p14="http://schemas.microsoft.com/office/powerpoint/2010/main" val="3212049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E38AA-ECBC-6392-2D44-2CFA1B8FD4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D1031C-F132-E07C-44A1-48039A18F980}"/>
              </a:ext>
            </a:extLst>
          </p:cNvPr>
          <p:cNvSpPr txBox="1"/>
          <p:nvPr/>
        </p:nvSpPr>
        <p:spPr>
          <a:xfrm>
            <a:off x="946820" y="967608"/>
            <a:ext cx="10471355" cy="3970318"/>
          </a:xfrm>
          <a:prstGeom prst="rect">
            <a:avLst/>
          </a:prstGeom>
          <a:noFill/>
        </p:spPr>
        <p:txBody>
          <a:bodyPr wrap="square">
            <a:spAutoFit/>
          </a:bodyPr>
          <a:lstStyle/>
          <a:p>
            <a:r>
              <a:rPr lang="en-GB" sz="2800" b="1" dirty="0">
                <a:latin typeface="+mj-lt"/>
              </a:rPr>
              <a:t>P</a:t>
            </a:r>
            <a:r>
              <a:rPr lang="en-GB" sz="2800" b="1" i="0" u="none" strike="noStrike" baseline="0" dirty="0">
                <a:latin typeface="+mj-lt"/>
              </a:rPr>
              <a:t>oor comprehension skills</a:t>
            </a:r>
          </a:p>
          <a:p>
            <a:endParaRPr lang="en-GB" sz="2800" b="1" i="0" u="none" strike="noStrike" baseline="0" dirty="0">
              <a:latin typeface="+mj-lt"/>
            </a:endParaRPr>
          </a:p>
          <a:p>
            <a:endParaRPr lang="en-GB" sz="2800" dirty="0">
              <a:latin typeface="+mj-lt"/>
            </a:endParaRPr>
          </a:p>
          <a:p>
            <a:pPr marL="457200" indent="-457200">
              <a:buFont typeface="Arial" panose="020B0604020202020204" pitchFamily="34" charset="0"/>
              <a:buChar char="•"/>
            </a:pPr>
            <a:r>
              <a:rPr lang="en-US" sz="2800" dirty="0">
                <a:latin typeface="+mj-lt"/>
              </a:rPr>
              <a:t>lack of interest, </a:t>
            </a:r>
          </a:p>
          <a:p>
            <a:pPr marL="457200" indent="-457200">
              <a:buFont typeface="Arial" panose="020B0604020202020204" pitchFamily="34" charset="0"/>
              <a:buChar char="•"/>
            </a:pPr>
            <a:r>
              <a:rPr lang="en-US" sz="2800" dirty="0">
                <a:latin typeface="+mj-lt"/>
              </a:rPr>
              <a:t>lack of concentration, </a:t>
            </a:r>
          </a:p>
          <a:p>
            <a:pPr marL="457200" indent="-457200">
              <a:buFont typeface="Arial" panose="020B0604020202020204" pitchFamily="34" charset="0"/>
              <a:buChar char="•"/>
            </a:pPr>
            <a:r>
              <a:rPr lang="en-US" sz="2800" dirty="0">
                <a:latin typeface="+mj-lt"/>
              </a:rPr>
              <a:t>failure to understand a word, </a:t>
            </a:r>
          </a:p>
          <a:p>
            <a:pPr marL="457200" indent="-457200">
              <a:buFont typeface="Arial" panose="020B0604020202020204" pitchFamily="34" charset="0"/>
              <a:buChar char="•"/>
            </a:pPr>
            <a:r>
              <a:rPr lang="en-US" sz="2800" dirty="0">
                <a:latin typeface="+mj-lt"/>
              </a:rPr>
              <a:t>a sentence, </a:t>
            </a:r>
          </a:p>
          <a:p>
            <a:pPr marL="457200" indent="-457200">
              <a:buFont typeface="Arial" panose="020B0604020202020204" pitchFamily="34" charset="0"/>
              <a:buChar char="•"/>
            </a:pPr>
            <a:r>
              <a:rPr lang="en-US" sz="2800" dirty="0">
                <a:latin typeface="+mj-lt"/>
              </a:rPr>
              <a:t>or relationships among sentences, </a:t>
            </a:r>
          </a:p>
          <a:p>
            <a:pPr marL="457200" indent="-457200">
              <a:buFont typeface="Arial" panose="020B0604020202020204" pitchFamily="34" charset="0"/>
              <a:buChar char="•"/>
            </a:pPr>
            <a:r>
              <a:rPr lang="en-US" sz="2800" dirty="0">
                <a:latin typeface="+mj-lt"/>
              </a:rPr>
              <a:t>or failure to understand how information fits together</a:t>
            </a:r>
            <a:endParaRPr lang="en-GB" sz="2800" dirty="0">
              <a:latin typeface="+mj-lt"/>
            </a:endParaRPr>
          </a:p>
        </p:txBody>
      </p:sp>
    </p:spTree>
    <p:extLst>
      <p:ext uri="{BB962C8B-B14F-4D97-AF65-F5344CB8AC3E}">
        <p14:creationId xmlns:p14="http://schemas.microsoft.com/office/powerpoint/2010/main" val="359031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8E88255-281B-BB3B-296A-437366328FB7}"/>
              </a:ext>
            </a:extLst>
          </p:cNvPr>
          <p:cNvGraphicFramePr>
            <a:graphicFrameLocks noGrp="1"/>
          </p:cNvGraphicFramePr>
          <p:nvPr>
            <p:extLst>
              <p:ext uri="{D42A27DB-BD31-4B8C-83A1-F6EECF244321}">
                <p14:modId xmlns:p14="http://schemas.microsoft.com/office/powerpoint/2010/main" val="2456717192"/>
              </p:ext>
            </p:extLst>
          </p:nvPr>
        </p:nvGraphicFramePr>
        <p:xfrm>
          <a:off x="1071099" y="1132630"/>
          <a:ext cx="10247692" cy="4143662"/>
        </p:xfrm>
        <a:graphic>
          <a:graphicData uri="http://schemas.openxmlformats.org/drawingml/2006/table">
            <a:tbl>
              <a:tblPr/>
              <a:tblGrid>
                <a:gridCol w="2054213">
                  <a:extLst>
                    <a:ext uri="{9D8B030D-6E8A-4147-A177-3AD203B41FA5}">
                      <a16:colId xmlns:a16="http://schemas.microsoft.com/office/drawing/2014/main" val="327945638"/>
                    </a:ext>
                  </a:extLst>
                </a:gridCol>
                <a:gridCol w="3707457">
                  <a:extLst>
                    <a:ext uri="{9D8B030D-6E8A-4147-A177-3AD203B41FA5}">
                      <a16:colId xmlns:a16="http://schemas.microsoft.com/office/drawing/2014/main" val="3564963102"/>
                    </a:ext>
                  </a:extLst>
                </a:gridCol>
                <a:gridCol w="4486022">
                  <a:extLst>
                    <a:ext uri="{9D8B030D-6E8A-4147-A177-3AD203B41FA5}">
                      <a16:colId xmlns:a16="http://schemas.microsoft.com/office/drawing/2014/main" val="271365870"/>
                    </a:ext>
                  </a:extLst>
                </a:gridCol>
              </a:tblGrid>
              <a:tr h="396632">
                <a:tc>
                  <a:txBody>
                    <a:bodyPr/>
                    <a:lstStyle/>
                    <a:p>
                      <a:pPr>
                        <a:buNone/>
                      </a:pPr>
                      <a:endParaRPr lang="en-GB" sz="2200" dirty="0"/>
                    </a:p>
                  </a:txBody>
                  <a:tcPr marL="81697" marR="81697" marT="40849" marB="40849" anchor="ctr">
                    <a:lnL>
                      <a:noFill/>
                    </a:lnL>
                    <a:lnR>
                      <a:noFill/>
                    </a:lnR>
                    <a:lnT>
                      <a:noFill/>
                    </a:lnT>
                    <a:lnB>
                      <a:noFill/>
                    </a:lnB>
                    <a:noFill/>
                  </a:tcPr>
                </a:tc>
                <a:tc>
                  <a:txBody>
                    <a:bodyPr/>
                    <a:lstStyle/>
                    <a:p>
                      <a:pPr>
                        <a:buNone/>
                      </a:pPr>
                      <a:endParaRPr lang="en-GB" sz="2200" dirty="0"/>
                    </a:p>
                  </a:txBody>
                  <a:tcPr marL="81697" marR="81697" marT="40849" marB="40849" anchor="ctr">
                    <a:lnL>
                      <a:noFill/>
                    </a:lnL>
                    <a:lnR>
                      <a:noFill/>
                    </a:lnR>
                    <a:lnT>
                      <a:noFill/>
                    </a:lnT>
                    <a:lnB>
                      <a:noFill/>
                    </a:lnB>
                    <a:noFill/>
                  </a:tcPr>
                </a:tc>
                <a:tc>
                  <a:txBody>
                    <a:bodyPr/>
                    <a:lstStyle/>
                    <a:p>
                      <a:pPr>
                        <a:buNone/>
                      </a:pPr>
                      <a:endParaRPr lang="en-GB" sz="2200" dirty="0"/>
                    </a:p>
                  </a:txBody>
                  <a:tcPr marL="81697" marR="81697" marT="40849" marB="40849" anchor="ctr">
                    <a:lnL>
                      <a:noFill/>
                    </a:lnL>
                    <a:lnR>
                      <a:noFill/>
                    </a:lnR>
                    <a:lnT>
                      <a:noFill/>
                    </a:lnT>
                    <a:lnB>
                      <a:noFill/>
                    </a:lnB>
                    <a:noFill/>
                  </a:tcPr>
                </a:tc>
                <a:extLst>
                  <a:ext uri="{0D108BD9-81ED-4DB2-BD59-A6C34878D82A}">
                    <a16:rowId xmlns:a16="http://schemas.microsoft.com/office/drawing/2014/main" val="1762853266"/>
                  </a:ext>
                </a:extLst>
              </a:tr>
              <a:tr h="396632">
                <a:tc>
                  <a:txBody>
                    <a:bodyPr/>
                    <a:lstStyle/>
                    <a:p>
                      <a:pPr>
                        <a:buNone/>
                      </a:pPr>
                      <a:r>
                        <a:rPr lang="en-GB" sz="2200"/>
                        <a:t>⭐</a:t>
                      </a:r>
                    </a:p>
                  </a:txBody>
                  <a:tcPr marL="81697" marR="81697" marT="40849" marB="40849" anchor="ctr">
                    <a:lnL>
                      <a:noFill/>
                    </a:lnL>
                    <a:lnR>
                      <a:noFill/>
                    </a:lnR>
                    <a:lnT>
                      <a:noFill/>
                    </a:lnT>
                    <a:lnB>
                      <a:noFill/>
                    </a:lnB>
                    <a:noFill/>
                  </a:tcPr>
                </a:tc>
                <a:tc>
                  <a:txBody>
                    <a:bodyPr/>
                    <a:lstStyle/>
                    <a:p>
                      <a:pPr>
                        <a:buNone/>
                      </a:pPr>
                      <a:r>
                        <a:rPr lang="en-GB" sz="2200" dirty="0"/>
                        <a:t>Main Idea</a:t>
                      </a:r>
                    </a:p>
                  </a:txBody>
                  <a:tcPr marL="81697" marR="81697" marT="40849" marB="40849" anchor="ctr">
                    <a:lnL>
                      <a:noFill/>
                    </a:lnL>
                    <a:lnR>
                      <a:noFill/>
                    </a:lnR>
                    <a:lnT>
                      <a:noFill/>
                    </a:lnT>
                    <a:lnB>
                      <a:noFill/>
                    </a:lnB>
                    <a:noFill/>
                  </a:tcPr>
                </a:tc>
                <a:tc>
                  <a:txBody>
                    <a:bodyPr/>
                    <a:lstStyle/>
                    <a:p>
                      <a:pPr>
                        <a:buNone/>
                      </a:pPr>
                      <a:r>
                        <a:rPr lang="en-GB" sz="2200"/>
                        <a:t>What is this mainly about?</a:t>
                      </a:r>
                    </a:p>
                  </a:txBody>
                  <a:tcPr marL="81697" marR="81697" marT="40849" marB="40849" anchor="ctr">
                    <a:lnL>
                      <a:noFill/>
                    </a:lnL>
                    <a:lnR>
                      <a:noFill/>
                    </a:lnR>
                    <a:lnT>
                      <a:noFill/>
                    </a:lnT>
                    <a:lnB>
                      <a:noFill/>
                    </a:lnB>
                    <a:noFill/>
                  </a:tcPr>
                </a:tc>
                <a:extLst>
                  <a:ext uri="{0D108BD9-81ED-4DB2-BD59-A6C34878D82A}">
                    <a16:rowId xmlns:a16="http://schemas.microsoft.com/office/drawing/2014/main" val="443656612"/>
                  </a:ext>
                </a:extLst>
              </a:tr>
              <a:tr h="694106">
                <a:tc>
                  <a:txBody>
                    <a:bodyPr/>
                    <a:lstStyle/>
                    <a:p>
                      <a:pPr>
                        <a:buNone/>
                      </a:pPr>
                      <a:r>
                        <a:rPr lang="en-GB" sz="2200"/>
                        <a:t>⭐⭐</a:t>
                      </a:r>
                    </a:p>
                  </a:txBody>
                  <a:tcPr marL="81697" marR="81697" marT="40849" marB="40849" anchor="ctr">
                    <a:lnL>
                      <a:noFill/>
                    </a:lnL>
                    <a:lnR>
                      <a:noFill/>
                    </a:lnR>
                    <a:lnT>
                      <a:noFill/>
                    </a:lnT>
                    <a:lnB>
                      <a:noFill/>
                    </a:lnB>
                    <a:noFill/>
                  </a:tcPr>
                </a:tc>
                <a:tc>
                  <a:txBody>
                    <a:bodyPr/>
                    <a:lstStyle/>
                    <a:p>
                      <a:pPr>
                        <a:buNone/>
                      </a:pPr>
                      <a:r>
                        <a:rPr lang="en-GB" sz="2200" dirty="0"/>
                        <a:t>Claim → Reason → Example → Explanation</a:t>
                      </a:r>
                    </a:p>
                  </a:txBody>
                  <a:tcPr marL="81697" marR="81697" marT="40849" marB="40849" anchor="ctr">
                    <a:lnL>
                      <a:noFill/>
                    </a:lnL>
                    <a:lnR>
                      <a:noFill/>
                    </a:lnR>
                    <a:lnT>
                      <a:noFill/>
                    </a:lnT>
                    <a:lnB>
                      <a:noFill/>
                    </a:lnB>
                    <a:noFill/>
                  </a:tcPr>
                </a:tc>
                <a:tc>
                  <a:txBody>
                    <a:bodyPr/>
                    <a:lstStyle/>
                    <a:p>
                      <a:pPr>
                        <a:buNone/>
                      </a:pPr>
                      <a:r>
                        <a:rPr lang="en-GB" sz="2200" dirty="0"/>
                        <a:t>How is the main idea developed?</a:t>
                      </a:r>
                    </a:p>
                  </a:txBody>
                  <a:tcPr marL="81697" marR="81697" marT="40849" marB="40849" anchor="ctr">
                    <a:lnL>
                      <a:noFill/>
                    </a:lnL>
                    <a:lnR>
                      <a:noFill/>
                    </a:lnR>
                    <a:lnT>
                      <a:noFill/>
                    </a:lnT>
                    <a:lnB>
                      <a:noFill/>
                    </a:lnB>
                    <a:noFill/>
                  </a:tcPr>
                </a:tc>
                <a:extLst>
                  <a:ext uri="{0D108BD9-81ED-4DB2-BD59-A6C34878D82A}">
                    <a16:rowId xmlns:a16="http://schemas.microsoft.com/office/drawing/2014/main" val="3855639885"/>
                  </a:ext>
                </a:extLst>
              </a:tr>
              <a:tr h="396632">
                <a:tc>
                  <a:txBody>
                    <a:bodyPr/>
                    <a:lstStyle/>
                    <a:p>
                      <a:pPr>
                        <a:buNone/>
                      </a:pPr>
                      <a:r>
                        <a:rPr lang="en-GB" sz="2200"/>
                        <a:t>⭐⭐</a:t>
                      </a:r>
                    </a:p>
                  </a:txBody>
                  <a:tcPr marL="81697" marR="81697" marT="40849" marB="40849" anchor="ctr">
                    <a:lnL>
                      <a:noFill/>
                    </a:lnL>
                    <a:lnR>
                      <a:noFill/>
                    </a:lnR>
                    <a:lnT>
                      <a:noFill/>
                    </a:lnT>
                    <a:lnB>
                      <a:noFill/>
                    </a:lnB>
                    <a:noFill/>
                  </a:tcPr>
                </a:tc>
                <a:tc>
                  <a:txBody>
                    <a:bodyPr/>
                    <a:lstStyle/>
                    <a:p>
                      <a:pPr>
                        <a:buNone/>
                      </a:pPr>
                      <a:r>
                        <a:rPr lang="en-GB" sz="2200" dirty="0"/>
                        <a:t>Inference</a:t>
                      </a:r>
                    </a:p>
                  </a:txBody>
                  <a:tcPr marL="81697" marR="81697" marT="40849" marB="40849" anchor="ctr">
                    <a:lnL>
                      <a:noFill/>
                    </a:lnL>
                    <a:lnR>
                      <a:noFill/>
                    </a:lnR>
                    <a:lnT>
                      <a:noFill/>
                    </a:lnT>
                    <a:lnB>
                      <a:noFill/>
                    </a:lnB>
                    <a:noFill/>
                  </a:tcPr>
                </a:tc>
                <a:tc>
                  <a:txBody>
                    <a:bodyPr/>
                    <a:lstStyle/>
                    <a:p>
                      <a:pPr>
                        <a:buNone/>
                      </a:pPr>
                      <a:r>
                        <a:rPr lang="en-GB" sz="2200" dirty="0"/>
                        <a:t>What does the text suggest?</a:t>
                      </a:r>
                    </a:p>
                  </a:txBody>
                  <a:tcPr marL="81697" marR="81697" marT="40849" marB="40849" anchor="ctr">
                    <a:lnL>
                      <a:noFill/>
                    </a:lnL>
                    <a:lnR>
                      <a:noFill/>
                    </a:lnR>
                    <a:lnT>
                      <a:noFill/>
                    </a:lnT>
                    <a:lnB>
                      <a:noFill/>
                    </a:lnB>
                    <a:noFill/>
                  </a:tcPr>
                </a:tc>
                <a:extLst>
                  <a:ext uri="{0D108BD9-81ED-4DB2-BD59-A6C34878D82A}">
                    <a16:rowId xmlns:a16="http://schemas.microsoft.com/office/drawing/2014/main" val="3382328093"/>
                  </a:ext>
                </a:extLst>
              </a:tr>
              <a:tr h="694106">
                <a:tc>
                  <a:txBody>
                    <a:bodyPr/>
                    <a:lstStyle/>
                    <a:p>
                      <a:pPr>
                        <a:buNone/>
                      </a:pPr>
                      <a:r>
                        <a:rPr lang="en-GB" sz="2200" dirty="0"/>
                        <a:t>⭐⭐⭐</a:t>
                      </a:r>
                    </a:p>
                  </a:txBody>
                  <a:tcPr marL="81697" marR="81697" marT="40849" marB="40849" anchor="ctr">
                    <a:lnL>
                      <a:noFill/>
                    </a:lnL>
                    <a:lnR>
                      <a:noFill/>
                    </a:lnR>
                    <a:lnT>
                      <a:noFill/>
                    </a:lnT>
                    <a:lnB>
                      <a:noFill/>
                    </a:lnB>
                    <a:noFill/>
                  </a:tcPr>
                </a:tc>
                <a:tc>
                  <a:txBody>
                    <a:bodyPr/>
                    <a:lstStyle/>
                    <a:p>
                      <a:pPr>
                        <a:buNone/>
                      </a:pPr>
                      <a:r>
                        <a:rPr lang="en-GB" sz="2200" dirty="0"/>
                        <a:t>Audience + Purpose</a:t>
                      </a:r>
                    </a:p>
                  </a:txBody>
                  <a:tcPr marL="81697" marR="81697" marT="40849" marB="40849" anchor="ctr">
                    <a:lnL>
                      <a:noFill/>
                    </a:lnL>
                    <a:lnR>
                      <a:noFill/>
                    </a:lnR>
                    <a:lnT>
                      <a:noFill/>
                    </a:lnT>
                    <a:lnB>
                      <a:noFill/>
                    </a:lnB>
                    <a:noFill/>
                  </a:tcPr>
                </a:tc>
                <a:tc>
                  <a:txBody>
                    <a:bodyPr/>
                    <a:lstStyle/>
                    <a:p>
                      <a:pPr>
                        <a:buNone/>
                      </a:pPr>
                      <a:r>
                        <a:rPr lang="en-GB" sz="2200"/>
                        <a:t>Why was this written, and for whom?</a:t>
                      </a:r>
                    </a:p>
                  </a:txBody>
                  <a:tcPr marL="81697" marR="81697" marT="40849" marB="40849" anchor="ctr">
                    <a:lnL>
                      <a:noFill/>
                    </a:lnL>
                    <a:lnR>
                      <a:noFill/>
                    </a:lnR>
                    <a:lnT>
                      <a:noFill/>
                    </a:lnT>
                    <a:lnB>
                      <a:noFill/>
                    </a:lnB>
                    <a:noFill/>
                  </a:tcPr>
                </a:tc>
                <a:extLst>
                  <a:ext uri="{0D108BD9-81ED-4DB2-BD59-A6C34878D82A}">
                    <a16:rowId xmlns:a16="http://schemas.microsoft.com/office/drawing/2014/main" val="2265158222"/>
                  </a:ext>
                </a:extLst>
              </a:tr>
              <a:tr h="694106">
                <a:tc>
                  <a:txBody>
                    <a:bodyPr/>
                    <a:lstStyle/>
                    <a:p>
                      <a:pPr>
                        <a:buNone/>
                      </a:pPr>
                      <a:r>
                        <a:rPr lang="en-GB" sz="2200" dirty="0"/>
                        <a:t>⭐⭐⭐⭐</a:t>
                      </a:r>
                    </a:p>
                  </a:txBody>
                  <a:tcPr marL="81697" marR="81697" marT="40849" marB="40849" anchor="ctr">
                    <a:lnL>
                      <a:noFill/>
                    </a:lnL>
                    <a:lnR>
                      <a:noFill/>
                    </a:lnR>
                    <a:lnT>
                      <a:noFill/>
                    </a:lnT>
                    <a:lnB>
                      <a:noFill/>
                    </a:lnB>
                    <a:noFill/>
                  </a:tcPr>
                </a:tc>
                <a:tc>
                  <a:txBody>
                    <a:bodyPr/>
                    <a:lstStyle/>
                    <a:p>
                      <a:pPr>
                        <a:buNone/>
                      </a:pPr>
                      <a:r>
                        <a:rPr lang="en-GB" sz="2200" dirty="0"/>
                        <a:t>Assumption + Evidence</a:t>
                      </a:r>
                    </a:p>
                  </a:txBody>
                  <a:tcPr marL="81697" marR="81697" marT="40849" marB="40849" anchor="ctr">
                    <a:lnL>
                      <a:noFill/>
                    </a:lnL>
                    <a:lnR>
                      <a:noFill/>
                    </a:lnR>
                    <a:lnT>
                      <a:noFill/>
                    </a:lnT>
                    <a:lnB>
                      <a:noFill/>
                    </a:lnB>
                    <a:noFill/>
                  </a:tcPr>
                </a:tc>
                <a:tc>
                  <a:txBody>
                    <a:bodyPr/>
                    <a:lstStyle/>
                    <a:p>
                      <a:pPr>
                        <a:buNone/>
                      </a:pPr>
                      <a:r>
                        <a:rPr lang="en-GB" sz="2200" dirty="0"/>
                        <a:t>What is the writer taking for granted?</a:t>
                      </a:r>
                    </a:p>
                  </a:txBody>
                  <a:tcPr marL="81697" marR="81697" marT="40849" marB="40849" anchor="ctr">
                    <a:lnL>
                      <a:noFill/>
                    </a:lnL>
                    <a:lnR>
                      <a:noFill/>
                    </a:lnR>
                    <a:lnT>
                      <a:noFill/>
                    </a:lnT>
                    <a:lnB>
                      <a:noFill/>
                    </a:lnB>
                    <a:noFill/>
                  </a:tcPr>
                </a:tc>
                <a:extLst>
                  <a:ext uri="{0D108BD9-81ED-4DB2-BD59-A6C34878D82A}">
                    <a16:rowId xmlns:a16="http://schemas.microsoft.com/office/drawing/2014/main" val="3367803897"/>
                  </a:ext>
                </a:extLst>
              </a:tr>
              <a:tr h="694106">
                <a:tc>
                  <a:txBody>
                    <a:bodyPr/>
                    <a:lstStyle/>
                    <a:p>
                      <a:pPr>
                        <a:buNone/>
                      </a:pPr>
                      <a:r>
                        <a:rPr lang="en-GB" sz="2200" dirty="0"/>
                        <a:t>⭐⭐⭐⭐</a:t>
                      </a:r>
                    </a:p>
                  </a:txBody>
                  <a:tcPr marL="81697" marR="81697" marT="40849" marB="40849" anchor="ctr">
                    <a:lnL>
                      <a:noFill/>
                    </a:lnL>
                    <a:lnR>
                      <a:noFill/>
                    </a:lnR>
                    <a:lnT>
                      <a:noFill/>
                    </a:lnT>
                    <a:lnB>
                      <a:noFill/>
                    </a:lnB>
                    <a:noFill/>
                  </a:tcPr>
                </a:tc>
                <a:tc>
                  <a:txBody>
                    <a:bodyPr/>
                    <a:lstStyle/>
                    <a:p>
                      <a:pPr>
                        <a:buNone/>
                      </a:pPr>
                      <a:r>
                        <a:rPr lang="en-GB" sz="2200" dirty="0"/>
                        <a:t>Description → Examination → Evaluation → Judgment</a:t>
                      </a:r>
                    </a:p>
                  </a:txBody>
                  <a:tcPr marL="81697" marR="81697" marT="40849" marB="40849" anchor="ctr">
                    <a:lnL>
                      <a:noFill/>
                    </a:lnL>
                    <a:lnR>
                      <a:noFill/>
                    </a:lnR>
                    <a:lnT>
                      <a:noFill/>
                    </a:lnT>
                    <a:lnB>
                      <a:noFill/>
                    </a:lnB>
                    <a:noFill/>
                  </a:tcPr>
                </a:tc>
                <a:tc>
                  <a:txBody>
                    <a:bodyPr/>
                    <a:lstStyle/>
                    <a:p>
                      <a:pPr>
                        <a:buNone/>
                      </a:pPr>
                      <a:r>
                        <a:rPr lang="en-GB" sz="2200" dirty="0"/>
                        <a:t>Is the argument convincing?</a:t>
                      </a:r>
                    </a:p>
                  </a:txBody>
                  <a:tcPr marL="81697" marR="81697" marT="40849" marB="40849" anchor="ctr">
                    <a:lnL>
                      <a:noFill/>
                    </a:lnL>
                    <a:lnR>
                      <a:noFill/>
                    </a:lnR>
                    <a:lnT>
                      <a:noFill/>
                    </a:lnT>
                    <a:lnB>
                      <a:noFill/>
                    </a:lnB>
                    <a:noFill/>
                  </a:tcPr>
                </a:tc>
                <a:extLst>
                  <a:ext uri="{0D108BD9-81ED-4DB2-BD59-A6C34878D82A}">
                    <a16:rowId xmlns:a16="http://schemas.microsoft.com/office/drawing/2014/main" val="2010105979"/>
                  </a:ext>
                </a:extLst>
              </a:tr>
            </a:tbl>
          </a:graphicData>
        </a:graphic>
      </p:graphicFrame>
    </p:spTree>
    <p:extLst>
      <p:ext uri="{BB962C8B-B14F-4D97-AF65-F5344CB8AC3E}">
        <p14:creationId xmlns:p14="http://schemas.microsoft.com/office/powerpoint/2010/main" val="2806290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5F3C43-B0B1-3455-3D1E-673C69F082EB}"/>
              </a:ext>
            </a:extLst>
          </p:cNvPr>
          <p:cNvSpPr txBox="1"/>
          <p:nvPr/>
        </p:nvSpPr>
        <p:spPr>
          <a:xfrm>
            <a:off x="1595616" y="1410796"/>
            <a:ext cx="7043351" cy="369332"/>
          </a:xfrm>
          <a:prstGeom prst="rect">
            <a:avLst/>
          </a:prstGeom>
          <a:noFill/>
        </p:spPr>
        <p:txBody>
          <a:bodyPr wrap="square" rtlCol="0">
            <a:spAutoFit/>
          </a:bodyPr>
          <a:lstStyle/>
          <a:p>
            <a:r>
              <a:rPr lang="en-IN" dirty="0"/>
              <a:t>A happy Anniversary Lunch and then………………</a:t>
            </a:r>
            <a:endParaRPr lang="en-GB" dirty="0"/>
          </a:p>
        </p:txBody>
      </p:sp>
    </p:spTree>
    <p:extLst>
      <p:ext uri="{BB962C8B-B14F-4D97-AF65-F5344CB8AC3E}">
        <p14:creationId xmlns:p14="http://schemas.microsoft.com/office/powerpoint/2010/main" val="2727961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8D022B-2234-C2E1-00D4-3CD164188514}"/>
              </a:ext>
            </a:extLst>
          </p:cNvPr>
          <p:cNvSpPr txBox="1"/>
          <p:nvPr/>
        </p:nvSpPr>
        <p:spPr>
          <a:xfrm>
            <a:off x="516010" y="612844"/>
            <a:ext cx="11484077" cy="5632311"/>
          </a:xfrm>
          <a:prstGeom prst="rect">
            <a:avLst/>
          </a:prstGeom>
          <a:noFill/>
        </p:spPr>
        <p:txBody>
          <a:bodyPr wrap="square">
            <a:spAutoFit/>
          </a:bodyPr>
          <a:lstStyle/>
          <a:p>
            <a:pPr>
              <a:buNone/>
            </a:pPr>
            <a:r>
              <a:rPr lang="en-GB" sz="2400" b="0" i="0" dirty="0">
                <a:solidFill>
                  <a:srgbClr val="FF0000"/>
                </a:solidFill>
                <a:effectLst/>
              </a:rPr>
              <a:t>Test Your Comprehension</a:t>
            </a:r>
          </a:p>
          <a:p>
            <a:pPr>
              <a:buNone/>
            </a:pPr>
            <a:endParaRPr lang="en-GB" sz="2400" b="0" i="0" dirty="0">
              <a:solidFill>
                <a:srgbClr val="000000"/>
              </a:solidFill>
              <a:effectLst/>
            </a:endParaRPr>
          </a:p>
          <a:p>
            <a:pPr>
              <a:buNone/>
            </a:pPr>
            <a:r>
              <a:rPr lang="en-GB" sz="2400" b="0" i="0" dirty="0">
                <a:solidFill>
                  <a:srgbClr val="000000"/>
                </a:solidFill>
                <a:effectLst/>
              </a:rPr>
              <a:t>Which one of the following statements most accurately summarizes the main idea of the selection you have just finished?</a:t>
            </a:r>
          </a:p>
          <a:p>
            <a:pPr>
              <a:buNone/>
            </a:pPr>
            <a:endParaRPr lang="en-GB" sz="2400" b="0" i="0" dirty="0">
              <a:solidFill>
                <a:srgbClr val="000000"/>
              </a:solidFill>
              <a:effectLst/>
            </a:endParaRPr>
          </a:p>
          <a:p>
            <a:pPr>
              <a:buNone/>
            </a:pPr>
            <a:r>
              <a:rPr lang="en-GB" sz="2400" b="0" i="0" dirty="0">
                <a:solidFill>
                  <a:srgbClr val="000000"/>
                </a:solidFill>
                <a:effectLst/>
              </a:rPr>
              <a:t>1. Judge American's fourth wedding anniversary was a combination of a successful marriage and a contempt-of court citation.</a:t>
            </a:r>
          </a:p>
          <a:p>
            <a:pPr>
              <a:buNone/>
            </a:pPr>
            <a:r>
              <a:rPr lang="en-GB" sz="2400" b="0" i="0" dirty="0">
                <a:solidFill>
                  <a:srgbClr val="000000"/>
                </a:solidFill>
                <a:effectLst/>
              </a:rPr>
              <a:t>2. A judge should be slow to anger and quick to forgive.</a:t>
            </a:r>
          </a:p>
          <a:p>
            <a:pPr>
              <a:buNone/>
            </a:pPr>
            <a:r>
              <a:rPr lang="en-GB" sz="2400" b="0" i="0" dirty="0">
                <a:solidFill>
                  <a:srgbClr val="000000"/>
                </a:solidFill>
                <a:effectLst/>
              </a:rPr>
              <a:t>3. The first defendant that morning was a very discourteous woman.</a:t>
            </a:r>
          </a:p>
          <a:p>
            <a:pPr>
              <a:buNone/>
            </a:pPr>
            <a:r>
              <a:rPr lang="en-GB" sz="2400" b="0" i="0" dirty="0">
                <a:solidFill>
                  <a:srgbClr val="000000"/>
                </a:solidFill>
                <a:effectLst/>
              </a:rPr>
              <a:t>4. The judge’s wedding anniversary was spoiled by the extra work demanded by the contempt citation.</a:t>
            </a:r>
          </a:p>
          <a:p>
            <a:pPr>
              <a:buNone/>
            </a:pPr>
            <a:r>
              <a:rPr lang="en-GB" sz="2400" b="0" i="0" dirty="0">
                <a:solidFill>
                  <a:srgbClr val="000000"/>
                </a:solidFill>
                <a:effectLst/>
              </a:rPr>
              <a:t>5. There are times when judges, like other people, may overreact, and judges should remind themselves of their weaknesses in order to exercise their enormous power more judiciously.</a:t>
            </a:r>
          </a:p>
          <a:p>
            <a:pPr>
              <a:buNone/>
            </a:pPr>
            <a:r>
              <a:rPr lang="en-GB" sz="2400" b="0" i="0" dirty="0">
                <a:solidFill>
                  <a:srgbClr val="000000"/>
                </a:solidFill>
                <a:effectLst/>
              </a:rPr>
              <a:t>6. Judges, like other humans, have complex hopes and expectations.</a:t>
            </a:r>
            <a:r>
              <a:rPr lang="en-GB" sz="2400" dirty="0"/>
              <a:t> </a:t>
            </a:r>
            <a:br>
              <a:rPr lang="en-GB" sz="2400" dirty="0"/>
            </a:br>
            <a:endParaRPr lang="en-GB" sz="2400" dirty="0"/>
          </a:p>
        </p:txBody>
      </p:sp>
    </p:spTree>
    <p:extLst>
      <p:ext uri="{BB962C8B-B14F-4D97-AF65-F5344CB8AC3E}">
        <p14:creationId xmlns:p14="http://schemas.microsoft.com/office/powerpoint/2010/main" val="1904345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77513-F8FF-E6DA-2970-C8293CAAD84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EFFB07-2A9D-05C2-7A1A-C1B09589B120}"/>
              </a:ext>
            </a:extLst>
          </p:cNvPr>
          <p:cNvSpPr txBox="1"/>
          <p:nvPr/>
        </p:nvSpPr>
        <p:spPr>
          <a:xfrm>
            <a:off x="471948" y="212735"/>
            <a:ext cx="10933471" cy="6063198"/>
          </a:xfrm>
          <a:prstGeom prst="rect">
            <a:avLst/>
          </a:prstGeom>
          <a:noFill/>
        </p:spPr>
        <p:txBody>
          <a:bodyPr wrap="square">
            <a:spAutoFit/>
          </a:bodyPr>
          <a:lstStyle/>
          <a:p>
            <a:pPr algn="ctr">
              <a:buNone/>
            </a:pPr>
            <a:r>
              <a:rPr lang="en-GB" sz="2800" b="0" i="0" dirty="0">
                <a:solidFill>
                  <a:srgbClr val="000000"/>
                </a:solidFill>
                <a:effectLst/>
                <a:latin typeface="Times-Roman"/>
              </a:rPr>
              <a:t>Dry Ice</a:t>
            </a:r>
          </a:p>
          <a:p>
            <a:pPr algn="ctr">
              <a:buNone/>
            </a:pPr>
            <a:endParaRPr lang="en-GB" sz="2400" b="0" i="0" dirty="0">
              <a:solidFill>
                <a:srgbClr val="000000"/>
              </a:solidFill>
              <a:effectLst/>
              <a:latin typeface="Times-Roman"/>
            </a:endParaRPr>
          </a:p>
          <a:p>
            <a:pPr algn="just">
              <a:buNone/>
            </a:pPr>
            <a:r>
              <a:rPr lang="en-GB" sz="2400" b="0" i="0" dirty="0">
                <a:solidFill>
                  <a:srgbClr val="000000"/>
                </a:solidFill>
                <a:effectLst/>
                <a:latin typeface="Times-Roman"/>
              </a:rPr>
              <a:t>	</a:t>
            </a:r>
            <a:r>
              <a:rPr lang="en-GB" sz="2800" b="0" i="0" dirty="0">
                <a:solidFill>
                  <a:srgbClr val="000000"/>
                </a:solidFill>
                <a:effectLst/>
                <a:latin typeface="Times-Roman"/>
              </a:rPr>
              <a:t>Can you imagine ice that does not melt and is not wet? Then you can imagine dry ice. Dry ice is made by freezing a gas called carbon dioxide. Dry ice is quite different from ordinary ice, which is simply frozen water.</a:t>
            </a:r>
          </a:p>
          <a:p>
            <a:pPr algn="just">
              <a:buNone/>
            </a:pPr>
            <a:r>
              <a:rPr lang="en-GB" sz="2800" b="0" i="0" dirty="0">
                <a:solidFill>
                  <a:srgbClr val="000000"/>
                </a:solidFill>
                <a:effectLst/>
                <a:latin typeface="Times-Roman"/>
              </a:rPr>
              <a:t>	Dry ice was first manufactured in 1925. It has since fulfilled the fondest hopes of its inventor. It can be used for making artificial fog in the movies</a:t>
            </a:r>
            <a:r>
              <a:rPr lang="en-GB" sz="2800" dirty="0">
                <a:solidFill>
                  <a:srgbClr val="000000"/>
                </a:solidFill>
                <a:latin typeface="Times-Roman"/>
              </a:rPr>
              <a:t> </a:t>
            </a:r>
            <a:r>
              <a:rPr lang="en-GB" sz="2800" b="0" i="0" dirty="0">
                <a:solidFill>
                  <a:srgbClr val="000000"/>
                </a:solidFill>
                <a:effectLst/>
                <a:latin typeface="Times-Roman"/>
              </a:rPr>
              <a:t>(when steam is passed over dry ice, a very dense vapor rises), and for destroying insects in grain supplies. It is more practical than ordinary ice because it takes up less space and is 142 degrees colder. Since it evaporates instead of melting, it is cleaner to use. For these reasons it is extremely popular, and many people prefer it to ordinary ice.</a:t>
            </a:r>
          </a:p>
          <a:p>
            <a:pPr algn="just">
              <a:buNone/>
            </a:pPr>
            <a:r>
              <a:rPr lang="en-GB" sz="2800" b="0" i="0" dirty="0">
                <a:solidFill>
                  <a:srgbClr val="000000"/>
                </a:solidFill>
                <a:effectLst/>
                <a:latin typeface="Times-Roman"/>
              </a:rPr>
              <a:t>	Dry ice is so cold that, if you touch it with your bare fingers, it will burn you!</a:t>
            </a:r>
          </a:p>
        </p:txBody>
      </p:sp>
    </p:spTree>
    <p:extLst>
      <p:ext uri="{BB962C8B-B14F-4D97-AF65-F5344CB8AC3E}">
        <p14:creationId xmlns:p14="http://schemas.microsoft.com/office/powerpoint/2010/main" val="336152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41CB4-C443-FB83-FFEB-E988C6DC69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8A13862-2CC7-1859-FE88-F60935B3B1FC}"/>
              </a:ext>
            </a:extLst>
          </p:cNvPr>
          <p:cNvSpPr txBox="1"/>
          <p:nvPr/>
        </p:nvSpPr>
        <p:spPr>
          <a:xfrm>
            <a:off x="1238864" y="1536174"/>
            <a:ext cx="10530349" cy="3785652"/>
          </a:xfrm>
          <a:prstGeom prst="rect">
            <a:avLst/>
          </a:prstGeom>
          <a:noFill/>
        </p:spPr>
        <p:txBody>
          <a:bodyPr wrap="square">
            <a:spAutoFit/>
          </a:bodyPr>
          <a:lstStyle/>
          <a:p>
            <a:r>
              <a:rPr lang="en-GB" sz="2400" b="0" i="0" dirty="0">
                <a:solidFill>
                  <a:srgbClr val="000000"/>
                </a:solidFill>
                <a:effectLst/>
                <a:latin typeface="Times-Roman"/>
              </a:rPr>
              <a:t>1. Dry ice is made from water, but because it is specially treated it does not melt.</a:t>
            </a:r>
          </a:p>
          <a:p>
            <a:pPr marL="457200" indent="-457200">
              <a:buAutoNum type="arabicPeriod"/>
            </a:pPr>
            <a:endParaRPr lang="en-GB" sz="2400" b="0" i="0" dirty="0">
              <a:solidFill>
                <a:srgbClr val="000000"/>
              </a:solidFill>
              <a:effectLst/>
              <a:latin typeface="Times-Roman"/>
            </a:endParaRPr>
          </a:p>
          <a:p>
            <a:pPr>
              <a:buNone/>
            </a:pPr>
            <a:r>
              <a:rPr lang="en-GB" sz="2400" b="0" i="0" dirty="0">
                <a:solidFill>
                  <a:srgbClr val="000000"/>
                </a:solidFill>
                <a:effectLst/>
                <a:latin typeface="Times-Roman"/>
              </a:rPr>
              <a:t>2. The first dry ice was manufactured in the 1950’s.</a:t>
            </a:r>
          </a:p>
          <a:p>
            <a:pPr>
              <a:buNone/>
            </a:pPr>
            <a:endParaRPr lang="en-GB" sz="2400" b="0" i="0" dirty="0">
              <a:solidFill>
                <a:srgbClr val="000000"/>
              </a:solidFill>
              <a:effectLst/>
              <a:latin typeface="Times-Roman"/>
            </a:endParaRPr>
          </a:p>
          <a:p>
            <a:pPr>
              <a:buNone/>
            </a:pPr>
            <a:r>
              <a:rPr lang="en-GB" sz="2400" b="0" i="0" dirty="0">
                <a:solidFill>
                  <a:srgbClr val="000000"/>
                </a:solidFill>
                <a:effectLst/>
                <a:latin typeface="Times-Roman"/>
              </a:rPr>
              <a:t>3. Dry ice has more uses than ordinary ice. </a:t>
            </a:r>
          </a:p>
          <a:p>
            <a:pPr>
              <a:buNone/>
            </a:pPr>
            <a:endParaRPr lang="en-GB" sz="2400" b="0" i="0" dirty="0">
              <a:solidFill>
                <a:srgbClr val="000000"/>
              </a:solidFill>
              <a:effectLst/>
              <a:latin typeface="Times-Roman"/>
            </a:endParaRPr>
          </a:p>
          <a:p>
            <a:pPr>
              <a:buNone/>
            </a:pPr>
            <a:r>
              <a:rPr lang="en-GB" sz="2400" b="0" i="0" dirty="0">
                <a:solidFill>
                  <a:srgbClr val="000000"/>
                </a:solidFill>
                <a:effectLst/>
                <a:latin typeface="Times-Roman"/>
              </a:rPr>
              <a:t>4. Dry ice is not as cold as ordinary ice. </a:t>
            </a:r>
          </a:p>
          <a:p>
            <a:pPr>
              <a:buNone/>
            </a:pPr>
            <a:endParaRPr lang="en-GB" sz="2400" b="0" i="0" dirty="0">
              <a:solidFill>
                <a:srgbClr val="000000"/>
              </a:solidFill>
              <a:effectLst/>
              <a:latin typeface="Times-Roman"/>
            </a:endParaRPr>
          </a:p>
          <a:p>
            <a:pPr>
              <a:buNone/>
            </a:pPr>
            <a:r>
              <a:rPr lang="en-GB" sz="2400" dirty="0">
                <a:solidFill>
                  <a:srgbClr val="000000"/>
                </a:solidFill>
                <a:latin typeface="Times-Roman"/>
              </a:rPr>
              <a:t>5. </a:t>
            </a:r>
            <a:r>
              <a:rPr lang="en-GB" sz="2400" b="0" i="0" dirty="0">
                <a:solidFill>
                  <a:srgbClr val="000000"/>
                </a:solidFill>
                <a:effectLst/>
                <a:latin typeface="Times-Roman"/>
              </a:rPr>
              <a:t>Artificial fog can be made by passing steam over dry ice.</a:t>
            </a:r>
            <a:r>
              <a:rPr lang="en-GB" sz="2400" dirty="0"/>
              <a:t> </a:t>
            </a:r>
            <a:br>
              <a:rPr lang="en-GB" sz="2400" dirty="0"/>
            </a:br>
            <a:endParaRPr lang="en-GB" sz="2400" dirty="0"/>
          </a:p>
        </p:txBody>
      </p:sp>
    </p:spTree>
    <p:extLst>
      <p:ext uri="{BB962C8B-B14F-4D97-AF65-F5344CB8AC3E}">
        <p14:creationId xmlns:p14="http://schemas.microsoft.com/office/powerpoint/2010/main" val="1004238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7429BB-1B98-38E2-FAEB-F876D9C24CEF}"/>
              </a:ext>
            </a:extLst>
          </p:cNvPr>
          <p:cNvSpPr txBox="1"/>
          <p:nvPr/>
        </p:nvSpPr>
        <p:spPr>
          <a:xfrm>
            <a:off x="570270" y="402754"/>
            <a:ext cx="11621729" cy="6001643"/>
          </a:xfrm>
          <a:prstGeom prst="rect">
            <a:avLst/>
          </a:prstGeom>
          <a:noFill/>
        </p:spPr>
        <p:txBody>
          <a:bodyPr wrap="square">
            <a:spAutoFit/>
          </a:bodyPr>
          <a:lstStyle/>
          <a:p>
            <a:pPr algn="ctr">
              <a:buNone/>
            </a:pPr>
            <a:r>
              <a:rPr lang="en-GB" sz="2400" b="0" i="0" dirty="0">
                <a:solidFill>
                  <a:srgbClr val="000000"/>
                </a:solidFill>
                <a:effectLst/>
                <a:latin typeface="Times-Roman"/>
              </a:rPr>
              <a:t>An Indian Letter Carrier</a:t>
            </a:r>
          </a:p>
          <a:p>
            <a:pPr>
              <a:buNone/>
            </a:pPr>
            <a:endParaRPr lang="en-GB" sz="2400" b="0" i="0" dirty="0">
              <a:solidFill>
                <a:srgbClr val="000000"/>
              </a:solidFill>
              <a:effectLst/>
              <a:latin typeface="Times-Roman"/>
            </a:endParaRPr>
          </a:p>
          <a:p>
            <a:pPr>
              <a:buNone/>
            </a:pPr>
            <a:r>
              <a:rPr lang="en-GB" sz="2400" b="0" i="0" dirty="0">
                <a:solidFill>
                  <a:srgbClr val="000000"/>
                </a:solidFill>
                <a:effectLst/>
                <a:latin typeface="Times-Roman"/>
              </a:rPr>
              <a:t>	Delivering mail to small villages in India was once a difficult, perilous, and exciting job. The postman travelled on foot, often wading through swamps or crawling through jungles in order to reach the many villages on his route.</a:t>
            </a:r>
          </a:p>
          <a:p>
            <a:pPr>
              <a:buNone/>
            </a:pPr>
            <a:r>
              <a:rPr lang="en-GB" sz="2400" b="0" i="0" dirty="0">
                <a:solidFill>
                  <a:srgbClr val="000000"/>
                </a:solidFill>
                <a:effectLst/>
                <a:latin typeface="Times-Roman"/>
              </a:rPr>
              <a:t>	The Indian mailman might sometimes encounter a fierce tiger or panther along the way, yet the only weapon he carried was a sharp spear. He never went to work without his bells, which he would shake in order (so he said) to ward off evil spirits. Wild animals or evil spirits, nothing ever interrupted his work.</a:t>
            </a:r>
          </a:p>
          <a:p>
            <a:pPr>
              <a:buNone/>
            </a:pPr>
            <a:r>
              <a:rPr lang="en-GB" sz="2400" b="0" i="0" dirty="0">
                <a:solidFill>
                  <a:srgbClr val="000000"/>
                </a:solidFill>
                <a:effectLst/>
                <a:latin typeface="Times-Roman"/>
              </a:rPr>
              <a:t>	The Indian letter carrier was an honoured and respected person; he was treated with great courtesy. So wise was he thought to be that he was frequently called upon to settle village disputes.</a:t>
            </a:r>
          </a:p>
          <a:p>
            <a:pPr>
              <a:buNone/>
            </a:pPr>
            <a:r>
              <a:rPr lang="en-GB" sz="2400" b="0" i="0" dirty="0">
                <a:solidFill>
                  <a:srgbClr val="000000"/>
                </a:solidFill>
                <a:effectLst/>
                <a:latin typeface="Times-Roman"/>
              </a:rPr>
              <a:t>	It is certainly evident that only a very brave man would take a job that compelled him to fight off wild animals in order to get his work done. You can understand why everyone in India looked upon the man who delivered mail as a true national hero.</a:t>
            </a:r>
            <a:r>
              <a:rPr lang="en-GB" sz="2400" dirty="0"/>
              <a:t> </a:t>
            </a:r>
            <a:br>
              <a:rPr lang="en-GB" sz="2400" dirty="0"/>
            </a:br>
            <a:endParaRPr lang="en-GB" sz="2400" dirty="0"/>
          </a:p>
        </p:txBody>
      </p:sp>
    </p:spTree>
    <p:extLst>
      <p:ext uri="{BB962C8B-B14F-4D97-AF65-F5344CB8AC3E}">
        <p14:creationId xmlns:p14="http://schemas.microsoft.com/office/powerpoint/2010/main" val="2962040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80042B-8647-CD00-37A1-A2124D40D316}"/>
              </a:ext>
            </a:extLst>
          </p:cNvPr>
          <p:cNvSpPr txBox="1"/>
          <p:nvPr/>
        </p:nvSpPr>
        <p:spPr>
          <a:xfrm>
            <a:off x="698090" y="1012345"/>
            <a:ext cx="10107561" cy="4278094"/>
          </a:xfrm>
          <a:prstGeom prst="rect">
            <a:avLst/>
          </a:prstGeom>
          <a:noFill/>
        </p:spPr>
        <p:txBody>
          <a:bodyPr wrap="square">
            <a:spAutoFit/>
          </a:bodyPr>
          <a:lstStyle/>
          <a:p>
            <a:pPr marL="457200" indent="-457200">
              <a:buAutoNum type="arabicPeriod"/>
            </a:pPr>
            <a:r>
              <a:rPr lang="en-GB" sz="2400" b="0" i="0" dirty="0">
                <a:solidFill>
                  <a:srgbClr val="000000"/>
                </a:solidFill>
                <a:effectLst/>
                <a:latin typeface="Times-Roman"/>
              </a:rPr>
              <a:t>An Indian mailman used to carry a gun as protection against wild animals.</a:t>
            </a:r>
          </a:p>
          <a:p>
            <a:pPr marL="457200" indent="-457200">
              <a:buAutoNum type="arabicPeriod"/>
            </a:pPr>
            <a:endParaRPr lang="en-GB" sz="2400" b="0" i="0" dirty="0">
              <a:solidFill>
                <a:srgbClr val="000000"/>
              </a:solidFill>
              <a:effectLst/>
              <a:latin typeface="Times-Roman"/>
            </a:endParaRPr>
          </a:p>
          <a:p>
            <a:pPr>
              <a:buNone/>
            </a:pPr>
            <a:r>
              <a:rPr lang="en-GB" sz="2400" b="0" i="0" dirty="0">
                <a:solidFill>
                  <a:srgbClr val="000000"/>
                </a:solidFill>
                <a:effectLst/>
                <a:latin typeface="Times-Roman"/>
              </a:rPr>
              <a:t>2. He would also take along a set of bells to frighten off tigers and panthers.</a:t>
            </a:r>
          </a:p>
          <a:p>
            <a:pPr>
              <a:buNone/>
            </a:pPr>
            <a:endParaRPr lang="en-GB" sz="2400" b="0" i="0" dirty="0">
              <a:solidFill>
                <a:srgbClr val="000000"/>
              </a:solidFill>
              <a:effectLst/>
              <a:latin typeface="Times-Roman"/>
            </a:endParaRPr>
          </a:p>
          <a:p>
            <a:pPr>
              <a:buNone/>
            </a:pPr>
            <a:r>
              <a:rPr lang="en-GB" sz="2400" b="0" i="0" dirty="0">
                <a:solidFill>
                  <a:srgbClr val="000000"/>
                </a:solidFill>
                <a:effectLst/>
                <a:latin typeface="Times-Roman"/>
              </a:rPr>
              <a:t>3. The letter carrier was often asked to settle arguments in the villages that he visited.</a:t>
            </a:r>
          </a:p>
          <a:p>
            <a:pPr>
              <a:buNone/>
            </a:pPr>
            <a:endParaRPr lang="en-GB" sz="2400" b="0" i="0" dirty="0">
              <a:solidFill>
                <a:srgbClr val="000000"/>
              </a:solidFill>
              <a:effectLst/>
              <a:latin typeface="Times-Roman"/>
            </a:endParaRPr>
          </a:p>
          <a:p>
            <a:pPr>
              <a:buNone/>
            </a:pPr>
            <a:r>
              <a:rPr lang="en-GB" sz="2400" b="0" i="0" dirty="0">
                <a:solidFill>
                  <a:srgbClr val="000000"/>
                </a:solidFill>
                <a:effectLst/>
                <a:latin typeface="Times-Roman"/>
              </a:rPr>
              <a:t>4. </a:t>
            </a:r>
            <a:r>
              <a:rPr lang="en-GB" sz="2400" dirty="0"/>
              <a:t>Mailmen in India were considered heroes.</a:t>
            </a:r>
            <a:r>
              <a:rPr lang="en-GB" sz="3200" dirty="0"/>
              <a:t> </a:t>
            </a:r>
            <a:endParaRPr lang="en-GB" sz="2400" b="0" i="0" dirty="0">
              <a:solidFill>
                <a:srgbClr val="000000"/>
              </a:solidFill>
              <a:effectLst/>
              <a:latin typeface="Times-Roman"/>
            </a:endParaRPr>
          </a:p>
          <a:p>
            <a:pPr>
              <a:buNone/>
            </a:pPr>
            <a:endParaRPr lang="en-GB" sz="2400" b="0" i="0" dirty="0">
              <a:solidFill>
                <a:srgbClr val="000000"/>
              </a:solidFill>
              <a:effectLst/>
              <a:latin typeface="Times-Roman"/>
            </a:endParaRPr>
          </a:p>
          <a:p>
            <a:pPr>
              <a:buNone/>
            </a:pPr>
            <a:r>
              <a:rPr lang="en-GB" sz="2400" b="0" i="0" dirty="0">
                <a:solidFill>
                  <a:srgbClr val="000000"/>
                </a:solidFill>
                <a:effectLst/>
                <a:latin typeface="Times-Roman"/>
              </a:rPr>
              <a:t>5. Some people in India used to believe in evil spirits. </a:t>
            </a:r>
            <a:br>
              <a:rPr lang="en-GB" sz="2400" dirty="0"/>
            </a:br>
            <a:endParaRPr lang="en-GB" sz="2400" dirty="0"/>
          </a:p>
        </p:txBody>
      </p:sp>
    </p:spTree>
    <p:extLst>
      <p:ext uri="{BB962C8B-B14F-4D97-AF65-F5344CB8AC3E}">
        <p14:creationId xmlns:p14="http://schemas.microsoft.com/office/powerpoint/2010/main" val="2766307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5517921" cy="553998"/>
          </a:xfrm>
          <a:prstGeom prst="rect">
            <a:avLst/>
          </a:prstGeom>
          <a:noFill/>
        </p:spPr>
        <p:txBody>
          <a:bodyPr wrap="none">
            <a:spAutoFit/>
          </a:bodyPr>
          <a:lstStyle/>
          <a:p>
            <a:pPr>
              <a:defRPr sz="3000" b="1"/>
            </a:pPr>
            <a:r>
              <a:rPr dirty="0"/>
              <a:t>Rules for Faster Comprehension</a:t>
            </a:r>
          </a:p>
        </p:txBody>
      </p:sp>
      <p:sp>
        <p:nvSpPr>
          <p:cNvPr id="4" name="TextBox 3"/>
          <p:cNvSpPr txBox="1"/>
          <p:nvPr/>
        </p:nvSpPr>
        <p:spPr>
          <a:xfrm>
            <a:off x="685800" y="1600200"/>
            <a:ext cx="10881360" cy="895117"/>
          </a:xfrm>
          <a:prstGeom prst="rect">
            <a:avLst/>
          </a:prstGeom>
          <a:noFill/>
        </p:spPr>
        <p:txBody>
          <a:bodyPr wrap="square">
            <a:spAutoFit/>
          </a:bodyPr>
          <a:lstStyle/>
          <a:p>
            <a:pPr>
              <a:defRPr sz="2100" b="1"/>
            </a:pPr>
            <a:r>
              <a:rPr sz="2400" dirty="0"/>
              <a:t>1. READ MORE</a:t>
            </a:r>
          </a:p>
          <a:p>
            <a:pPr>
              <a:spcBef>
                <a:spcPts val="500"/>
              </a:spcBef>
              <a:defRPr sz="1700"/>
            </a:pPr>
            <a:r>
              <a:rPr sz="2400" dirty="0"/>
              <a:t>Build a regular reading habit. Read books—not just short, easy material.</a:t>
            </a:r>
          </a:p>
        </p:txBody>
      </p:sp>
      <p:sp>
        <p:nvSpPr>
          <p:cNvPr id="5" name="TextBox 4"/>
          <p:cNvSpPr txBox="1"/>
          <p:nvPr/>
        </p:nvSpPr>
        <p:spPr>
          <a:xfrm>
            <a:off x="685800" y="3108960"/>
            <a:ext cx="10881360" cy="1264449"/>
          </a:xfrm>
          <a:prstGeom prst="rect">
            <a:avLst/>
          </a:prstGeom>
          <a:noFill/>
        </p:spPr>
        <p:txBody>
          <a:bodyPr wrap="square">
            <a:spAutoFit/>
          </a:bodyPr>
          <a:lstStyle/>
          <a:p>
            <a:pPr>
              <a:defRPr sz="2100" b="1"/>
            </a:pPr>
            <a:r>
              <a:rPr sz="2400" dirty="0"/>
              <a:t>2. READ FOR MAIN IDEAS</a:t>
            </a:r>
          </a:p>
          <a:p>
            <a:pPr>
              <a:spcBef>
                <a:spcPts val="500"/>
              </a:spcBef>
              <a:defRPr sz="1700"/>
            </a:pPr>
            <a:r>
              <a:rPr sz="2400" dirty="0"/>
              <a:t>Look for the writer’s central argument, theme and framework. Don’t get stuck on minor details.</a:t>
            </a:r>
          </a:p>
        </p:txBody>
      </p:sp>
      <p:sp>
        <p:nvSpPr>
          <p:cNvPr id="6" name="TextBox 5"/>
          <p:cNvSpPr txBox="1"/>
          <p:nvPr/>
        </p:nvSpPr>
        <p:spPr>
          <a:xfrm>
            <a:off x="685800" y="4594860"/>
            <a:ext cx="10881360" cy="1264449"/>
          </a:xfrm>
          <a:prstGeom prst="rect">
            <a:avLst/>
          </a:prstGeom>
          <a:noFill/>
        </p:spPr>
        <p:txBody>
          <a:bodyPr wrap="square">
            <a:spAutoFit/>
          </a:bodyPr>
          <a:lstStyle/>
          <a:p>
            <a:pPr>
              <a:defRPr sz="2100" b="1"/>
            </a:pPr>
            <a:r>
              <a:rPr sz="2400" dirty="0"/>
              <a:t>3. CHALLENGE YOUR COMPREHENSION</a:t>
            </a:r>
          </a:p>
          <a:p>
            <a:pPr>
              <a:spcBef>
                <a:spcPts val="500"/>
              </a:spcBef>
              <a:defRPr sz="1700"/>
            </a:pPr>
            <a:r>
              <a:rPr sz="2400" dirty="0"/>
              <a:t>Choose difficult material that makes you think. Growth comes from challenging reading.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3000" b="1"/>
            </a:pPr>
            <a:r>
              <a:t>Rules for Faster Comprehension — Practice</a:t>
            </a:r>
          </a:p>
        </p:txBody>
      </p:sp>
      <p:sp>
        <p:nvSpPr>
          <p:cNvPr id="3" name="TextBox 2"/>
          <p:cNvSpPr txBox="1"/>
          <p:nvPr/>
        </p:nvSpPr>
        <p:spPr>
          <a:xfrm>
            <a:off x="685800" y="1325880"/>
            <a:ext cx="10881360" cy="1079783"/>
          </a:xfrm>
          <a:prstGeom prst="rect">
            <a:avLst/>
          </a:prstGeom>
          <a:noFill/>
        </p:spPr>
        <p:txBody>
          <a:bodyPr wrap="square">
            <a:spAutoFit/>
          </a:bodyPr>
          <a:lstStyle/>
          <a:p>
            <a:pPr>
              <a:defRPr sz="2100" b="1"/>
            </a:pPr>
            <a:r>
              <a:rPr sz="2000" dirty="0"/>
              <a:t>4. BUDGET YOUR TIME</a:t>
            </a:r>
          </a:p>
          <a:p>
            <a:pPr>
              <a:spcBef>
                <a:spcPts val="500"/>
              </a:spcBef>
              <a:defRPr sz="1700"/>
            </a:pPr>
            <a:r>
              <a:rPr sz="2000" dirty="0"/>
              <a:t>Set a specific start and finish time. A reasonable deadline mobilizes concentration and encourages efficient reading.</a:t>
            </a:r>
          </a:p>
        </p:txBody>
      </p:sp>
      <p:sp>
        <p:nvSpPr>
          <p:cNvPr id="4" name="TextBox 3"/>
          <p:cNvSpPr txBox="1"/>
          <p:nvPr/>
        </p:nvSpPr>
        <p:spPr>
          <a:xfrm>
            <a:off x="685800" y="2834639"/>
            <a:ext cx="10881360" cy="1079783"/>
          </a:xfrm>
          <a:prstGeom prst="rect">
            <a:avLst/>
          </a:prstGeom>
          <a:noFill/>
        </p:spPr>
        <p:txBody>
          <a:bodyPr wrap="square">
            <a:spAutoFit/>
          </a:bodyPr>
          <a:lstStyle/>
          <a:p>
            <a:pPr>
              <a:defRPr sz="2100" b="1"/>
            </a:pPr>
            <a:r>
              <a:rPr sz="2000" dirty="0"/>
              <a:t>5. PACE YOURSELF</a:t>
            </a:r>
          </a:p>
          <a:p>
            <a:pPr>
              <a:spcBef>
                <a:spcPts val="500"/>
              </a:spcBef>
              <a:defRPr sz="1700"/>
            </a:pPr>
            <a:r>
              <a:rPr sz="2000" dirty="0"/>
              <a:t>Read for 15 minutes → count pages → multiply by 4 = pages/hour. Maintain that pace while protecting comprehension.</a:t>
            </a:r>
          </a:p>
        </p:txBody>
      </p:sp>
      <p:sp>
        <p:nvSpPr>
          <p:cNvPr id="5" name="TextBox 4"/>
          <p:cNvSpPr txBox="1"/>
          <p:nvPr/>
        </p:nvSpPr>
        <p:spPr>
          <a:xfrm>
            <a:off x="685800" y="4343400"/>
            <a:ext cx="10881360" cy="1079783"/>
          </a:xfrm>
          <a:prstGeom prst="rect">
            <a:avLst/>
          </a:prstGeom>
          <a:noFill/>
        </p:spPr>
        <p:txBody>
          <a:bodyPr wrap="square">
            <a:spAutoFit/>
          </a:bodyPr>
          <a:lstStyle/>
          <a:p>
            <a:pPr>
              <a:defRPr sz="2100" b="1"/>
            </a:pPr>
            <a:r>
              <a:rPr sz="2000" dirty="0"/>
              <a:t>6. DEVELOP IMMEDIATE CONCENTRATION</a:t>
            </a:r>
          </a:p>
          <a:p>
            <a:pPr>
              <a:spcBef>
                <a:spcPts val="500"/>
              </a:spcBef>
              <a:defRPr sz="1700"/>
            </a:pPr>
            <a:r>
              <a:rPr sz="2000" dirty="0"/>
              <a:t>Read purposefully for main ideas. Reading at your top comprehension speed reduces mind-wandering and keeps you engaged.</a:t>
            </a:r>
          </a:p>
        </p:txBody>
      </p:sp>
      <p:sp>
        <p:nvSpPr>
          <p:cNvPr id="6" name="TextBox 5"/>
          <p:cNvSpPr txBox="1"/>
          <p:nvPr/>
        </p:nvSpPr>
        <p:spPr>
          <a:xfrm>
            <a:off x="685801" y="5806439"/>
            <a:ext cx="10881359" cy="707886"/>
          </a:xfrm>
          <a:prstGeom prst="rect">
            <a:avLst/>
          </a:prstGeom>
          <a:noFill/>
        </p:spPr>
        <p:txBody>
          <a:bodyPr wrap="square">
            <a:spAutoFit/>
          </a:bodyPr>
          <a:lstStyle/>
          <a:p>
            <a:pPr>
              <a:defRPr sz="1700" b="1"/>
            </a:pPr>
            <a:r>
              <a:rPr sz="2000" dirty="0"/>
              <a:t>KEY PRINCIPLE: You do not become a faster reader by learning the rules—you become faster by practicing them consistently.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5D43E5-DAD5-22A9-F156-9793E978668A}"/>
              </a:ext>
            </a:extLst>
          </p:cNvPr>
          <p:cNvGrpSpPr/>
          <p:nvPr/>
        </p:nvGrpSpPr>
        <p:grpSpPr>
          <a:xfrm>
            <a:off x="1330367" y="115847"/>
            <a:ext cx="9816402" cy="6380398"/>
            <a:chOff x="1232044" y="125679"/>
            <a:chExt cx="9816402" cy="6380398"/>
          </a:xfrm>
        </p:grpSpPr>
        <p:pic>
          <p:nvPicPr>
            <p:cNvPr id="3" name="Picture 2">
              <a:extLst>
                <a:ext uri="{FF2B5EF4-FFF2-40B4-BE49-F238E27FC236}">
                  <a16:creationId xmlns:a16="http://schemas.microsoft.com/office/drawing/2014/main" id="{3508430E-8935-2A47-737B-09C6056AEE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3148" y="125679"/>
              <a:ext cx="4785298" cy="6380398"/>
            </a:xfrm>
            <a:prstGeom prst="rect">
              <a:avLst/>
            </a:prstGeom>
          </p:spPr>
        </p:pic>
        <p:pic>
          <p:nvPicPr>
            <p:cNvPr id="5" name="Picture 4">
              <a:extLst>
                <a:ext uri="{FF2B5EF4-FFF2-40B4-BE49-F238E27FC236}">
                  <a16:creationId xmlns:a16="http://schemas.microsoft.com/office/drawing/2014/main" id="{E30324B9-FA05-9E36-0752-05C9E3F5E1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2044" y="304800"/>
              <a:ext cx="4179662" cy="6201277"/>
            </a:xfrm>
            <a:prstGeom prst="rect">
              <a:avLst/>
            </a:prstGeom>
          </p:spPr>
        </p:pic>
      </p:grpSp>
    </p:spTree>
    <p:extLst>
      <p:ext uri="{BB962C8B-B14F-4D97-AF65-F5344CB8AC3E}">
        <p14:creationId xmlns:p14="http://schemas.microsoft.com/office/powerpoint/2010/main" val="2488813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D834F2-AB68-689F-DCFF-91A3726E21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759" y="844152"/>
            <a:ext cx="11286481" cy="5169695"/>
          </a:xfrm>
          <a:prstGeom prst="rect">
            <a:avLst/>
          </a:prstGeom>
        </p:spPr>
      </p:pic>
    </p:spTree>
    <p:extLst>
      <p:ext uri="{BB962C8B-B14F-4D97-AF65-F5344CB8AC3E}">
        <p14:creationId xmlns:p14="http://schemas.microsoft.com/office/powerpoint/2010/main" val="2581477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F25D1D-C9A2-6662-E1AE-897BEF6E8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168" y="148281"/>
            <a:ext cx="10746658" cy="6561438"/>
          </a:xfrm>
          <a:prstGeom prst="rect">
            <a:avLst/>
          </a:prstGeom>
        </p:spPr>
      </p:pic>
    </p:spTree>
    <p:extLst>
      <p:ext uri="{BB962C8B-B14F-4D97-AF65-F5344CB8AC3E}">
        <p14:creationId xmlns:p14="http://schemas.microsoft.com/office/powerpoint/2010/main" val="1358827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354F8B-3269-381C-8164-6325618CE3A1}"/>
              </a:ext>
            </a:extLst>
          </p:cNvPr>
          <p:cNvSpPr txBox="1"/>
          <p:nvPr/>
        </p:nvSpPr>
        <p:spPr>
          <a:xfrm>
            <a:off x="1179870" y="1210668"/>
            <a:ext cx="9950245" cy="2123658"/>
          </a:xfrm>
          <a:prstGeom prst="rect">
            <a:avLst/>
          </a:prstGeom>
          <a:noFill/>
        </p:spPr>
        <p:txBody>
          <a:bodyPr wrap="square">
            <a:spAutoFit/>
          </a:bodyPr>
          <a:lstStyle/>
          <a:p>
            <a:r>
              <a:rPr lang="en-GB" sz="2800" b="0" i="0" dirty="0">
                <a:solidFill>
                  <a:srgbClr val="000000"/>
                </a:solidFill>
                <a:effectLst/>
              </a:rPr>
              <a:t>The typical community college student is no longer---------------------------------------------------------------</a:t>
            </a:r>
            <a:r>
              <a:rPr lang="en-GB" sz="2800" dirty="0"/>
              <a:t> but instead is------------------------------------------------------ </a:t>
            </a:r>
            <a:br>
              <a:rPr lang="en-GB" sz="2800" dirty="0"/>
            </a:br>
            <a:br>
              <a:rPr lang="en-GB" sz="2400" dirty="0"/>
            </a:br>
            <a:endParaRPr lang="en-GB" sz="2400" dirty="0"/>
          </a:p>
        </p:txBody>
      </p:sp>
    </p:spTree>
    <p:extLst>
      <p:ext uri="{BB962C8B-B14F-4D97-AF65-F5344CB8AC3E}">
        <p14:creationId xmlns:p14="http://schemas.microsoft.com/office/powerpoint/2010/main" val="505189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65CBF0-F341-7567-24A3-1076B7910833}"/>
              </a:ext>
            </a:extLst>
          </p:cNvPr>
          <p:cNvSpPr txBox="1"/>
          <p:nvPr/>
        </p:nvSpPr>
        <p:spPr>
          <a:xfrm>
            <a:off x="590035" y="415135"/>
            <a:ext cx="11358949" cy="6001643"/>
          </a:xfrm>
          <a:prstGeom prst="rect">
            <a:avLst/>
          </a:prstGeom>
          <a:noFill/>
        </p:spPr>
        <p:txBody>
          <a:bodyPr wrap="square">
            <a:spAutoFit/>
          </a:bodyPr>
          <a:lstStyle/>
          <a:p>
            <a:pPr algn="ctr">
              <a:buNone/>
            </a:pPr>
            <a:r>
              <a:rPr lang="en-GB" sz="2400" b="0" i="0" dirty="0">
                <a:solidFill>
                  <a:srgbClr val="000000"/>
                </a:solidFill>
                <a:effectLst/>
                <a:latin typeface="Times-Roman"/>
              </a:rPr>
              <a:t>Thought an</a:t>
            </a:r>
            <a:r>
              <a:rPr lang="en-GB" sz="2400" dirty="0">
                <a:solidFill>
                  <a:srgbClr val="000000"/>
                </a:solidFill>
                <a:latin typeface="Times-Roman"/>
              </a:rPr>
              <a:t>d</a:t>
            </a:r>
            <a:r>
              <a:rPr lang="en-GB" sz="2400" b="0" i="0" dirty="0">
                <a:solidFill>
                  <a:srgbClr val="000000"/>
                </a:solidFill>
                <a:effectLst/>
                <a:latin typeface="Times-Roman"/>
              </a:rPr>
              <a:t> Language      -  by Edward Sapir</a:t>
            </a:r>
          </a:p>
          <a:p>
            <a:pPr>
              <a:buNone/>
            </a:pPr>
            <a:endParaRPr lang="en-GB" sz="2400" b="0" i="0" dirty="0">
              <a:solidFill>
                <a:srgbClr val="000000"/>
              </a:solidFill>
              <a:effectLst/>
              <a:latin typeface="Times-Roman"/>
            </a:endParaRPr>
          </a:p>
          <a:p>
            <a:pPr algn="just">
              <a:buNone/>
            </a:pPr>
            <a:r>
              <a:rPr lang="en-GB" sz="2400" b="0" i="0" dirty="0">
                <a:solidFill>
                  <a:srgbClr val="000000"/>
                </a:solidFill>
                <a:effectLst/>
                <a:latin typeface="Times-Roman"/>
              </a:rPr>
              <a:t>Most people, asked if they can think without speech, would probably answer, “Yes, but it is not easy for me to do so. Still, I know it can be done.” ... No one believes that even the most difficult mathematical proposition is inherently dependent on an arbitrary set of symbols, but it is impossible to suppose that the human mind is capable of arriving at or holding such a proposition without the symbolism. The writer, for one, is strongly of the opinion that the feeling entertained by so many that they can think, or even reason, without language is an illusion. The illusion seems to be due to a number of factors. The simplest of these is the failure to distinguish between imagery and thought. As a matter of fact, no sooner do we try to put an image into conscious relation with another than we find ourselves slipping into a silent flow of words. Thought may be a natural domain apart from the artificial one of speech, but speech would seem to be the only road we know that leads to it.</a:t>
            </a:r>
          </a:p>
          <a:p>
            <a:pPr algn="just">
              <a:buNone/>
            </a:pPr>
            <a:r>
              <a:rPr lang="en-GB" sz="2400" dirty="0"/>
              <a:t> </a:t>
            </a:r>
            <a:br>
              <a:rPr lang="en-GB" sz="2400" dirty="0"/>
            </a:br>
            <a:endParaRPr lang="en-GB" sz="2400" dirty="0"/>
          </a:p>
        </p:txBody>
      </p:sp>
      <p:sp>
        <p:nvSpPr>
          <p:cNvPr id="5" name="TextBox 4">
            <a:extLst>
              <a:ext uri="{FF2B5EF4-FFF2-40B4-BE49-F238E27FC236}">
                <a16:creationId xmlns:a16="http://schemas.microsoft.com/office/drawing/2014/main" id="{0E23AF39-B5FE-1B2D-5D77-48A1946811D2}"/>
              </a:ext>
            </a:extLst>
          </p:cNvPr>
          <p:cNvSpPr txBox="1"/>
          <p:nvPr/>
        </p:nvSpPr>
        <p:spPr>
          <a:xfrm>
            <a:off x="2523867" y="5771820"/>
            <a:ext cx="6135128" cy="461665"/>
          </a:xfrm>
          <a:prstGeom prst="rect">
            <a:avLst/>
          </a:prstGeom>
          <a:noFill/>
        </p:spPr>
        <p:txBody>
          <a:bodyPr wrap="square">
            <a:spAutoFit/>
          </a:bodyPr>
          <a:lstStyle/>
          <a:p>
            <a:r>
              <a:rPr lang="en-GB" sz="2400" b="0" i="0" dirty="0">
                <a:solidFill>
                  <a:srgbClr val="000000"/>
                </a:solidFill>
                <a:effectLst/>
              </a:rPr>
              <a:t>It is not true that __</a:t>
            </a:r>
            <a:r>
              <a:rPr lang="en-GB" sz="2400" dirty="0"/>
              <a:t> ----------------</a:t>
            </a:r>
          </a:p>
        </p:txBody>
      </p:sp>
    </p:spTree>
    <p:extLst>
      <p:ext uri="{BB962C8B-B14F-4D97-AF65-F5344CB8AC3E}">
        <p14:creationId xmlns:p14="http://schemas.microsoft.com/office/powerpoint/2010/main" val="3727551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F1B405-A025-E972-297B-7073167B7E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654"/>
            <a:ext cx="12538690" cy="6846346"/>
          </a:xfrm>
          <a:prstGeom prst="rect">
            <a:avLst/>
          </a:prstGeom>
        </p:spPr>
      </p:pic>
    </p:spTree>
    <p:extLst>
      <p:ext uri="{BB962C8B-B14F-4D97-AF65-F5344CB8AC3E}">
        <p14:creationId xmlns:p14="http://schemas.microsoft.com/office/powerpoint/2010/main" val="3816286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2E00D8-ED08-D260-679A-2298460998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8359" y="130378"/>
            <a:ext cx="9695282" cy="6597243"/>
          </a:xfrm>
          <a:prstGeom prst="rect">
            <a:avLst/>
          </a:prstGeom>
        </p:spPr>
      </p:pic>
    </p:spTree>
    <p:extLst>
      <p:ext uri="{BB962C8B-B14F-4D97-AF65-F5344CB8AC3E}">
        <p14:creationId xmlns:p14="http://schemas.microsoft.com/office/powerpoint/2010/main" val="20145045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CFBC3E6-3221-8690-6300-22B5637DCF43}"/>
              </a:ext>
            </a:extLst>
          </p:cNvPr>
          <p:cNvGraphicFramePr>
            <a:graphicFrameLocks noGrp="1"/>
          </p:cNvGraphicFramePr>
          <p:nvPr>
            <p:extLst>
              <p:ext uri="{D42A27DB-BD31-4B8C-83A1-F6EECF244321}">
                <p14:modId xmlns:p14="http://schemas.microsoft.com/office/powerpoint/2010/main" val="2766216005"/>
              </p:ext>
            </p:extLst>
          </p:nvPr>
        </p:nvGraphicFramePr>
        <p:xfrm>
          <a:off x="564997" y="424831"/>
          <a:ext cx="11241087" cy="5852160"/>
        </p:xfrm>
        <a:graphic>
          <a:graphicData uri="http://schemas.openxmlformats.org/drawingml/2006/table">
            <a:tbl>
              <a:tblPr/>
              <a:tblGrid>
                <a:gridCol w="2365016">
                  <a:extLst>
                    <a:ext uri="{9D8B030D-6E8A-4147-A177-3AD203B41FA5}">
                      <a16:colId xmlns:a16="http://schemas.microsoft.com/office/drawing/2014/main" val="362662754"/>
                    </a:ext>
                  </a:extLst>
                </a:gridCol>
                <a:gridCol w="4326194">
                  <a:extLst>
                    <a:ext uri="{9D8B030D-6E8A-4147-A177-3AD203B41FA5}">
                      <a16:colId xmlns:a16="http://schemas.microsoft.com/office/drawing/2014/main" val="3158698327"/>
                    </a:ext>
                  </a:extLst>
                </a:gridCol>
                <a:gridCol w="4549877">
                  <a:extLst>
                    <a:ext uri="{9D8B030D-6E8A-4147-A177-3AD203B41FA5}">
                      <a16:colId xmlns:a16="http://schemas.microsoft.com/office/drawing/2014/main" val="2125660770"/>
                    </a:ext>
                  </a:extLst>
                </a:gridCol>
              </a:tblGrid>
              <a:tr h="0">
                <a:tc>
                  <a:txBody>
                    <a:bodyPr/>
                    <a:lstStyle/>
                    <a:p>
                      <a:pPr>
                        <a:buNone/>
                      </a:pPr>
                      <a:r>
                        <a:rPr lang="en-GB" sz="2400"/>
                        <a:t>Type</a:t>
                      </a:r>
                    </a:p>
                  </a:txBody>
                  <a:tcPr anchor="ctr">
                    <a:lnL>
                      <a:noFill/>
                    </a:lnL>
                    <a:lnR>
                      <a:noFill/>
                    </a:lnR>
                    <a:lnT>
                      <a:noFill/>
                    </a:lnT>
                    <a:lnB>
                      <a:noFill/>
                    </a:lnB>
                    <a:noFill/>
                  </a:tcPr>
                </a:tc>
                <a:tc>
                  <a:txBody>
                    <a:bodyPr/>
                    <a:lstStyle/>
                    <a:p>
                      <a:pPr>
                        <a:buNone/>
                      </a:pPr>
                      <a:r>
                        <a:rPr lang="en-GB" sz="2400"/>
                        <a:t>Main question</a:t>
                      </a:r>
                    </a:p>
                  </a:txBody>
                  <a:tcPr anchor="ctr">
                    <a:lnL>
                      <a:noFill/>
                    </a:lnL>
                    <a:lnR>
                      <a:noFill/>
                    </a:lnR>
                    <a:lnT>
                      <a:noFill/>
                    </a:lnT>
                    <a:lnB>
                      <a:noFill/>
                    </a:lnB>
                    <a:noFill/>
                  </a:tcPr>
                </a:tc>
                <a:tc>
                  <a:txBody>
                    <a:bodyPr/>
                    <a:lstStyle/>
                    <a:p>
                      <a:pPr>
                        <a:buNone/>
                      </a:pPr>
                      <a:r>
                        <a:rPr lang="en-GB" sz="2400"/>
                        <a:t>What you do</a:t>
                      </a:r>
                    </a:p>
                  </a:txBody>
                  <a:tcPr anchor="ctr">
                    <a:lnL>
                      <a:noFill/>
                    </a:lnL>
                    <a:lnR>
                      <a:noFill/>
                    </a:lnR>
                    <a:lnT>
                      <a:noFill/>
                    </a:lnT>
                    <a:lnB>
                      <a:noFill/>
                    </a:lnB>
                    <a:noFill/>
                  </a:tcPr>
                </a:tc>
                <a:extLst>
                  <a:ext uri="{0D108BD9-81ED-4DB2-BD59-A6C34878D82A}">
                    <a16:rowId xmlns:a16="http://schemas.microsoft.com/office/drawing/2014/main" val="2492512201"/>
                  </a:ext>
                </a:extLst>
              </a:tr>
              <a:tr h="0">
                <a:tc>
                  <a:txBody>
                    <a:bodyPr/>
                    <a:lstStyle/>
                    <a:p>
                      <a:pPr>
                        <a:buNone/>
                      </a:pPr>
                      <a:r>
                        <a:rPr lang="en-GB" sz="2400" b="1"/>
                        <a:t>Skimming</a:t>
                      </a:r>
                      <a:endParaRPr lang="en-GB" sz="2400"/>
                    </a:p>
                  </a:txBody>
                  <a:tcPr anchor="ctr">
                    <a:lnL>
                      <a:noFill/>
                    </a:lnL>
                    <a:lnR>
                      <a:noFill/>
                    </a:lnR>
                    <a:lnT>
                      <a:noFill/>
                    </a:lnT>
                    <a:lnB>
                      <a:noFill/>
                    </a:lnB>
                    <a:noFill/>
                  </a:tcPr>
                </a:tc>
                <a:tc>
                  <a:txBody>
                    <a:bodyPr/>
                    <a:lstStyle/>
                    <a:p>
                      <a:pPr>
                        <a:buNone/>
                      </a:pPr>
                      <a:r>
                        <a:rPr lang="en-GB" sz="2400" dirty="0"/>
                        <a:t>“What is this generally about?”</a:t>
                      </a:r>
                    </a:p>
                  </a:txBody>
                  <a:tcPr anchor="ctr">
                    <a:lnL>
                      <a:noFill/>
                    </a:lnL>
                    <a:lnR>
                      <a:noFill/>
                    </a:lnR>
                    <a:lnT>
                      <a:noFill/>
                    </a:lnT>
                    <a:lnB>
                      <a:noFill/>
                    </a:lnB>
                    <a:noFill/>
                  </a:tcPr>
                </a:tc>
                <a:tc>
                  <a:txBody>
                    <a:bodyPr/>
                    <a:lstStyle/>
                    <a:p>
                      <a:pPr>
                        <a:buNone/>
                      </a:pPr>
                      <a:r>
                        <a:rPr lang="en-GB" sz="2400" dirty="0"/>
                        <a:t>Read quickly for the </a:t>
                      </a:r>
                      <a:r>
                        <a:rPr lang="en-GB" sz="2400" b="1" dirty="0"/>
                        <a:t>overall idea</a:t>
                      </a:r>
                      <a:endParaRPr lang="en-GB" sz="2400" dirty="0"/>
                    </a:p>
                  </a:txBody>
                  <a:tcPr anchor="ctr">
                    <a:lnL>
                      <a:noFill/>
                    </a:lnL>
                    <a:lnR>
                      <a:noFill/>
                    </a:lnR>
                    <a:lnT>
                      <a:noFill/>
                    </a:lnT>
                    <a:lnB>
                      <a:noFill/>
                    </a:lnB>
                    <a:noFill/>
                  </a:tcPr>
                </a:tc>
                <a:extLst>
                  <a:ext uri="{0D108BD9-81ED-4DB2-BD59-A6C34878D82A}">
                    <a16:rowId xmlns:a16="http://schemas.microsoft.com/office/drawing/2014/main" val="609334216"/>
                  </a:ext>
                </a:extLst>
              </a:tr>
              <a:tr h="0">
                <a:tc>
                  <a:txBody>
                    <a:bodyPr/>
                    <a:lstStyle/>
                    <a:p>
                      <a:pPr>
                        <a:buNone/>
                      </a:pPr>
                      <a:r>
                        <a:rPr lang="en-GB" sz="2400" b="1" dirty="0"/>
                        <a:t>Scanning</a:t>
                      </a:r>
                      <a:endParaRPr lang="en-GB" sz="2400" dirty="0"/>
                    </a:p>
                  </a:txBody>
                  <a:tcPr anchor="ctr">
                    <a:lnL>
                      <a:noFill/>
                    </a:lnL>
                    <a:lnR>
                      <a:noFill/>
                    </a:lnR>
                    <a:lnT>
                      <a:noFill/>
                    </a:lnT>
                    <a:lnB>
                      <a:noFill/>
                    </a:lnB>
                    <a:noFill/>
                  </a:tcPr>
                </a:tc>
                <a:tc>
                  <a:txBody>
                    <a:bodyPr/>
                    <a:lstStyle/>
                    <a:p>
                      <a:pPr>
                        <a:buNone/>
                      </a:pPr>
                      <a:r>
                        <a:rPr lang="en-GB" sz="2400" dirty="0"/>
                        <a:t>“Where is the specific information I need?”</a:t>
                      </a:r>
                    </a:p>
                  </a:txBody>
                  <a:tcPr anchor="ctr">
                    <a:lnL>
                      <a:noFill/>
                    </a:lnL>
                    <a:lnR>
                      <a:noFill/>
                    </a:lnR>
                    <a:lnT>
                      <a:noFill/>
                    </a:lnT>
                    <a:lnB>
                      <a:noFill/>
                    </a:lnB>
                    <a:noFill/>
                  </a:tcPr>
                </a:tc>
                <a:tc>
                  <a:txBody>
                    <a:bodyPr/>
                    <a:lstStyle/>
                    <a:p>
                      <a:pPr>
                        <a:buNone/>
                      </a:pPr>
                      <a:r>
                        <a:rPr lang="en-GB" sz="2400" dirty="0"/>
                        <a:t>Search quickly for a </a:t>
                      </a:r>
                      <a:r>
                        <a:rPr lang="en-GB" sz="2400" b="1" dirty="0"/>
                        <a:t>particular fact/word</a:t>
                      </a:r>
                      <a:endParaRPr lang="en-GB" sz="2400" dirty="0"/>
                    </a:p>
                  </a:txBody>
                  <a:tcPr anchor="ctr">
                    <a:lnL>
                      <a:noFill/>
                    </a:lnL>
                    <a:lnR>
                      <a:noFill/>
                    </a:lnR>
                    <a:lnT>
                      <a:noFill/>
                    </a:lnT>
                    <a:lnB>
                      <a:noFill/>
                    </a:lnB>
                    <a:noFill/>
                  </a:tcPr>
                </a:tc>
                <a:extLst>
                  <a:ext uri="{0D108BD9-81ED-4DB2-BD59-A6C34878D82A}">
                    <a16:rowId xmlns:a16="http://schemas.microsoft.com/office/drawing/2014/main" val="3162621673"/>
                  </a:ext>
                </a:extLst>
              </a:tr>
              <a:tr h="0">
                <a:tc>
                  <a:txBody>
                    <a:bodyPr/>
                    <a:lstStyle/>
                    <a:p>
                      <a:pPr>
                        <a:buNone/>
                      </a:pPr>
                      <a:r>
                        <a:rPr lang="en-GB" sz="2400" b="1"/>
                        <a:t>Comprehension</a:t>
                      </a:r>
                      <a:endParaRPr lang="en-GB" sz="2400"/>
                    </a:p>
                  </a:txBody>
                  <a:tcPr anchor="ctr">
                    <a:lnL>
                      <a:noFill/>
                    </a:lnL>
                    <a:lnR>
                      <a:noFill/>
                    </a:lnR>
                    <a:lnT>
                      <a:noFill/>
                    </a:lnT>
                    <a:lnB>
                      <a:noFill/>
                    </a:lnB>
                    <a:noFill/>
                  </a:tcPr>
                </a:tc>
                <a:tc>
                  <a:txBody>
                    <a:bodyPr/>
                    <a:lstStyle/>
                    <a:p>
                      <a:pPr>
                        <a:buNone/>
                      </a:pPr>
                      <a:r>
                        <a:rPr lang="en-GB" sz="2400" dirty="0"/>
                        <a:t>“What does this text mean?”</a:t>
                      </a:r>
                    </a:p>
                  </a:txBody>
                  <a:tcPr anchor="ctr">
                    <a:lnL>
                      <a:noFill/>
                    </a:lnL>
                    <a:lnR>
                      <a:noFill/>
                    </a:lnR>
                    <a:lnT>
                      <a:noFill/>
                    </a:lnT>
                    <a:lnB>
                      <a:noFill/>
                    </a:lnB>
                    <a:noFill/>
                  </a:tcPr>
                </a:tc>
                <a:tc>
                  <a:txBody>
                    <a:bodyPr/>
                    <a:lstStyle/>
                    <a:p>
                      <a:pPr>
                        <a:buNone/>
                      </a:pPr>
                      <a:r>
                        <a:rPr lang="en-GB" sz="2400"/>
                        <a:t>Understand the </a:t>
                      </a:r>
                      <a:r>
                        <a:rPr lang="en-GB" sz="2400" b="1"/>
                        <a:t>ideas and relationships</a:t>
                      </a:r>
                      <a:endParaRPr lang="en-GB" sz="2400"/>
                    </a:p>
                  </a:txBody>
                  <a:tcPr anchor="ctr">
                    <a:lnL>
                      <a:noFill/>
                    </a:lnL>
                    <a:lnR>
                      <a:noFill/>
                    </a:lnR>
                    <a:lnT>
                      <a:noFill/>
                    </a:lnT>
                    <a:lnB>
                      <a:noFill/>
                    </a:lnB>
                    <a:noFill/>
                  </a:tcPr>
                </a:tc>
                <a:extLst>
                  <a:ext uri="{0D108BD9-81ED-4DB2-BD59-A6C34878D82A}">
                    <a16:rowId xmlns:a16="http://schemas.microsoft.com/office/drawing/2014/main" val="3736990134"/>
                  </a:ext>
                </a:extLst>
              </a:tr>
              <a:tr h="0">
                <a:tc>
                  <a:txBody>
                    <a:bodyPr/>
                    <a:lstStyle/>
                    <a:p>
                      <a:pPr>
                        <a:buNone/>
                      </a:pPr>
                      <a:r>
                        <a:rPr lang="en-GB" sz="2400" b="1" dirty="0"/>
                        <a:t>Studying</a:t>
                      </a:r>
                      <a:endParaRPr lang="en-GB" sz="2400" dirty="0"/>
                    </a:p>
                  </a:txBody>
                  <a:tcPr anchor="ctr">
                    <a:lnL>
                      <a:noFill/>
                    </a:lnL>
                    <a:lnR>
                      <a:noFill/>
                    </a:lnR>
                    <a:lnT>
                      <a:noFill/>
                    </a:lnT>
                    <a:lnB>
                      <a:noFill/>
                    </a:lnB>
                    <a:noFill/>
                  </a:tcPr>
                </a:tc>
                <a:tc>
                  <a:txBody>
                    <a:bodyPr/>
                    <a:lstStyle/>
                    <a:p>
                      <a:pPr>
                        <a:buNone/>
                      </a:pPr>
                      <a:r>
                        <a:rPr lang="en-GB" sz="2400"/>
                        <a:t>“How can I learn and remember this?”</a:t>
                      </a:r>
                    </a:p>
                  </a:txBody>
                  <a:tcPr anchor="ctr">
                    <a:lnL>
                      <a:noFill/>
                    </a:lnL>
                    <a:lnR>
                      <a:noFill/>
                    </a:lnR>
                    <a:lnT>
                      <a:noFill/>
                    </a:lnT>
                    <a:lnB>
                      <a:noFill/>
                    </a:lnB>
                    <a:noFill/>
                  </a:tcPr>
                </a:tc>
                <a:tc>
                  <a:txBody>
                    <a:bodyPr/>
                    <a:lstStyle/>
                    <a:p>
                      <a:pPr>
                        <a:buNone/>
                      </a:pPr>
                      <a:r>
                        <a:rPr lang="en-GB" sz="2400"/>
                        <a:t>Read carefully, analyse, make notes, revise</a:t>
                      </a:r>
                    </a:p>
                  </a:txBody>
                  <a:tcPr anchor="ctr">
                    <a:lnL>
                      <a:noFill/>
                    </a:lnL>
                    <a:lnR>
                      <a:noFill/>
                    </a:lnR>
                    <a:lnT>
                      <a:noFill/>
                    </a:lnT>
                    <a:lnB>
                      <a:noFill/>
                    </a:lnB>
                    <a:noFill/>
                  </a:tcPr>
                </a:tc>
                <a:extLst>
                  <a:ext uri="{0D108BD9-81ED-4DB2-BD59-A6C34878D82A}">
                    <a16:rowId xmlns:a16="http://schemas.microsoft.com/office/drawing/2014/main" val="1573130902"/>
                  </a:ext>
                </a:extLst>
              </a:tr>
              <a:tr h="0">
                <a:tc>
                  <a:txBody>
                    <a:bodyPr/>
                    <a:lstStyle/>
                    <a:p>
                      <a:pPr>
                        <a:buNone/>
                      </a:pPr>
                      <a:r>
                        <a:rPr lang="en-GB" sz="2400" b="1"/>
                        <a:t>Summarizing</a:t>
                      </a:r>
                      <a:endParaRPr lang="en-GB" sz="2400"/>
                    </a:p>
                  </a:txBody>
                  <a:tcPr anchor="ctr">
                    <a:lnL>
                      <a:noFill/>
                    </a:lnL>
                    <a:lnR>
                      <a:noFill/>
                    </a:lnR>
                    <a:lnT>
                      <a:noFill/>
                    </a:lnT>
                    <a:lnB>
                      <a:noFill/>
                    </a:lnB>
                    <a:noFill/>
                  </a:tcPr>
                </a:tc>
                <a:tc>
                  <a:txBody>
                    <a:bodyPr/>
                    <a:lstStyle/>
                    <a:p>
                      <a:pPr>
                        <a:buNone/>
                      </a:pPr>
                      <a:r>
                        <a:rPr lang="en-GB" sz="2400"/>
                        <a:t>“Can I say the main points briefly?”</a:t>
                      </a:r>
                    </a:p>
                  </a:txBody>
                  <a:tcPr anchor="ctr">
                    <a:lnL>
                      <a:noFill/>
                    </a:lnL>
                    <a:lnR>
                      <a:noFill/>
                    </a:lnR>
                    <a:lnT>
                      <a:noFill/>
                    </a:lnT>
                    <a:lnB>
                      <a:noFill/>
                    </a:lnB>
                    <a:noFill/>
                  </a:tcPr>
                </a:tc>
                <a:tc>
                  <a:txBody>
                    <a:bodyPr/>
                    <a:lstStyle/>
                    <a:p>
                      <a:pPr>
                        <a:buNone/>
                      </a:pPr>
                      <a:r>
                        <a:rPr lang="en-GB" sz="2400"/>
                        <a:t>Reduce the text to its </a:t>
                      </a:r>
                      <a:r>
                        <a:rPr lang="en-GB" sz="2400" b="1"/>
                        <a:t>essential ideas</a:t>
                      </a:r>
                      <a:endParaRPr lang="en-GB" sz="2400"/>
                    </a:p>
                  </a:txBody>
                  <a:tcPr anchor="ctr">
                    <a:lnL>
                      <a:noFill/>
                    </a:lnL>
                    <a:lnR>
                      <a:noFill/>
                    </a:lnR>
                    <a:lnT>
                      <a:noFill/>
                    </a:lnT>
                    <a:lnB>
                      <a:noFill/>
                    </a:lnB>
                    <a:noFill/>
                  </a:tcPr>
                </a:tc>
                <a:extLst>
                  <a:ext uri="{0D108BD9-81ED-4DB2-BD59-A6C34878D82A}">
                    <a16:rowId xmlns:a16="http://schemas.microsoft.com/office/drawing/2014/main" val="13524046"/>
                  </a:ext>
                </a:extLst>
              </a:tr>
              <a:tr h="0">
                <a:tc>
                  <a:txBody>
                    <a:bodyPr/>
                    <a:lstStyle/>
                    <a:p>
                      <a:pPr>
                        <a:buNone/>
                      </a:pPr>
                      <a:r>
                        <a:rPr lang="en-GB" sz="2400" b="1" dirty="0"/>
                        <a:t>Labelling</a:t>
                      </a:r>
                      <a:endParaRPr lang="en-GB" sz="2400" dirty="0"/>
                    </a:p>
                  </a:txBody>
                  <a:tcPr anchor="ctr">
                    <a:lnL>
                      <a:noFill/>
                    </a:lnL>
                    <a:lnR>
                      <a:noFill/>
                    </a:lnR>
                    <a:lnT>
                      <a:noFill/>
                    </a:lnT>
                    <a:lnB>
                      <a:noFill/>
                    </a:lnB>
                    <a:noFill/>
                  </a:tcPr>
                </a:tc>
                <a:tc>
                  <a:txBody>
                    <a:bodyPr/>
                    <a:lstStyle/>
                    <a:p>
                      <a:pPr>
                        <a:buNone/>
                      </a:pPr>
                      <a:r>
                        <a:rPr lang="en-GB" sz="2400"/>
                        <a:t>“What does each part/section do?”</a:t>
                      </a:r>
                    </a:p>
                  </a:txBody>
                  <a:tcPr anchor="ctr">
                    <a:lnL>
                      <a:noFill/>
                    </a:lnL>
                    <a:lnR>
                      <a:noFill/>
                    </a:lnR>
                    <a:lnT>
                      <a:noFill/>
                    </a:lnT>
                    <a:lnB>
                      <a:noFill/>
                    </a:lnB>
                    <a:noFill/>
                  </a:tcPr>
                </a:tc>
                <a:tc>
                  <a:txBody>
                    <a:bodyPr/>
                    <a:lstStyle/>
                    <a:p>
                      <a:pPr>
                        <a:buNone/>
                      </a:pPr>
                      <a:r>
                        <a:rPr lang="en-GB" sz="2400"/>
                        <a:t>Identify and name </a:t>
                      </a:r>
                      <a:r>
                        <a:rPr lang="en-GB" sz="2400" b="1"/>
                        <a:t>sections, ideas, functions</a:t>
                      </a:r>
                      <a:endParaRPr lang="en-GB" sz="2400"/>
                    </a:p>
                  </a:txBody>
                  <a:tcPr anchor="ctr">
                    <a:lnL>
                      <a:noFill/>
                    </a:lnL>
                    <a:lnR>
                      <a:noFill/>
                    </a:lnR>
                    <a:lnT>
                      <a:noFill/>
                    </a:lnT>
                    <a:lnB>
                      <a:noFill/>
                    </a:lnB>
                    <a:noFill/>
                  </a:tcPr>
                </a:tc>
                <a:extLst>
                  <a:ext uri="{0D108BD9-81ED-4DB2-BD59-A6C34878D82A}">
                    <a16:rowId xmlns:a16="http://schemas.microsoft.com/office/drawing/2014/main" val="339011288"/>
                  </a:ext>
                </a:extLst>
              </a:tr>
              <a:tr h="0">
                <a:tc>
                  <a:txBody>
                    <a:bodyPr/>
                    <a:lstStyle/>
                    <a:p>
                      <a:pPr>
                        <a:buNone/>
                      </a:pPr>
                      <a:r>
                        <a:rPr lang="en-GB" sz="2400" b="1"/>
                        <a:t>Sampling</a:t>
                      </a:r>
                      <a:endParaRPr lang="en-GB" sz="2400"/>
                    </a:p>
                  </a:txBody>
                  <a:tcPr anchor="ctr">
                    <a:lnL>
                      <a:noFill/>
                    </a:lnL>
                    <a:lnR>
                      <a:noFill/>
                    </a:lnR>
                    <a:lnT>
                      <a:noFill/>
                    </a:lnT>
                    <a:lnB>
                      <a:noFill/>
                    </a:lnB>
                    <a:noFill/>
                  </a:tcPr>
                </a:tc>
                <a:tc>
                  <a:txBody>
                    <a:bodyPr/>
                    <a:lstStyle/>
                    <a:p>
                      <a:pPr>
                        <a:buNone/>
                      </a:pPr>
                      <a:r>
                        <a:rPr lang="en-GB" sz="2400"/>
                        <a:t>“Is this text worth reading in detail?”</a:t>
                      </a:r>
                    </a:p>
                  </a:txBody>
                  <a:tcPr anchor="ctr">
                    <a:lnL>
                      <a:noFill/>
                    </a:lnL>
                    <a:lnR>
                      <a:noFill/>
                    </a:lnR>
                    <a:lnT>
                      <a:noFill/>
                    </a:lnT>
                    <a:lnB>
                      <a:noFill/>
                    </a:lnB>
                    <a:noFill/>
                  </a:tcPr>
                </a:tc>
                <a:tc>
                  <a:txBody>
                    <a:bodyPr/>
                    <a:lstStyle/>
                    <a:p>
                      <a:pPr>
                        <a:buNone/>
                      </a:pPr>
                      <a:r>
                        <a:rPr lang="en-GB" sz="2400" dirty="0"/>
                        <a:t>Examine selected parts to </a:t>
                      </a:r>
                      <a:r>
                        <a:rPr lang="en-GB" sz="2400" b="1" dirty="0"/>
                        <a:t>judge relevance/value</a:t>
                      </a:r>
                      <a:endParaRPr lang="en-GB" sz="2400" dirty="0"/>
                    </a:p>
                  </a:txBody>
                  <a:tcPr anchor="ctr">
                    <a:lnL>
                      <a:noFill/>
                    </a:lnL>
                    <a:lnR>
                      <a:noFill/>
                    </a:lnR>
                    <a:lnT>
                      <a:noFill/>
                    </a:lnT>
                    <a:lnB>
                      <a:noFill/>
                    </a:lnB>
                    <a:noFill/>
                  </a:tcPr>
                </a:tc>
                <a:extLst>
                  <a:ext uri="{0D108BD9-81ED-4DB2-BD59-A6C34878D82A}">
                    <a16:rowId xmlns:a16="http://schemas.microsoft.com/office/drawing/2014/main" val="1060077055"/>
                  </a:ext>
                </a:extLst>
              </a:tr>
            </a:tbl>
          </a:graphicData>
        </a:graphic>
      </p:graphicFrame>
    </p:spTree>
    <p:extLst>
      <p:ext uri="{BB962C8B-B14F-4D97-AF65-F5344CB8AC3E}">
        <p14:creationId xmlns:p14="http://schemas.microsoft.com/office/powerpoint/2010/main" val="2663198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90F87-8294-5706-9EB5-6CE95CFD296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4812BA-C1CB-F960-3AD8-16DE9C6F124C}"/>
              </a:ext>
            </a:extLst>
          </p:cNvPr>
          <p:cNvSpPr txBox="1"/>
          <p:nvPr/>
        </p:nvSpPr>
        <p:spPr>
          <a:xfrm>
            <a:off x="821358" y="285126"/>
            <a:ext cx="10549283" cy="6032421"/>
          </a:xfrm>
          <a:prstGeom prst="rect">
            <a:avLst/>
          </a:prstGeom>
          <a:noFill/>
        </p:spPr>
        <p:txBody>
          <a:bodyPr wrap="square">
            <a:spAutoFit/>
          </a:bodyPr>
          <a:lstStyle/>
          <a:p>
            <a:pPr>
              <a:buNone/>
            </a:pPr>
            <a:r>
              <a:rPr lang="en-GB" sz="2800" b="1" dirty="0">
                <a:solidFill>
                  <a:srgbClr val="FF0000"/>
                </a:solidFill>
              </a:rPr>
              <a:t>What is Skimming?</a:t>
            </a:r>
            <a:endParaRPr lang="en-GB" b="1" dirty="0">
              <a:solidFill>
                <a:srgbClr val="FF0000"/>
              </a:solidFill>
            </a:endParaRPr>
          </a:p>
          <a:p>
            <a:pPr>
              <a:buNone/>
            </a:pPr>
            <a:endParaRPr lang="en-GB" b="1" dirty="0"/>
          </a:p>
          <a:p>
            <a:pPr>
              <a:buNone/>
            </a:pPr>
            <a:r>
              <a:rPr lang="en-GB" sz="2000" b="1" dirty="0"/>
              <a:t>Skimming = Getting the essence without reading everything</a:t>
            </a:r>
          </a:p>
          <a:p>
            <a:pPr>
              <a:buNone/>
            </a:pPr>
            <a:endParaRPr lang="en-GB" sz="2000" dirty="0"/>
          </a:p>
          <a:p>
            <a:pPr marL="342900" lvl="0" indent="-342900">
              <a:buFont typeface="Arial" panose="020B0604020202020204" pitchFamily="34" charset="0"/>
              <a:buChar char="•"/>
            </a:pPr>
            <a:r>
              <a:rPr lang="en-GB" sz="2000" dirty="0"/>
              <a:t>Reading </a:t>
            </a:r>
            <a:r>
              <a:rPr lang="en-GB" sz="2000" b="1" dirty="0"/>
              <a:t>selectively</a:t>
            </a:r>
            <a:r>
              <a:rPr lang="en-GB" sz="2000" dirty="0"/>
              <a:t>, not word-for-word </a:t>
            </a:r>
          </a:p>
          <a:p>
            <a:pPr marL="342900" lvl="0" indent="-342900">
              <a:buFont typeface="Arial" panose="020B0604020202020204" pitchFamily="34" charset="0"/>
              <a:buChar char="•"/>
            </a:pPr>
            <a:endParaRPr lang="en-GB" sz="2000" dirty="0"/>
          </a:p>
          <a:p>
            <a:pPr marL="342900" lvl="0" indent="-342900">
              <a:buFont typeface="Arial" panose="020B0604020202020204" pitchFamily="34" charset="0"/>
              <a:buChar char="•"/>
            </a:pPr>
            <a:r>
              <a:rPr lang="en-GB" sz="2000" dirty="0"/>
              <a:t>Identify: </a:t>
            </a:r>
          </a:p>
          <a:p>
            <a:pPr marL="742950" lvl="1" indent="-285750">
              <a:buFont typeface="Arial" panose="020B0604020202020204" pitchFamily="34" charset="0"/>
              <a:buChar char="•"/>
            </a:pPr>
            <a:r>
              <a:rPr lang="en-GB" sz="2000" b="1" dirty="0"/>
              <a:t>Main ideas</a:t>
            </a:r>
            <a:r>
              <a:rPr lang="en-GB" sz="2000" dirty="0"/>
              <a:t> </a:t>
            </a:r>
          </a:p>
          <a:p>
            <a:pPr marL="742950" lvl="1" indent="-285750">
              <a:buFont typeface="Arial" panose="020B0604020202020204" pitchFamily="34" charset="0"/>
              <a:buChar char="•"/>
            </a:pPr>
            <a:r>
              <a:rPr lang="en-GB" sz="2000" b="1" dirty="0"/>
              <a:t>Significant details</a:t>
            </a:r>
            <a:r>
              <a:rPr lang="en-GB" sz="2000" dirty="0"/>
              <a:t> </a:t>
            </a:r>
          </a:p>
          <a:p>
            <a:pPr marL="742950" lvl="1" indent="-285750">
              <a:buFont typeface="Arial" panose="020B0604020202020204" pitchFamily="34" charset="0"/>
              <a:buChar char="•"/>
            </a:pPr>
            <a:r>
              <a:rPr lang="en-GB" sz="2000" b="1" dirty="0"/>
              <a:t>Overall argument / structure</a:t>
            </a:r>
          </a:p>
          <a:p>
            <a:pPr lvl="1"/>
            <a:r>
              <a:rPr lang="en-GB" sz="2000" dirty="0"/>
              <a:t> </a:t>
            </a:r>
          </a:p>
          <a:p>
            <a:pPr marL="342900" lvl="0" indent="-342900">
              <a:buFont typeface="Arial" panose="020B0604020202020204" pitchFamily="34" charset="0"/>
              <a:buChar char="•"/>
            </a:pPr>
            <a:r>
              <a:rPr lang="en-GB" sz="2000" dirty="0"/>
              <a:t>Skip information that is: </a:t>
            </a:r>
          </a:p>
          <a:p>
            <a:pPr marL="742950" lvl="1" indent="-285750">
              <a:buFont typeface="Arial" panose="020B0604020202020204" pitchFamily="34" charset="0"/>
              <a:buChar char="•"/>
            </a:pPr>
            <a:r>
              <a:rPr lang="en-GB" sz="2000" dirty="0"/>
              <a:t>repetitive </a:t>
            </a:r>
          </a:p>
          <a:p>
            <a:pPr marL="742950" lvl="1" indent="-285750">
              <a:buFont typeface="Arial" panose="020B0604020202020204" pitchFamily="34" charset="0"/>
              <a:buChar char="•"/>
            </a:pPr>
            <a:r>
              <a:rPr lang="en-GB" sz="2000" dirty="0"/>
              <a:t>merely illustrative </a:t>
            </a:r>
          </a:p>
          <a:p>
            <a:pPr marL="742950" lvl="1" indent="-285750">
              <a:buFont typeface="Arial" panose="020B0604020202020204" pitchFamily="34" charset="0"/>
              <a:buChar char="•"/>
            </a:pPr>
            <a:r>
              <a:rPr lang="en-GB" sz="2000" dirty="0"/>
              <a:t>less important to your purpose </a:t>
            </a:r>
          </a:p>
          <a:p>
            <a:pPr marL="342900" lvl="0" indent="-342900">
              <a:buFont typeface="Arial" panose="020B0604020202020204" pitchFamily="34" charset="0"/>
              <a:buChar char="•"/>
            </a:pPr>
            <a:endParaRPr lang="en-GB" sz="2000" dirty="0"/>
          </a:p>
          <a:p>
            <a:pPr marL="342900" lvl="0" indent="-342900">
              <a:buFont typeface="Arial" panose="020B0604020202020204" pitchFamily="34" charset="0"/>
              <a:buChar char="•"/>
            </a:pPr>
            <a:r>
              <a:rPr lang="en-GB" sz="2000" dirty="0"/>
              <a:t>Goal: </a:t>
            </a:r>
            <a:r>
              <a:rPr lang="en-GB" sz="2000" b="1" dirty="0"/>
              <a:t>maximum understanding with minimum reading</a:t>
            </a:r>
            <a:r>
              <a:rPr lang="en-GB" sz="2000" dirty="0"/>
              <a:t> </a:t>
            </a:r>
          </a:p>
          <a:p>
            <a:pPr marL="342900" lvl="0" indent="-342900">
              <a:buFont typeface="Arial" panose="020B0604020202020204" pitchFamily="34" charset="0"/>
              <a:buChar char="•"/>
            </a:pPr>
            <a:endParaRPr lang="en-GB" sz="2000" dirty="0"/>
          </a:p>
          <a:p>
            <a:pPr>
              <a:buNone/>
            </a:pPr>
            <a:r>
              <a:rPr lang="en-GB" sz="2000" b="1" dirty="0"/>
              <a:t>Think of skimming as removing the “padding” and finding the “skeleton” of a text.</a:t>
            </a:r>
            <a:endParaRPr lang="en-GB" sz="2000" dirty="0"/>
          </a:p>
        </p:txBody>
      </p:sp>
    </p:spTree>
    <p:extLst>
      <p:ext uri="{BB962C8B-B14F-4D97-AF65-F5344CB8AC3E}">
        <p14:creationId xmlns:p14="http://schemas.microsoft.com/office/powerpoint/2010/main" val="2663352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E9F14-2B18-8CA9-4D2F-45E258DE6D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7351C0-5A05-FDDE-BE6D-4DD62B150156}"/>
              </a:ext>
            </a:extLst>
          </p:cNvPr>
          <p:cNvSpPr txBox="1"/>
          <p:nvPr/>
        </p:nvSpPr>
        <p:spPr>
          <a:xfrm>
            <a:off x="934143" y="689956"/>
            <a:ext cx="4594654" cy="4401205"/>
          </a:xfrm>
          <a:prstGeom prst="rect">
            <a:avLst/>
          </a:prstGeom>
          <a:noFill/>
        </p:spPr>
        <p:txBody>
          <a:bodyPr wrap="square">
            <a:spAutoFit/>
          </a:bodyPr>
          <a:lstStyle/>
          <a:p>
            <a:pPr>
              <a:buNone/>
            </a:pPr>
            <a:r>
              <a:rPr lang="en-GB" sz="2000" b="1" dirty="0"/>
              <a:t>PARTIAL SKIMMING</a:t>
            </a:r>
          </a:p>
          <a:p>
            <a:pPr>
              <a:buNone/>
            </a:pPr>
            <a:endParaRPr lang="en-GB" sz="2000" b="1" dirty="0"/>
          </a:p>
          <a:p>
            <a:pPr>
              <a:buNone/>
            </a:pPr>
            <a:endParaRPr lang="en-GB" sz="2000" b="1" dirty="0"/>
          </a:p>
          <a:p>
            <a:pPr>
              <a:buNone/>
            </a:pPr>
            <a:r>
              <a:rPr lang="en-GB" sz="2000" dirty="0"/>
              <a:t>Read:</a:t>
            </a:r>
          </a:p>
          <a:p>
            <a:pPr marL="342900" lvl="0" indent="-342900">
              <a:buFont typeface="Arial" panose="020B0604020202020204" pitchFamily="34" charset="0"/>
              <a:buChar char="•"/>
            </a:pPr>
            <a:r>
              <a:rPr lang="en-GB" sz="2000" dirty="0"/>
              <a:t>Main idea </a:t>
            </a:r>
          </a:p>
          <a:p>
            <a:pPr marL="342900" lvl="0" indent="-342900">
              <a:buFont typeface="Arial" panose="020B0604020202020204" pitchFamily="34" charset="0"/>
              <a:buChar char="•"/>
            </a:pPr>
            <a:r>
              <a:rPr lang="en-GB" sz="2000" dirty="0"/>
              <a:t>Important supporting details </a:t>
            </a:r>
          </a:p>
          <a:p>
            <a:pPr marL="342900" lvl="0" indent="-342900">
              <a:buFont typeface="Arial" panose="020B0604020202020204" pitchFamily="34" charset="0"/>
              <a:buChar char="•"/>
            </a:pPr>
            <a:r>
              <a:rPr lang="en-GB" sz="2000" dirty="0"/>
              <a:t>Necessary explanations </a:t>
            </a:r>
          </a:p>
          <a:p>
            <a:pPr marL="342900" lvl="0" indent="-342900">
              <a:buFont typeface="Arial" panose="020B0604020202020204" pitchFamily="34" charset="0"/>
              <a:buChar char="•"/>
            </a:pPr>
            <a:r>
              <a:rPr lang="en-GB" sz="2000" dirty="0"/>
              <a:t>Information relevant to your purpose </a:t>
            </a:r>
          </a:p>
          <a:p>
            <a:pPr>
              <a:buNone/>
            </a:pPr>
            <a:endParaRPr lang="en-GB" sz="2000" dirty="0"/>
          </a:p>
          <a:p>
            <a:pPr>
              <a:buNone/>
            </a:pPr>
            <a:endParaRPr lang="en-GB" sz="2000" dirty="0"/>
          </a:p>
          <a:p>
            <a:pPr>
              <a:buNone/>
            </a:pPr>
            <a:r>
              <a:rPr lang="en-GB" sz="2000" dirty="0"/>
              <a:t>Skip:</a:t>
            </a:r>
          </a:p>
          <a:p>
            <a:pPr marL="342900" lvl="0" indent="-342900">
              <a:buFont typeface="Arial" panose="020B0604020202020204" pitchFamily="34" charset="0"/>
              <a:buChar char="•"/>
            </a:pPr>
            <a:r>
              <a:rPr lang="en-GB" sz="2000" dirty="0"/>
              <a:t>Repetitive examples </a:t>
            </a:r>
          </a:p>
          <a:p>
            <a:pPr marL="342900" lvl="0" indent="-342900">
              <a:buFont typeface="Arial" panose="020B0604020202020204" pitchFamily="34" charset="0"/>
              <a:buChar char="•"/>
            </a:pPr>
            <a:r>
              <a:rPr lang="en-GB" sz="2000" dirty="0"/>
              <a:t>Minor details </a:t>
            </a:r>
          </a:p>
          <a:p>
            <a:pPr marL="342900" lvl="0" indent="-342900">
              <a:buFont typeface="Arial" panose="020B0604020202020204" pitchFamily="34" charset="0"/>
              <a:buChar char="•"/>
            </a:pPr>
            <a:r>
              <a:rPr lang="en-GB" sz="2000" dirty="0"/>
              <a:t>Excessive background </a:t>
            </a:r>
          </a:p>
        </p:txBody>
      </p:sp>
      <p:sp>
        <p:nvSpPr>
          <p:cNvPr id="5" name="TextBox 4">
            <a:extLst>
              <a:ext uri="{FF2B5EF4-FFF2-40B4-BE49-F238E27FC236}">
                <a16:creationId xmlns:a16="http://schemas.microsoft.com/office/drawing/2014/main" id="{895484C5-C789-D121-BAC6-D5BBDE5BBC89}"/>
              </a:ext>
            </a:extLst>
          </p:cNvPr>
          <p:cNvSpPr txBox="1"/>
          <p:nvPr/>
        </p:nvSpPr>
        <p:spPr>
          <a:xfrm>
            <a:off x="6307131" y="689956"/>
            <a:ext cx="4594653" cy="53245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Times New Roman"/>
                <a:ea typeface="+mn-ea"/>
                <a:cs typeface="+mn-cs"/>
              </a:rPr>
              <a:t>COMPLETE SKIMMING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000" b="1" dirty="0">
              <a:solidFill>
                <a:prstClr val="black"/>
              </a:solidFill>
              <a:latin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1"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Times New Roman"/>
                <a:ea typeface="+mn-ea"/>
                <a:cs typeface="+mn-cs"/>
              </a:rPr>
              <a:t>Read mainly:</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black"/>
                </a:solidFill>
                <a:effectLst/>
                <a:uLnTx/>
                <a:uFillTx/>
                <a:latin typeface="Times New Roman"/>
                <a:ea typeface="+mn-ea"/>
                <a:cs typeface="+mn-cs"/>
              </a:rPr>
              <a:t>Opening lines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black"/>
                </a:solidFill>
                <a:effectLst/>
                <a:uLnTx/>
                <a:uFillTx/>
                <a:latin typeface="Times New Roman"/>
                <a:ea typeface="+mn-ea"/>
                <a:cs typeface="+mn-cs"/>
              </a:rPr>
              <a:t>Key sentences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black"/>
                </a:solidFill>
                <a:effectLst/>
                <a:uLnTx/>
                <a:uFillTx/>
                <a:latin typeface="Times New Roman"/>
                <a:ea typeface="+mn-ea"/>
                <a:cs typeface="+mn-cs"/>
              </a:rPr>
              <a:t>Occasionally closing sentence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Times New Roman"/>
                <a:ea typeface="+mn-ea"/>
                <a:cs typeface="+mn-cs"/>
              </a:rPr>
              <a:t>Skip:</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black"/>
                </a:solidFill>
                <a:effectLst/>
                <a:uLnTx/>
                <a:uFillTx/>
                <a:latin typeface="Times New Roman"/>
                <a:ea typeface="+mn-ea"/>
                <a:cs typeface="+mn-cs"/>
              </a:rPr>
              <a:t>Details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black"/>
                </a:solidFill>
                <a:effectLst/>
                <a:uLnTx/>
                <a:uFillTx/>
                <a:latin typeface="Times New Roman"/>
                <a:ea typeface="+mn-ea"/>
                <a:cs typeface="+mn-cs"/>
              </a:rPr>
              <a:t>Examples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black"/>
                </a:solidFill>
                <a:effectLst/>
                <a:uLnTx/>
                <a:uFillTx/>
                <a:latin typeface="Times New Roman"/>
                <a:ea typeface="+mn-ea"/>
                <a:cs typeface="+mn-cs"/>
              </a:rPr>
              <a:t>Statistics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000" b="0" i="0" u="none" strike="noStrike" kern="1200" cap="none" spc="0" normalizeH="0" baseline="0" noProof="0" dirty="0">
                <a:ln>
                  <a:noFill/>
                </a:ln>
                <a:solidFill>
                  <a:prstClr val="black"/>
                </a:solidFill>
                <a:effectLst/>
                <a:uLnTx/>
                <a:uFillTx/>
                <a:latin typeface="Times New Roman"/>
                <a:ea typeface="+mn-ea"/>
                <a:cs typeface="+mn-cs"/>
              </a:rPr>
              <a:t>Elaborations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2000" dirty="0">
              <a:solidFill>
                <a:prstClr val="black"/>
              </a:solidFill>
              <a:latin typeface="Times New Roman"/>
            </a:endParaRPr>
          </a:p>
          <a:p>
            <a:pPr marR="0" lvl="0" algn="l" defTabSz="914400" rtl="0" eaLnBrk="1" fontAlgn="auto" latinLnBrk="0" hangingPunct="1">
              <a:lnSpc>
                <a:spcPct val="100000"/>
              </a:lnSpc>
              <a:spcBef>
                <a:spcPts val="0"/>
              </a:spcBef>
              <a:spcAft>
                <a:spcPts val="0"/>
              </a:spcAft>
              <a:buClrTx/>
              <a:buSzTx/>
              <a:tabLst/>
              <a:defRPr/>
            </a:pPr>
            <a:endParaRPr kumimoji="0" lang="en-GB" sz="2000" b="0"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Times New Roman"/>
                <a:ea typeface="+mn-ea"/>
                <a:cs typeface="+mn-cs"/>
              </a:rPr>
              <a:t>Partial = understand the argument</a:t>
            </a:r>
            <a:endParaRPr kumimoji="0" lang="en-GB" sz="2000" b="0"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Times New Roman"/>
                <a:ea typeface="+mn-ea"/>
                <a:cs typeface="+mn-cs"/>
              </a:rPr>
              <a:t>Complete = understand the gist</a:t>
            </a:r>
            <a:r>
              <a:rPr kumimoji="0" lang="en-GB" sz="2000" b="0" i="0" u="none" strike="noStrike" kern="1200" cap="none" spc="0" normalizeH="0" baseline="0" noProof="0" dirty="0">
                <a:ln>
                  <a:noFill/>
                </a:ln>
                <a:solidFill>
                  <a:prstClr val="black"/>
                </a:solidFill>
                <a:effectLst/>
                <a:uLnTx/>
                <a:uFillTx/>
                <a:latin typeface="Times New Roman"/>
                <a:ea typeface="+mn-ea"/>
                <a:cs typeface="+mn-cs"/>
              </a:rPr>
              <a:t> </a:t>
            </a:r>
          </a:p>
        </p:txBody>
      </p:sp>
    </p:spTree>
    <p:extLst>
      <p:ext uri="{BB962C8B-B14F-4D97-AF65-F5344CB8AC3E}">
        <p14:creationId xmlns:p14="http://schemas.microsoft.com/office/powerpoint/2010/main" val="3359793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5486400" cy="457200"/>
          </a:xfrm>
          <a:prstGeom prst="rect">
            <a:avLst/>
          </a:prstGeom>
          <a:noFill/>
        </p:spPr>
        <p:txBody>
          <a:bodyPr wrap="none">
            <a:spAutoFit/>
          </a:bodyPr>
          <a:lstStyle/>
          <a:p>
            <a:pPr algn="l"/>
            <a:r>
              <a:rPr sz="3000" b="1">
                <a:solidFill>
                  <a:srgbClr val="192337"/>
                </a:solidFill>
                <a:latin typeface="Aptos"/>
              </a:rPr>
              <a:t>READING SMARTER</a:t>
            </a:r>
          </a:p>
        </p:txBody>
      </p:sp>
      <p:sp>
        <p:nvSpPr>
          <p:cNvPr id="3" name="TextBox 2"/>
          <p:cNvSpPr txBox="1"/>
          <p:nvPr/>
        </p:nvSpPr>
        <p:spPr>
          <a:xfrm>
            <a:off x="658368" y="960120"/>
            <a:ext cx="10515600" cy="457200"/>
          </a:xfrm>
          <a:prstGeom prst="rect">
            <a:avLst/>
          </a:prstGeom>
          <a:noFill/>
        </p:spPr>
        <p:txBody>
          <a:bodyPr wrap="none">
            <a:spAutoFit/>
          </a:bodyPr>
          <a:lstStyle/>
          <a:p>
            <a:pPr algn="l"/>
            <a:r>
              <a:rPr sz="1800" b="0">
                <a:solidFill>
                  <a:srgbClr val="69707D"/>
                </a:solidFill>
                <a:latin typeface="Aptos"/>
              </a:rPr>
              <a:t>How a good reader predicts the text before reading every word</a:t>
            </a:r>
          </a:p>
        </p:txBody>
      </p:sp>
      <p:sp>
        <p:nvSpPr>
          <p:cNvPr id="4" name="Rounded Rectangle 3"/>
          <p:cNvSpPr/>
          <p:nvPr/>
        </p:nvSpPr>
        <p:spPr>
          <a:xfrm>
            <a:off x="640080" y="1920240"/>
            <a:ext cx="2240280" cy="19659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 name="Rounded Rectangle 4"/>
          <p:cNvSpPr/>
          <p:nvPr/>
        </p:nvSpPr>
        <p:spPr>
          <a:xfrm>
            <a:off x="832312" y="2148332"/>
            <a:ext cx="960120" cy="411480"/>
          </a:xfrm>
          <a:prstGeom prst="roundRect">
            <a:avLst/>
          </a:prstGeom>
          <a:solidFill>
            <a:srgbClr val="239191"/>
          </a:solidFill>
          <a:ln>
            <a:solidFill>
              <a:srgbClr val="23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TextBox 5"/>
          <p:cNvSpPr txBox="1"/>
          <p:nvPr/>
        </p:nvSpPr>
        <p:spPr>
          <a:xfrm>
            <a:off x="880851" y="2176272"/>
            <a:ext cx="798617" cy="400110"/>
          </a:xfrm>
          <a:prstGeom prst="rect">
            <a:avLst/>
          </a:prstGeom>
          <a:noFill/>
        </p:spPr>
        <p:txBody>
          <a:bodyPr wrap="none">
            <a:spAutoFit/>
          </a:bodyPr>
          <a:lstStyle/>
          <a:p>
            <a:pPr algn="ctr"/>
            <a:r>
              <a:rPr sz="2000" b="1">
                <a:solidFill>
                  <a:srgbClr val="FFFFFF"/>
                </a:solidFill>
                <a:latin typeface="Aptos"/>
              </a:rPr>
              <a:t>TITLE</a:t>
            </a:r>
          </a:p>
        </p:txBody>
      </p:sp>
      <p:sp>
        <p:nvSpPr>
          <p:cNvPr id="7" name="TextBox 6"/>
          <p:cNvSpPr txBox="1"/>
          <p:nvPr/>
        </p:nvSpPr>
        <p:spPr>
          <a:xfrm>
            <a:off x="582004" y="2743200"/>
            <a:ext cx="2420856" cy="400110"/>
          </a:xfrm>
          <a:prstGeom prst="rect">
            <a:avLst/>
          </a:prstGeom>
          <a:noFill/>
        </p:spPr>
        <p:txBody>
          <a:bodyPr wrap="none">
            <a:spAutoFit/>
          </a:bodyPr>
          <a:lstStyle/>
          <a:p>
            <a:pPr algn="ctr"/>
            <a:r>
              <a:rPr sz="2000" b="1" dirty="0">
                <a:solidFill>
                  <a:srgbClr val="192337"/>
                </a:solidFill>
                <a:latin typeface="Aptos"/>
              </a:rPr>
              <a:t>What is this about?</a:t>
            </a:r>
          </a:p>
        </p:txBody>
      </p:sp>
      <p:sp>
        <p:nvSpPr>
          <p:cNvPr id="8" name="TextBox 7"/>
          <p:cNvSpPr txBox="1"/>
          <p:nvPr/>
        </p:nvSpPr>
        <p:spPr>
          <a:xfrm>
            <a:off x="2918532" y="2709297"/>
            <a:ext cx="338554" cy="400110"/>
          </a:xfrm>
          <a:prstGeom prst="rect">
            <a:avLst/>
          </a:prstGeom>
          <a:noFill/>
        </p:spPr>
        <p:txBody>
          <a:bodyPr wrap="none">
            <a:spAutoFit/>
          </a:bodyPr>
          <a:lstStyle/>
          <a:p>
            <a:pPr algn="ctr"/>
            <a:r>
              <a:rPr sz="2000" b="1" dirty="0">
                <a:solidFill>
                  <a:srgbClr val="69707D"/>
                </a:solidFill>
                <a:latin typeface="Aptos"/>
              </a:rPr>
              <a:t>→</a:t>
            </a:r>
          </a:p>
        </p:txBody>
      </p:sp>
      <p:sp>
        <p:nvSpPr>
          <p:cNvPr id="9" name="Rounded Rectangle 8"/>
          <p:cNvSpPr/>
          <p:nvPr/>
        </p:nvSpPr>
        <p:spPr>
          <a:xfrm>
            <a:off x="3227831" y="1920240"/>
            <a:ext cx="2487169" cy="19659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Rounded Rectangle 9"/>
          <p:cNvSpPr/>
          <p:nvPr/>
        </p:nvSpPr>
        <p:spPr>
          <a:xfrm>
            <a:off x="3680883" y="2176719"/>
            <a:ext cx="960120" cy="411480"/>
          </a:xfrm>
          <a:prstGeom prst="roundRect">
            <a:avLst/>
          </a:prstGeom>
          <a:solidFill>
            <a:srgbClr val="EBAF41"/>
          </a:solidFill>
          <a:ln>
            <a:solidFill>
              <a:srgbClr val="EBA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TextBox 10"/>
          <p:cNvSpPr txBox="1"/>
          <p:nvPr/>
        </p:nvSpPr>
        <p:spPr>
          <a:xfrm>
            <a:off x="3653552" y="2176272"/>
            <a:ext cx="922497" cy="400110"/>
          </a:xfrm>
          <a:prstGeom prst="rect">
            <a:avLst/>
          </a:prstGeom>
          <a:noFill/>
        </p:spPr>
        <p:txBody>
          <a:bodyPr wrap="none">
            <a:spAutoFit/>
          </a:bodyPr>
          <a:lstStyle/>
          <a:p>
            <a:pPr algn="ctr"/>
            <a:r>
              <a:rPr sz="2000" b="1" dirty="0">
                <a:solidFill>
                  <a:srgbClr val="FFFFFF"/>
                </a:solidFill>
                <a:latin typeface="Aptos"/>
              </a:rPr>
              <a:t>INTRO</a:t>
            </a:r>
          </a:p>
        </p:txBody>
      </p:sp>
      <p:sp>
        <p:nvSpPr>
          <p:cNvPr id="12" name="TextBox 11"/>
          <p:cNvSpPr txBox="1"/>
          <p:nvPr/>
        </p:nvSpPr>
        <p:spPr>
          <a:xfrm>
            <a:off x="3522620" y="2709297"/>
            <a:ext cx="1828800" cy="707886"/>
          </a:xfrm>
          <a:prstGeom prst="rect">
            <a:avLst/>
          </a:prstGeom>
          <a:noFill/>
        </p:spPr>
        <p:txBody>
          <a:bodyPr wrap="square">
            <a:spAutoFit/>
          </a:bodyPr>
          <a:lstStyle/>
          <a:p>
            <a:pPr algn="ctr"/>
            <a:r>
              <a:rPr sz="2000" b="1" dirty="0">
                <a:solidFill>
                  <a:srgbClr val="192337"/>
                </a:solidFill>
                <a:latin typeface="Aptos"/>
              </a:rPr>
              <a:t>What should I expect?</a:t>
            </a:r>
          </a:p>
        </p:txBody>
      </p:sp>
      <p:sp>
        <p:nvSpPr>
          <p:cNvPr id="13" name="TextBox 12"/>
          <p:cNvSpPr txBox="1"/>
          <p:nvPr/>
        </p:nvSpPr>
        <p:spPr>
          <a:xfrm>
            <a:off x="5865763" y="2606040"/>
            <a:ext cx="338554" cy="400110"/>
          </a:xfrm>
          <a:prstGeom prst="rect">
            <a:avLst/>
          </a:prstGeom>
          <a:noFill/>
        </p:spPr>
        <p:txBody>
          <a:bodyPr wrap="none">
            <a:spAutoFit/>
          </a:bodyPr>
          <a:lstStyle/>
          <a:p>
            <a:pPr algn="ctr"/>
            <a:r>
              <a:rPr sz="2000" b="1">
                <a:solidFill>
                  <a:srgbClr val="69707D"/>
                </a:solidFill>
                <a:latin typeface="Aptos"/>
              </a:rPr>
              <a:t>→</a:t>
            </a:r>
          </a:p>
        </p:txBody>
      </p:sp>
      <p:sp>
        <p:nvSpPr>
          <p:cNvPr id="14" name="Rounded Rectangle 13"/>
          <p:cNvSpPr/>
          <p:nvPr/>
        </p:nvSpPr>
        <p:spPr>
          <a:xfrm>
            <a:off x="5897880" y="1920240"/>
            <a:ext cx="3017520" cy="19659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Rounded Rectangle 14"/>
          <p:cNvSpPr/>
          <p:nvPr/>
        </p:nvSpPr>
        <p:spPr>
          <a:xfrm>
            <a:off x="6469380" y="2176719"/>
            <a:ext cx="960120" cy="411480"/>
          </a:xfrm>
          <a:prstGeom prst="roundRect">
            <a:avLst/>
          </a:prstGeom>
          <a:solidFill>
            <a:srgbClr val="239191"/>
          </a:solidFill>
          <a:ln>
            <a:solidFill>
              <a:srgbClr val="23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6520701" y="2176272"/>
            <a:ext cx="857479" cy="400110"/>
          </a:xfrm>
          <a:prstGeom prst="rect">
            <a:avLst/>
          </a:prstGeom>
          <a:noFill/>
        </p:spPr>
        <p:txBody>
          <a:bodyPr wrap="none">
            <a:spAutoFit/>
          </a:bodyPr>
          <a:lstStyle/>
          <a:p>
            <a:pPr algn="ctr"/>
            <a:r>
              <a:rPr sz="2000" b="1">
                <a:solidFill>
                  <a:srgbClr val="FFFFFF"/>
                </a:solidFill>
                <a:latin typeface="Aptos"/>
              </a:rPr>
              <a:t>BODY</a:t>
            </a:r>
          </a:p>
        </p:txBody>
      </p:sp>
      <p:sp>
        <p:nvSpPr>
          <p:cNvPr id="17" name="TextBox 16"/>
          <p:cNvSpPr txBox="1"/>
          <p:nvPr/>
        </p:nvSpPr>
        <p:spPr>
          <a:xfrm>
            <a:off x="5720666" y="2743200"/>
            <a:ext cx="3371949" cy="400110"/>
          </a:xfrm>
          <a:prstGeom prst="rect">
            <a:avLst/>
          </a:prstGeom>
          <a:noFill/>
        </p:spPr>
        <p:txBody>
          <a:bodyPr wrap="none">
            <a:spAutoFit/>
          </a:bodyPr>
          <a:lstStyle/>
          <a:p>
            <a:pPr algn="ctr"/>
            <a:r>
              <a:rPr sz="2000" b="1" dirty="0">
                <a:solidFill>
                  <a:srgbClr val="192337"/>
                </a:solidFill>
                <a:latin typeface="Aptos"/>
              </a:rPr>
              <a:t>How is the idea developed?</a:t>
            </a:r>
          </a:p>
        </p:txBody>
      </p:sp>
      <p:sp>
        <p:nvSpPr>
          <p:cNvPr id="18" name="TextBox 17"/>
          <p:cNvSpPr txBox="1"/>
          <p:nvPr/>
        </p:nvSpPr>
        <p:spPr>
          <a:xfrm>
            <a:off x="5539482" y="2703165"/>
            <a:ext cx="338554" cy="400110"/>
          </a:xfrm>
          <a:prstGeom prst="rect">
            <a:avLst/>
          </a:prstGeom>
          <a:noFill/>
        </p:spPr>
        <p:txBody>
          <a:bodyPr wrap="none">
            <a:spAutoFit/>
          </a:bodyPr>
          <a:lstStyle/>
          <a:p>
            <a:pPr algn="ctr"/>
            <a:r>
              <a:rPr sz="2000" b="1" dirty="0">
                <a:solidFill>
                  <a:srgbClr val="69707D"/>
                </a:solidFill>
                <a:latin typeface="Aptos"/>
              </a:rPr>
              <a:t>→</a:t>
            </a:r>
          </a:p>
        </p:txBody>
      </p:sp>
      <p:sp>
        <p:nvSpPr>
          <p:cNvPr id="19" name="Rounded Rectangle 18"/>
          <p:cNvSpPr/>
          <p:nvPr/>
        </p:nvSpPr>
        <p:spPr>
          <a:xfrm>
            <a:off x="9006840" y="1920240"/>
            <a:ext cx="2656840" cy="19659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167889" y="2148332"/>
            <a:ext cx="2006079" cy="411480"/>
          </a:xfrm>
          <a:prstGeom prst="roundRect">
            <a:avLst/>
          </a:prstGeom>
          <a:solidFill>
            <a:srgbClr val="EBAF41"/>
          </a:solidFill>
          <a:ln>
            <a:solidFill>
              <a:srgbClr val="EBA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TextBox 20"/>
          <p:cNvSpPr txBox="1"/>
          <p:nvPr/>
        </p:nvSpPr>
        <p:spPr>
          <a:xfrm>
            <a:off x="9208534" y="2188089"/>
            <a:ext cx="1829219" cy="400110"/>
          </a:xfrm>
          <a:prstGeom prst="rect">
            <a:avLst/>
          </a:prstGeom>
          <a:noFill/>
        </p:spPr>
        <p:txBody>
          <a:bodyPr wrap="none">
            <a:spAutoFit/>
          </a:bodyPr>
          <a:lstStyle/>
          <a:p>
            <a:pPr algn="ctr"/>
            <a:r>
              <a:rPr sz="2000" b="1" dirty="0">
                <a:solidFill>
                  <a:srgbClr val="FFFFFF"/>
                </a:solidFill>
                <a:latin typeface="Aptos"/>
              </a:rPr>
              <a:t>CONCLUSION</a:t>
            </a:r>
          </a:p>
        </p:txBody>
      </p:sp>
      <p:sp>
        <p:nvSpPr>
          <p:cNvPr id="22" name="TextBox 21"/>
          <p:cNvSpPr txBox="1"/>
          <p:nvPr/>
        </p:nvSpPr>
        <p:spPr>
          <a:xfrm>
            <a:off x="8941886" y="2743200"/>
            <a:ext cx="2598789" cy="400110"/>
          </a:xfrm>
          <a:prstGeom prst="rect">
            <a:avLst/>
          </a:prstGeom>
          <a:noFill/>
        </p:spPr>
        <p:txBody>
          <a:bodyPr wrap="none">
            <a:spAutoFit/>
          </a:bodyPr>
          <a:lstStyle/>
          <a:p>
            <a:pPr algn="ctr"/>
            <a:r>
              <a:rPr sz="2000" b="1">
                <a:solidFill>
                  <a:srgbClr val="192337"/>
                </a:solidFill>
                <a:latin typeface="Aptos"/>
              </a:rPr>
              <a:t>So what is the point?</a:t>
            </a:r>
          </a:p>
        </p:txBody>
      </p:sp>
      <p:sp>
        <p:nvSpPr>
          <p:cNvPr id="23" name="Rounded Rectangle 22"/>
          <p:cNvSpPr/>
          <p:nvPr/>
        </p:nvSpPr>
        <p:spPr>
          <a:xfrm>
            <a:off x="1828800" y="4709160"/>
            <a:ext cx="8503920" cy="1051560"/>
          </a:xfrm>
          <a:prstGeom prst="roundRect">
            <a:avLst/>
          </a:prstGeom>
          <a:solidFill>
            <a:srgbClr val="192337"/>
          </a:solidFill>
          <a:ln>
            <a:solidFill>
              <a:srgbClr val="192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3108504" y="4965192"/>
            <a:ext cx="5944512" cy="400110"/>
          </a:xfrm>
          <a:prstGeom prst="rect">
            <a:avLst/>
          </a:prstGeom>
          <a:noFill/>
        </p:spPr>
        <p:txBody>
          <a:bodyPr wrap="none">
            <a:spAutoFit/>
          </a:bodyPr>
          <a:lstStyle/>
          <a:p>
            <a:pPr algn="ctr"/>
            <a:r>
              <a:rPr sz="2000" b="1">
                <a:solidFill>
                  <a:srgbClr val="FFFFFF"/>
                </a:solidFill>
                <a:latin typeface="Aptos"/>
              </a:rPr>
              <a:t>Prediction = faster reading + better understanding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8229600" cy="457200"/>
          </a:xfrm>
          <a:prstGeom prst="rect">
            <a:avLst/>
          </a:prstGeom>
          <a:noFill/>
        </p:spPr>
        <p:txBody>
          <a:bodyPr wrap="none">
            <a:spAutoFit/>
          </a:bodyPr>
          <a:lstStyle/>
          <a:p>
            <a:pPr algn="l"/>
            <a:r>
              <a:rPr sz="2900" b="1">
                <a:solidFill>
                  <a:srgbClr val="192337"/>
                </a:solidFill>
                <a:latin typeface="Aptos"/>
              </a:rPr>
              <a:t>THE PARAGRAPH = A MINI-ARGUMENT</a:t>
            </a:r>
          </a:p>
        </p:txBody>
      </p:sp>
      <p:sp>
        <p:nvSpPr>
          <p:cNvPr id="3" name="TextBox 2"/>
          <p:cNvSpPr txBox="1"/>
          <p:nvPr/>
        </p:nvSpPr>
        <p:spPr>
          <a:xfrm>
            <a:off x="658368" y="932688"/>
            <a:ext cx="9601200" cy="411480"/>
          </a:xfrm>
          <a:prstGeom prst="rect">
            <a:avLst/>
          </a:prstGeom>
          <a:noFill/>
        </p:spPr>
        <p:txBody>
          <a:bodyPr wrap="none">
            <a:spAutoFit/>
          </a:bodyPr>
          <a:lstStyle/>
          <a:p>
            <a:pPr algn="l"/>
            <a:r>
              <a:rPr sz="1700" b="0">
                <a:solidFill>
                  <a:srgbClr val="69707D"/>
                </a:solidFill>
                <a:latin typeface="Aptos"/>
              </a:rPr>
              <a:t>Find the sentence that tells you what the paragraph is really doing.</a:t>
            </a:r>
          </a:p>
        </p:txBody>
      </p:sp>
      <p:sp>
        <p:nvSpPr>
          <p:cNvPr id="4" name="Rounded Rectangle 3"/>
          <p:cNvSpPr/>
          <p:nvPr/>
        </p:nvSpPr>
        <p:spPr>
          <a:xfrm>
            <a:off x="731520" y="1828800"/>
            <a:ext cx="3246120" cy="2971800"/>
          </a:xfrm>
          <a:prstGeom prst="round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4400" y="2057400"/>
            <a:ext cx="548640" cy="548640"/>
          </a:xfrm>
          <a:prstGeom prst="roundRect">
            <a:avLst/>
          </a:prstGeom>
          <a:solidFill>
            <a:srgbClr val="239191"/>
          </a:solidFill>
          <a:ln>
            <a:solidFill>
              <a:srgbClr val="23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148840"/>
            <a:ext cx="548640" cy="228600"/>
          </a:xfrm>
          <a:prstGeom prst="rect">
            <a:avLst/>
          </a:prstGeom>
          <a:noFill/>
        </p:spPr>
        <p:txBody>
          <a:bodyPr wrap="none">
            <a:spAutoFit/>
          </a:bodyPr>
          <a:lstStyle/>
          <a:p>
            <a:pPr algn="ctr"/>
            <a:r>
              <a:rPr sz="1500" b="1">
                <a:solidFill>
                  <a:srgbClr val="FFFFFF"/>
                </a:solidFill>
                <a:latin typeface="Aptos"/>
              </a:rPr>
              <a:t>1</a:t>
            </a:r>
          </a:p>
        </p:txBody>
      </p:sp>
      <p:sp>
        <p:nvSpPr>
          <p:cNvPr id="7" name="TextBox 6"/>
          <p:cNvSpPr txBox="1"/>
          <p:nvPr/>
        </p:nvSpPr>
        <p:spPr>
          <a:xfrm>
            <a:off x="960120" y="2788920"/>
            <a:ext cx="2743200" cy="365760"/>
          </a:xfrm>
          <a:prstGeom prst="rect">
            <a:avLst/>
          </a:prstGeom>
          <a:noFill/>
        </p:spPr>
        <p:txBody>
          <a:bodyPr wrap="none">
            <a:spAutoFit/>
          </a:bodyPr>
          <a:lstStyle/>
          <a:p>
            <a:pPr algn="ctr"/>
            <a:r>
              <a:rPr sz="1900" b="1">
                <a:solidFill>
                  <a:srgbClr val="192337"/>
                </a:solidFill>
                <a:latin typeface="Aptos"/>
              </a:rPr>
              <a:t>TOPIC SENTENCE</a:t>
            </a:r>
          </a:p>
        </p:txBody>
      </p:sp>
      <p:sp>
        <p:nvSpPr>
          <p:cNvPr id="8" name="TextBox 7"/>
          <p:cNvSpPr txBox="1"/>
          <p:nvPr/>
        </p:nvSpPr>
        <p:spPr>
          <a:xfrm>
            <a:off x="604742" y="3383280"/>
            <a:ext cx="3499677" cy="646331"/>
          </a:xfrm>
          <a:prstGeom prst="rect">
            <a:avLst/>
          </a:prstGeom>
          <a:noFill/>
        </p:spPr>
        <p:txBody>
          <a:bodyPr wrap="none">
            <a:spAutoFit/>
          </a:bodyPr>
          <a:lstStyle/>
          <a:p>
            <a:pPr algn="ctr"/>
            <a:r>
              <a:rPr b="0" dirty="0">
                <a:solidFill>
                  <a:srgbClr val="2D323C"/>
                </a:solidFill>
                <a:latin typeface="Aptos"/>
              </a:rPr>
              <a:t>The heart of the paragraph</a:t>
            </a:r>
            <a:br>
              <a:rPr dirty="0"/>
            </a:br>
            <a:r>
              <a:rPr dirty="0"/>
              <a:t>What new idea is being introduced?</a:t>
            </a:r>
          </a:p>
        </p:txBody>
      </p:sp>
      <p:sp>
        <p:nvSpPr>
          <p:cNvPr id="9" name="Rounded Rectangle 8"/>
          <p:cNvSpPr/>
          <p:nvPr/>
        </p:nvSpPr>
        <p:spPr>
          <a:xfrm>
            <a:off x="4526280" y="1828800"/>
            <a:ext cx="3246120" cy="2971800"/>
          </a:xfrm>
          <a:prstGeom prst="round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709160" y="2057400"/>
            <a:ext cx="548640" cy="548640"/>
          </a:xfrm>
          <a:prstGeom prst="roundRect">
            <a:avLst/>
          </a:prstGeom>
          <a:solidFill>
            <a:srgbClr val="EBAF41"/>
          </a:solidFill>
          <a:ln>
            <a:solidFill>
              <a:srgbClr val="EBAF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60" y="2148840"/>
            <a:ext cx="548640" cy="228600"/>
          </a:xfrm>
          <a:prstGeom prst="rect">
            <a:avLst/>
          </a:prstGeom>
          <a:noFill/>
        </p:spPr>
        <p:txBody>
          <a:bodyPr wrap="none">
            <a:spAutoFit/>
          </a:bodyPr>
          <a:lstStyle/>
          <a:p>
            <a:pPr algn="ctr"/>
            <a:r>
              <a:rPr sz="1500" b="1">
                <a:solidFill>
                  <a:srgbClr val="FFFFFF"/>
                </a:solidFill>
                <a:latin typeface="Aptos"/>
              </a:rPr>
              <a:t>2</a:t>
            </a:r>
          </a:p>
        </p:txBody>
      </p:sp>
      <p:sp>
        <p:nvSpPr>
          <p:cNvPr id="12" name="TextBox 11"/>
          <p:cNvSpPr txBox="1"/>
          <p:nvPr/>
        </p:nvSpPr>
        <p:spPr>
          <a:xfrm>
            <a:off x="4754880" y="2788920"/>
            <a:ext cx="2743200" cy="365760"/>
          </a:xfrm>
          <a:prstGeom prst="rect">
            <a:avLst/>
          </a:prstGeom>
          <a:noFill/>
        </p:spPr>
        <p:txBody>
          <a:bodyPr wrap="none">
            <a:spAutoFit/>
          </a:bodyPr>
          <a:lstStyle/>
          <a:p>
            <a:pPr algn="ctr"/>
            <a:r>
              <a:rPr sz="1900" b="1">
                <a:solidFill>
                  <a:srgbClr val="192337"/>
                </a:solidFill>
                <a:latin typeface="Aptos"/>
              </a:rPr>
              <a:t>SUPPORT</a:t>
            </a:r>
          </a:p>
        </p:txBody>
      </p:sp>
      <p:sp>
        <p:nvSpPr>
          <p:cNvPr id="13" name="TextBox 12"/>
          <p:cNvSpPr txBox="1"/>
          <p:nvPr/>
        </p:nvSpPr>
        <p:spPr>
          <a:xfrm>
            <a:off x="4463623" y="3383280"/>
            <a:ext cx="3371436" cy="646331"/>
          </a:xfrm>
          <a:prstGeom prst="rect">
            <a:avLst/>
          </a:prstGeom>
          <a:noFill/>
        </p:spPr>
        <p:txBody>
          <a:bodyPr wrap="none">
            <a:spAutoFit/>
          </a:bodyPr>
          <a:lstStyle/>
          <a:p>
            <a:pPr algn="ctr"/>
            <a:r>
              <a:rPr b="0" dirty="0">
                <a:solidFill>
                  <a:srgbClr val="2D323C"/>
                </a:solidFill>
              </a:rPr>
              <a:t>Arguments • explanations • details</a:t>
            </a:r>
            <a:br>
              <a:rPr dirty="0"/>
            </a:br>
            <a:r>
              <a:rPr dirty="0"/>
              <a:t>examples • evidence</a:t>
            </a:r>
          </a:p>
        </p:txBody>
      </p:sp>
      <p:sp>
        <p:nvSpPr>
          <p:cNvPr id="14" name="Rounded Rectangle 13"/>
          <p:cNvSpPr/>
          <p:nvPr/>
        </p:nvSpPr>
        <p:spPr>
          <a:xfrm>
            <a:off x="8321040" y="1828800"/>
            <a:ext cx="3246120" cy="2971800"/>
          </a:xfrm>
          <a:prstGeom prst="roundRect">
            <a:avLst/>
          </a:prstGeom>
          <a:solidFill>
            <a:srgbClr val="F5F7FA"/>
          </a:solidFill>
          <a:ln>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503920" y="2057400"/>
            <a:ext cx="548640" cy="548640"/>
          </a:xfrm>
          <a:prstGeom prst="roundRect">
            <a:avLst/>
          </a:prstGeom>
          <a:solidFill>
            <a:srgbClr val="239191"/>
          </a:solidFill>
          <a:ln>
            <a:solidFill>
              <a:srgbClr val="2391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03920" y="2148840"/>
            <a:ext cx="548640" cy="228600"/>
          </a:xfrm>
          <a:prstGeom prst="rect">
            <a:avLst/>
          </a:prstGeom>
          <a:noFill/>
        </p:spPr>
        <p:txBody>
          <a:bodyPr wrap="none">
            <a:spAutoFit/>
          </a:bodyPr>
          <a:lstStyle/>
          <a:p>
            <a:pPr algn="ctr"/>
            <a:r>
              <a:rPr sz="1500" b="1">
                <a:solidFill>
                  <a:srgbClr val="FFFFFF"/>
                </a:solidFill>
                <a:latin typeface="Aptos"/>
              </a:rPr>
              <a:t>3</a:t>
            </a:r>
          </a:p>
        </p:txBody>
      </p:sp>
      <p:sp>
        <p:nvSpPr>
          <p:cNvPr id="17" name="TextBox 16"/>
          <p:cNvSpPr txBox="1"/>
          <p:nvPr/>
        </p:nvSpPr>
        <p:spPr>
          <a:xfrm>
            <a:off x="8549640" y="2788920"/>
            <a:ext cx="2743200" cy="365760"/>
          </a:xfrm>
          <a:prstGeom prst="rect">
            <a:avLst/>
          </a:prstGeom>
          <a:noFill/>
        </p:spPr>
        <p:txBody>
          <a:bodyPr wrap="none">
            <a:spAutoFit/>
          </a:bodyPr>
          <a:lstStyle/>
          <a:p>
            <a:pPr algn="ctr"/>
            <a:r>
              <a:rPr sz="1900" b="1">
                <a:solidFill>
                  <a:srgbClr val="192337"/>
                </a:solidFill>
                <a:latin typeface="Aptos"/>
              </a:rPr>
              <a:t>LINK / SUMMARY</a:t>
            </a:r>
          </a:p>
        </p:txBody>
      </p:sp>
      <p:sp>
        <p:nvSpPr>
          <p:cNvPr id="18" name="TextBox 17"/>
          <p:cNvSpPr txBox="1"/>
          <p:nvPr/>
        </p:nvSpPr>
        <p:spPr>
          <a:xfrm>
            <a:off x="8399446" y="3383280"/>
            <a:ext cx="3089307" cy="677108"/>
          </a:xfrm>
          <a:prstGeom prst="rect">
            <a:avLst/>
          </a:prstGeom>
          <a:noFill/>
        </p:spPr>
        <p:txBody>
          <a:bodyPr wrap="none">
            <a:spAutoFit/>
          </a:bodyPr>
          <a:lstStyle/>
          <a:p>
            <a:pPr algn="ctr"/>
            <a:r>
              <a:rPr sz="2000" b="0" dirty="0">
                <a:solidFill>
                  <a:srgbClr val="2D323C"/>
                </a:solidFill>
              </a:rPr>
              <a:t>Wraps up the idea</a:t>
            </a:r>
            <a:br>
              <a:rPr dirty="0"/>
            </a:br>
            <a:r>
              <a:rPr dirty="0"/>
              <a:t>or connects to what comes next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5178597" cy="584775"/>
          </a:xfrm>
          <a:prstGeom prst="rect">
            <a:avLst/>
          </a:prstGeom>
          <a:noFill/>
        </p:spPr>
        <p:txBody>
          <a:bodyPr wrap="none">
            <a:spAutoFit/>
          </a:bodyPr>
          <a:lstStyle/>
          <a:p>
            <a:pPr algn="l"/>
            <a:r>
              <a:rPr sz="3200" b="1">
                <a:solidFill>
                  <a:srgbClr val="192337"/>
                </a:solidFill>
                <a:latin typeface="Aptos"/>
              </a:rPr>
              <a:t>READ BETWEEN THE LINES</a:t>
            </a:r>
          </a:p>
        </p:txBody>
      </p:sp>
      <p:sp>
        <p:nvSpPr>
          <p:cNvPr id="4" name="Rounded Rectangle 3"/>
          <p:cNvSpPr/>
          <p:nvPr/>
        </p:nvSpPr>
        <p:spPr>
          <a:xfrm>
            <a:off x="640080" y="1691640"/>
            <a:ext cx="3383280" cy="42976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 name="TextBox 4"/>
          <p:cNvSpPr txBox="1"/>
          <p:nvPr/>
        </p:nvSpPr>
        <p:spPr>
          <a:xfrm>
            <a:off x="914400" y="1920240"/>
            <a:ext cx="2288896" cy="400110"/>
          </a:xfrm>
          <a:prstGeom prst="rect">
            <a:avLst/>
          </a:prstGeom>
          <a:noFill/>
        </p:spPr>
        <p:txBody>
          <a:bodyPr wrap="none">
            <a:spAutoFit/>
          </a:bodyPr>
          <a:lstStyle/>
          <a:p>
            <a:pPr algn="l"/>
            <a:r>
              <a:rPr sz="2000" b="1">
                <a:solidFill>
                  <a:srgbClr val="239191"/>
                </a:solidFill>
                <a:latin typeface="Aptos"/>
              </a:rPr>
              <a:t>01  PUNCTUATION</a:t>
            </a:r>
          </a:p>
        </p:txBody>
      </p:sp>
      <p:sp>
        <p:nvSpPr>
          <p:cNvPr id="6" name="TextBox 5"/>
          <p:cNvSpPr txBox="1"/>
          <p:nvPr/>
        </p:nvSpPr>
        <p:spPr>
          <a:xfrm>
            <a:off x="1311213" y="2606040"/>
            <a:ext cx="1949573" cy="707886"/>
          </a:xfrm>
          <a:prstGeom prst="rect">
            <a:avLst/>
          </a:prstGeom>
          <a:noFill/>
        </p:spPr>
        <p:txBody>
          <a:bodyPr wrap="none">
            <a:spAutoFit/>
          </a:bodyPr>
          <a:lstStyle/>
          <a:p>
            <a:pPr algn="ctr"/>
            <a:r>
              <a:rPr sz="2000" b="1" dirty="0">
                <a:solidFill>
                  <a:srgbClr val="192337"/>
                </a:solidFill>
              </a:rPr>
              <a:t>Punctuation is a</a:t>
            </a:r>
            <a:br>
              <a:rPr sz="2000" dirty="0"/>
            </a:br>
            <a:r>
              <a:rPr sz="2000" dirty="0"/>
              <a:t>reading signal.</a:t>
            </a:r>
          </a:p>
        </p:txBody>
      </p:sp>
      <p:sp>
        <p:nvSpPr>
          <p:cNvPr id="7" name="TextBox 6"/>
          <p:cNvSpPr txBox="1"/>
          <p:nvPr/>
        </p:nvSpPr>
        <p:spPr>
          <a:xfrm>
            <a:off x="640080" y="3799839"/>
            <a:ext cx="3291840" cy="1600438"/>
          </a:xfrm>
          <a:prstGeom prst="rect">
            <a:avLst/>
          </a:prstGeom>
          <a:noFill/>
        </p:spPr>
        <p:txBody>
          <a:bodyPr wrap="square">
            <a:spAutoFit/>
          </a:bodyPr>
          <a:lstStyle/>
          <a:p>
            <a:pPr algn="ctr"/>
            <a:r>
              <a:rPr b="0" dirty="0">
                <a:solidFill>
                  <a:srgbClr val="2D323C"/>
                </a:solidFill>
                <a:latin typeface="+mj-lt"/>
              </a:rPr>
              <a:t>Brackets → an addition</a:t>
            </a:r>
            <a:br>
              <a:rPr sz="2000" dirty="0"/>
            </a:br>
            <a:r>
              <a:rPr sz="2000" dirty="0"/>
              <a:t>Commas → separate ideas/clauses</a:t>
            </a:r>
            <a:br>
              <a:rPr sz="2000" dirty="0"/>
            </a:br>
            <a:r>
              <a:rPr sz="2000" dirty="0"/>
              <a:t>Punctuation → shows how to interpret structure</a:t>
            </a:r>
          </a:p>
        </p:txBody>
      </p:sp>
      <p:sp>
        <p:nvSpPr>
          <p:cNvPr id="8" name="Rounded Rectangle 7"/>
          <p:cNvSpPr/>
          <p:nvPr/>
        </p:nvSpPr>
        <p:spPr>
          <a:xfrm>
            <a:off x="4389120" y="1691640"/>
            <a:ext cx="3383280" cy="42976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4617720" y="1965960"/>
            <a:ext cx="3183885" cy="400110"/>
          </a:xfrm>
          <a:prstGeom prst="rect">
            <a:avLst/>
          </a:prstGeom>
          <a:noFill/>
        </p:spPr>
        <p:txBody>
          <a:bodyPr wrap="none">
            <a:spAutoFit/>
          </a:bodyPr>
          <a:lstStyle/>
          <a:p>
            <a:pPr algn="l"/>
            <a:r>
              <a:rPr sz="2000" b="1" dirty="0">
                <a:solidFill>
                  <a:srgbClr val="EBAF41"/>
                </a:solidFill>
                <a:latin typeface="Aptos"/>
              </a:rPr>
              <a:t>02  AUTHOR'S VIEWPOINT</a:t>
            </a:r>
          </a:p>
        </p:txBody>
      </p:sp>
      <p:sp>
        <p:nvSpPr>
          <p:cNvPr id="10" name="TextBox 9"/>
          <p:cNvSpPr txBox="1"/>
          <p:nvPr/>
        </p:nvSpPr>
        <p:spPr>
          <a:xfrm>
            <a:off x="5280666" y="2606040"/>
            <a:ext cx="1508746" cy="707886"/>
          </a:xfrm>
          <a:prstGeom prst="rect">
            <a:avLst/>
          </a:prstGeom>
          <a:noFill/>
        </p:spPr>
        <p:txBody>
          <a:bodyPr wrap="none">
            <a:spAutoFit/>
          </a:bodyPr>
          <a:lstStyle/>
          <a:p>
            <a:pPr algn="ctr"/>
            <a:r>
              <a:rPr sz="2000" b="1" dirty="0">
                <a:solidFill>
                  <a:srgbClr val="192337"/>
                </a:solidFill>
              </a:rPr>
              <a:t>Watch</a:t>
            </a:r>
            <a:r>
              <a:rPr sz="2000" dirty="0">
                <a:solidFill>
                  <a:srgbClr val="192337"/>
                </a:solidFill>
              </a:rPr>
              <a:t> the</a:t>
            </a:r>
            <a:br>
              <a:rPr sz="2000" dirty="0"/>
            </a:br>
            <a:r>
              <a:rPr sz="2000" dirty="0"/>
              <a:t>word choice.</a:t>
            </a:r>
          </a:p>
        </p:txBody>
      </p:sp>
      <p:sp>
        <p:nvSpPr>
          <p:cNvPr id="11" name="TextBox 10"/>
          <p:cNvSpPr txBox="1"/>
          <p:nvPr/>
        </p:nvSpPr>
        <p:spPr>
          <a:xfrm>
            <a:off x="4369394" y="3657600"/>
            <a:ext cx="3422733" cy="984885"/>
          </a:xfrm>
          <a:prstGeom prst="rect">
            <a:avLst/>
          </a:prstGeom>
          <a:noFill/>
        </p:spPr>
        <p:txBody>
          <a:bodyPr wrap="none">
            <a:spAutoFit/>
          </a:bodyPr>
          <a:lstStyle/>
          <a:p>
            <a:pPr algn="ctr"/>
            <a:r>
              <a:rPr b="0" dirty="0">
                <a:solidFill>
                  <a:srgbClr val="2D323C"/>
                </a:solidFill>
                <a:latin typeface="Aptos"/>
              </a:rPr>
              <a:t>Luckily / unfortunately</a:t>
            </a:r>
            <a:br>
              <a:rPr sz="2000" dirty="0"/>
            </a:br>
            <a:r>
              <a:rPr sz="2000" dirty="0"/>
              <a:t>Probably / undoubtedly</a:t>
            </a:r>
            <a:br>
              <a:rPr sz="2000" dirty="0"/>
            </a:br>
            <a:r>
              <a:rPr sz="2000" dirty="0"/>
              <a:t>Huge / tiny / fantastic / terrified</a:t>
            </a:r>
          </a:p>
        </p:txBody>
      </p:sp>
      <p:sp>
        <p:nvSpPr>
          <p:cNvPr id="12" name="TextBox 11"/>
          <p:cNvSpPr txBox="1"/>
          <p:nvPr/>
        </p:nvSpPr>
        <p:spPr>
          <a:xfrm>
            <a:off x="4389120" y="5065775"/>
            <a:ext cx="3337560" cy="584775"/>
          </a:xfrm>
          <a:prstGeom prst="rect">
            <a:avLst/>
          </a:prstGeom>
          <a:noFill/>
        </p:spPr>
        <p:txBody>
          <a:bodyPr wrap="square">
            <a:spAutoFit/>
          </a:bodyPr>
          <a:lstStyle/>
          <a:p>
            <a:pPr algn="ctr"/>
            <a:r>
              <a:rPr sz="1600" b="1" dirty="0">
                <a:solidFill>
                  <a:srgbClr val="69707D"/>
                </a:solidFill>
                <a:latin typeface="Aptos"/>
              </a:rPr>
              <a:t>These words reveal attitude, emotion or certainty.</a:t>
            </a:r>
          </a:p>
        </p:txBody>
      </p:sp>
      <p:sp>
        <p:nvSpPr>
          <p:cNvPr id="13" name="Rounded Rectangle 12"/>
          <p:cNvSpPr/>
          <p:nvPr/>
        </p:nvSpPr>
        <p:spPr>
          <a:xfrm>
            <a:off x="8138160" y="1691640"/>
            <a:ext cx="3383280" cy="42976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8412480" y="1965960"/>
            <a:ext cx="2721066" cy="400110"/>
          </a:xfrm>
          <a:prstGeom prst="rect">
            <a:avLst/>
          </a:prstGeom>
          <a:noFill/>
        </p:spPr>
        <p:txBody>
          <a:bodyPr wrap="none">
            <a:spAutoFit/>
          </a:bodyPr>
          <a:lstStyle/>
          <a:p>
            <a:pPr algn="l"/>
            <a:r>
              <a:rPr sz="2000" b="1">
                <a:solidFill>
                  <a:srgbClr val="239191"/>
                </a:solidFill>
                <a:latin typeface="Aptos"/>
              </a:rPr>
              <a:t>03  GUESS THE WORD</a:t>
            </a:r>
          </a:p>
        </p:txBody>
      </p:sp>
      <p:sp>
        <p:nvSpPr>
          <p:cNvPr id="15" name="Rounded Rectangle 14"/>
          <p:cNvSpPr/>
          <p:nvPr/>
        </p:nvSpPr>
        <p:spPr>
          <a:xfrm>
            <a:off x="8549640" y="2651760"/>
            <a:ext cx="411480" cy="365760"/>
          </a:xfrm>
          <a:prstGeom prst="roundRect">
            <a:avLst/>
          </a:prstGeom>
          <a:solidFill>
            <a:srgbClr val="192337"/>
          </a:solidFill>
          <a:ln>
            <a:solidFill>
              <a:srgbClr val="192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8622170" y="2724912"/>
            <a:ext cx="266420" cy="276999"/>
          </a:xfrm>
          <a:prstGeom prst="rect">
            <a:avLst/>
          </a:prstGeom>
          <a:noFill/>
        </p:spPr>
        <p:txBody>
          <a:bodyPr wrap="none">
            <a:spAutoFit/>
          </a:bodyPr>
          <a:lstStyle/>
          <a:p>
            <a:pPr algn="ctr"/>
            <a:r>
              <a:rPr sz="1200" b="1">
                <a:solidFill>
                  <a:srgbClr val="FFFFFF"/>
                </a:solidFill>
                <a:latin typeface="Aptos"/>
              </a:rPr>
              <a:t>1</a:t>
            </a:r>
          </a:p>
        </p:txBody>
      </p:sp>
      <p:sp>
        <p:nvSpPr>
          <p:cNvPr id="17" name="TextBox 16"/>
          <p:cNvSpPr txBox="1"/>
          <p:nvPr/>
        </p:nvSpPr>
        <p:spPr>
          <a:xfrm>
            <a:off x="9098280" y="2670048"/>
            <a:ext cx="1218603" cy="338554"/>
          </a:xfrm>
          <a:prstGeom prst="rect">
            <a:avLst/>
          </a:prstGeom>
          <a:noFill/>
        </p:spPr>
        <p:txBody>
          <a:bodyPr wrap="none">
            <a:spAutoFit/>
          </a:bodyPr>
          <a:lstStyle/>
          <a:p>
            <a:pPr algn="l"/>
            <a:r>
              <a:rPr sz="1600" b="1">
                <a:solidFill>
                  <a:srgbClr val="2D323C"/>
                </a:solidFill>
                <a:latin typeface="Aptos"/>
              </a:rPr>
              <a:t>Word class</a:t>
            </a:r>
          </a:p>
        </p:txBody>
      </p:sp>
      <p:sp>
        <p:nvSpPr>
          <p:cNvPr id="18" name="Rounded Rectangle 17"/>
          <p:cNvSpPr/>
          <p:nvPr/>
        </p:nvSpPr>
        <p:spPr>
          <a:xfrm>
            <a:off x="8549640" y="3182112"/>
            <a:ext cx="411480" cy="365760"/>
          </a:xfrm>
          <a:prstGeom prst="roundRect">
            <a:avLst/>
          </a:prstGeom>
          <a:solidFill>
            <a:srgbClr val="192337"/>
          </a:solidFill>
          <a:ln>
            <a:solidFill>
              <a:srgbClr val="192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p:cNvSpPr txBox="1"/>
          <p:nvPr/>
        </p:nvSpPr>
        <p:spPr>
          <a:xfrm>
            <a:off x="8622170" y="3255264"/>
            <a:ext cx="266420" cy="276999"/>
          </a:xfrm>
          <a:prstGeom prst="rect">
            <a:avLst/>
          </a:prstGeom>
          <a:noFill/>
        </p:spPr>
        <p:txBody>
          <a:bodyPr wrap="none">
            <a:spAutoFit/>
          </a:bodyPr>
          <a:lstStyle/>
          <a:p>
            <a:pPr algn="ctr"/>
            <a:r>
              <a:rPr sz="1200" b="1">
                <a:solidFill>
                  <a:srgbClr val="FFFFFF"/>
                </a:solidFill>
                <a:latin typeface="Aptos"/>
              </a:rPr>
              <a:t>2</a:t>
            </a:r>
          </a:p>
        </p:txBody>
      </p:sp>
      <p:sp>
        <p:nvSpPr>
          <p:cNvPr id="20" name="TextBox 19"/>
          <p:cNvSpPr txBox="1"/>
          <p:nvPr/>
        </p:nvSpPr>
        <p:spPr>
          <a:xfrm>
            <a:off x="9098280" y="3200400"/>
            <a:ext cx="1007584" cy="338554"/>
          </a:xfrm>
          <a:prstGeom prst="rect">
            <a:avLst/>
          </a:prstGeom>
          <a:noFill/>
        </p:spPr>
        <p:txBody>
          <a:bodyPr wrap="none">
            <a:spAutoFit/>
          </a:bodyPr>
          <a:lstStyle/>
          <a:p>
            <a:pPr algn="l"/>
            <a:r>
              <a:rPr sz="1600" b="1">
                <a:solidFill>
                  <a:srgbClr val="2D323C"/>
                </a:solidFill>
                <a:latin typeface="Aptos"/>
              </a:rPr>
              <a:t>Function</a:t>
            </a:r>
          </a:p>
        </p:txBody>
      </p:sp>
      <p:sp>
        <p:nvSpPr>
          <p:cNvPr id="21" name="Rounded Rectangle 20"/>
          <p:cNvSpPr/>
          <p:nvPr/>
        </p:nvSpPr>
        <p:spPr>
          <a:xfrm>
            <a:off x="8549640" y="3712463"/>
            <a:ext cx="411480" cy="365760"/>
          </a:xfrm>
          <a:prstGeom prst="roundRect">
            <a:avLst/>
          </a:prstGeom>
          <a:solidFill>
            <a:srgbClr val="192337"/>
          </a:solidFill>
          <a:ln>
            <a:solidFill>
              <a:srgbClr val="192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2" name="TextBox 21"/>
          <p:cNvSpPr txBox="1"/>
          <p:nvPr/>
        </p:nvSpPr>
        <p:spPr>
          <a:xfrm>
            <a:off x="8622170" y="3785615"/>
            <a:ext cx="266420" cy="276999"/>
          </a:xfrm>
          <a:prstGeom prst="rect">
            <a:avLst/>
          </a:prstGeom>
          <a:noFill/>
        </p:spPr>
        <p:txBody>
          <a:bodyPr wrap="none">
            <a:spAutoFit/>
          </a:bodyPr>
          <a:lstStyle/>
          <a:p>
            <a:pPr algn="ctr"/>
            <a:r>
              <a:rPr sz="1200" b="1">
                <a:solidFill>
                  <a:srgbClr val="FFFFFF"/>
                </a:solidFill>
                <a:latin typeface="Aptos"/>
              </a:rPr>
              <a:t>3</a:t>
            </a:r>
          </a:p>
        </p:txBody>
      </p:sp>
      <p:sp>
        <p:nvSpPr>
          <p:cNvPr id="23" name="TextBox 22"/>
          <p:cNvSpPr txBox="1"/>
          <p:nvPr/>
        </p:nvSpPr>
        <p:spPr>
          <a:xfrm>
            <a:off x="9098280" y="3730751"/>
            <a:ext cx="1475789" cy="338554"/>
          </a:xfrm>
          <a:prstGeom prst="rect">
            <a:avLst/>
          </a:prstGeom>
          <a:noFill/>
        </p:spPr>
        <p:txBody>
          <a:bodyPr wrap="none">
            <a:spAutoFit/>
          </a:bodyPr>
          <a:lstStyle/>
          <a:p>
            <a:pPr algn="l"/>
            <a:r>
              <a:rPr sz="1600" b="1">
                <a:solidFill>
                  <a:srgbClr val="2D323C"/>
                </a:solidFill>
                <a:latin typeface="Aptos"/>
              </a:rPr>
              <a:t>Context clues</a:t>
            </a:r>
          </a:p>
        </p:txBody>
      </p:sp>
      <p:sp>
        <p:nvSpPr>
          <p:cNvPr id="24" name="Rounded Rectangle 23"/>
          <p:cNvSpPr/>
          <p:nvPr/>
        </p:nvSpPr>
        <p:spPr>
          <a:xfrm>
            <a:off x="8549640" y="4242816"/>
            <a:ext cx="411480" cy="365760"/>
          </a:xfrm>
          <a:prstGeom prst="roundRect">
            <a:avLst/>
          </a:prstGeom>
          <a:solidFill>
            <a:srgbClr val="192337"/>
          </a:solidFill>
          <a:ln>
            <a:solidFill>
              <a:srgbClr val="192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TextBox 24"/>
          <p:cNvSpPr txBox="1"/>
          <p:nvPr/>
        </p:nvSpPr>
        <p:spPr>
          <a:xfrm>
            <a:off x="8622170" y="4315968"/>
            <a:ext cx="266420" cy="276999"/>
          </a:xfrm>
          <a:prstGeom prst="rect">
            <a:avLst/>
          </a:prstGeom>
          <a:noFill/>
        </p:spPr>
        <p:txBody>
          <a:bodyPr wrap="none">
            <a:spAutoFit/>
          </a:bodyPr>
          <a:lstStyle/>
          <a:p>
            <a:pPr algn="ctr"/>
            <a:r>
              <a:rPr sz="1200" b="1">
                <a:solidFill>
                  <a:srgbClr val="FFFFFF"/>
                </a:solidFill>
                <a:latin typeface="Aptos"/>
              </a:rPr>
              <a:t>4</a:t>
            </a:r>
          </a:p>
        </p:txBody>
      </p:sp>
      <p:sp>
        <p:nvSpPr>
          <p:cNvPr id="26" name="TextBox 25"/>
          <p:cNvSpPr txBox="1"/>
          <p:nvPr/>
        </p:nvSpPr>
        <p:spPr>
          <a:xfrm>
            <a:off x="9098280" y="4261103"/>
            <a:ext cx="1452834" cy="338554"/>
          </a:xfrm>
          <a:prstGeom prst="rect">
            <a:avLst/>
          </a:prstGeom>
          <a:noFill/>
        </p:spPr>
        <p:txBody>
          <a:bodyPr wrap="none">
            <a:spAutoFit/>
          </a:bodyPr>
          <a:lstStyle/>
          <a:p>
            <a:pPr algn="l"/>
            <a:r>
              <a:rPr sz="1600" b="1">
                <a:solidFill>
                  <a:srgbClr val="2D323C"/>
                </a:solidFill>
                <a:latin typeface="Aptos"/>
              </a:rPr>
              <a:t>Familiar word</a:t>
            </a:r>
          </a:p>
        </p:txBody>
      </p:sp>
      <p:sp>
        <p:nvSpPr>
          <p:cNvPr id="27" name="Rounded Rectangle 26"/>
          <p:cNvSpPr/>
          <p:nvPr/>
        </p:nvSpPr>
        <p:spPr>
          <a:xfrm>
            <a:off x="8549640" y="4773168"/>
            <a:ext cx="411480" cy="365760"/>
          </a:xfrm>
          <a:prstGeom prst="roundRect">
            <a:avLst/>
          </a:prstGeom>
          <a:solidFill>
            <a:srgbClr val="192337"/>
          </a:solidFill>
          <a:ln>
            <a:solidFill>
              <a:srgbClr val="192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8" name="TextBox 27"/>
          <p:cNvSpPr txBox="1"/>
          <p:nvPr/>
        </p:nvSpPr>
        <p:spPr>
          <a:xfrm>
            <a:off x="8622170" y="4846320"/>
            <a:ext cx="266420" cy="276999"/>
          </a:xfrm>
          <a:prstGeom prst="rect">
            <a:avLst/>
          </a:prstGeom>
          <a:noFill/>
        </p:spPr>
        <p:txBody>
          <a:bodyPr wrap="none">
            <a:spAutoFit/>
          </a:bodyPr>
          <a:lstStyle/>
          <a:p>
            <a:pPr algn="ctr"/>
            <a:r>
              <a:rPr sz="1200" b="1">
                <a:solidFill>
                  <a:srgbClr val="FFFFFF"/>
                </a:solidFill>
                <a:latin typeface="Aptos"/>
              </a:rPr>
              <a:t>5</a:t>
            </a:r>
          </a:p>
        </p:txBody>
      </p:sp>
      <p:sp>
        <p:nvSpPr>
          <p:cNvPr id="29" name="TextBox 28"/>
          <p:cNvSpPr txBox="1"/>
          <p:nvPr/>
        </p:nvSpPr>
        <p:spPr>
          <a:xfrm>
            <a:off x="9098280" y="4791455"/>
            <a:ext cx="1450910" cy="338554"/>
          </a:xfrm>
          <a:prstGeom prst="rect">
            <a:avLst/>
          </a:prstGeom>
          <a:noFill/>
        </p:spPr>
        <p:txBody>
          <a:bodyPr wrap="none">
            <a:spAutoFit/>
          </a:bodyPr>
          <a:lstStyle/>
          <a:p>
            <a:pPr algn="l"/>
            <a:r>
              <a:rPr sz="1600" b="1" dirty="0">
                <a:solidFill>
                  <a:srgbClr val="2D323C"/>
                </a:solidFill>
                <a:latin typeface="Aptos"/>
              </a:rPr>
              <a:t>Best meaning</a:t>
            </a:r>
          </a:p>
        </p:txBody>
      </p:sp>
      <p:sp>
        <p:nvSpPr>
          <p:cNvPr id="30" name="Rounded Rectangle 29"/>
          <p:cNvSpPr/>
          <p:nvPr/>
        </p:nvSpPr>
        <p:spPr>
          <a:xfrm>
            <a:off x="1371600" y="6172200"/>
            <a:ext cx="9326880" cy="411480"/>
          </a:xfrm>
          <a:prstGeom prst="roundRect">
            <a:avLst/>
          </a:prstGeom>
          <a:solidFill>
            <a:srgbClr val="192337"/>
          </a:solidFill>
          <a:ln>
            <a:solidFill>
              <a:srgbClr val="192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TextBox 30"/>
          <p:cNvSpPr txBox="1"/>
          <p:nvPr/>
        </p:nvSpPr>
        <p:spPr>
          <a:xfrm>
            <a:off x="2816082" y="6254496"/>
            <a:ext cx="6437916" cy="338554"/>
          </a:xfrm>
          <a:prstGeom prst="rect">
            <a:avLst/>
          </a:prstGeom>
          <a:noFill/>
        </p:spPr>
        <p:txBody>
          <a:bodyPr wrap="none">
            <a:spAutoFit/>
          </a:bodyPr>
          <a:lstStyle/>
          <a:p>
            <a:pPr algn="ctr"/>
            <a:r>
              <a:rPr sz="1600" b="1" dirty="0">
                <a:solidFill>
                  <a:srgbClr val="FFFFFF"/>
                </a:solidFill>
                <a:latin typeface="Aptos"/>
              </a:rPr>
              <a:t>GOOD READERS DON'T JUST READ WORDS — THEY READ SIGNALS.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FAD6C-2795-54FD-40E5-4F1A36702E3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051AA5-827D-C2A0-7092-FACDF81CA591}"/>
              </a:ext>
            </a:extLst>
          </p:cNvPr>
          <p:cNvSpPr txBox="1"/>
          <p:nvPr/>
        </p:nvSpPr>
        <p:spPr>
          <a:xfrm>
            <a:off x="627105" y="566678"/>
            <a:ext cx="10617543" cy="4893647"/>
          </a:xfrm>
          <a:prstGeom prst="rect">
            <a:avLst/>
          </a:prstGeom>
          <a:noFill/>
        </p:spPr>
        <p:txBody>
          <a:bodyPr wrap="square">
            <a:spAutoFit/>
          </a:bodyPr>
          <a:lstStyle/>
          <a:p>
            <a:pPr>
              <a:buNone/>
            </a:pPr>
            <a:r>
              <a:rPr lang="en-GB" sz="2800" b="1" dirty="0"/>
              <a:t>The 8 Principles of Skimming</a:t>
            </a:r>
          </a:p>
          <a:p>
            <a:pPr>
              <a:buNone/>
            </a:pPr>
            <a:r>
              <a:rPr lang="en-GB" sz="2800" b="1" dirty="0"/>
              <a:t>When you decide to skim:</a:t>
            </a:r>
            <a:br>
              <a:rPr lang="en-GB" sz="2800" b="1" dirty="0"/>
            </a:br>
            <a:endParaRPr lang="en-GB" sz="2800" b="1" dirty="0"/>
          </a:p>
          <a:p>
            <a:pPr marL="342900" lvl="0" indent="-342900">
              <a:buFont typeface="+mj-lt"/>
              <a:buAutoNum type="arabicPeriod"/>
            </a:pPr>
            <a:r>
              <a:rPr lang="en-GB" sz="2800" b="1" dirty="0"/>
              <a:t>Read only enough</a:t>
            </a:r>
            <a:r>
              <a:rPr lang="en-GB" sz="2800" dirty="0"/>
              <a:t> to identify the paragraph's purpose. </a:t>
            </a:r>
          </a:p>
          <a:p>
            <a:pPr marL="342900" lvl="0" indent="-342900">
              <a:buFont typeface="+mj-lt"/>
              <a:buAutoNum type="arabicPeriod"/>
            </a:pPr>
            <a:r>
              <a:rPr lang="en-GB" sz="2800" dirty="0"/>
              <a:t>If it contains a </a:t>
            </a:r>
            <a:r>
              <a:rPr lang="en-GB" sz="2800" b="1" dirty="0"/>
              <a:t>main idea → read fully</a:t>
            </a:r>
            <a:r>
              <a:rPr lang="en-GB" sz="2800" dirty="0"/>
              <a:t>. </a:t>
            </a:r>
          </a:p>
          <a:p>
            <a:pPr marL="342900" lvl="0" indent="-342900">
              <a:buFont typeface="+mj-lt"/>
              <a:buAutoNum type="arabicPeriod"/>
            </a:pPr>
            <a:r>
              <a:rPr lang="en-GB" sz="2800" dirty="0"/>
              <a:t>If it contains only </a:t>
            </a:r>
            <a:r>
              <a:rPr lang="en-GB" sz="2800" b="1" dirty="0"/>
              <a:t>supporting details → skim</a:t>
            </a:r>
            <a:r>
              <a:rPr lang="en-GB" sz="2800" dirty="0"/>
              <a:t>. </a:t>
            </a:r>
          </a:p>
          <a:p>
            <a:pPr marL="342900" lvl="0" indent="-342900">
              <a:buFont typeface="+mj-lt"/>
              <a:buAutoNum type="arabicPeriod"/>
            </a:pPr>
            <a:r>
              <a:rPr lang="en-GB" sz="2800" dirty="0"/>
              <a:t>Check the </a:t>
            </a:r>
            <a:r>
              <a:rPr lang="en-GB" sz="2800" b="1" dirty="0"/>
              <a:t>last sentence</a:t>
            </a:r>
            <a:r>
              <a:rPr lang="en-GB" sz="2800" dirty="0"/>
              <a:t> when necessary. </a:t>
            </a:r>
          </a:p>
          <a:p>
            <a:pPr marL="342900" lvl="0" indent="-342900">
              <a:buFont typeface="+mj-lt"/>
              <a:buAutoNum type="arabicPeriod"/>
            </a:pPr>
            <a:r>
              <a:rPr lang="en-GB" sz="2800" dirty="0"/>
              <a:t>Identify the </a:t>
            </a:r>
            <a:r>
              <a:rPr lang="en-GB" sz="2800" b="1" dirty="0"/>
              <a:t>author's pattern of thinking</a:t>
            </a:r>
            <a:r>
              <a:rPr lang="en-GB" sz="2800" dirty="0"/>
              <a:t>. </a:t>
            </a:r>
          </a:p>
          <a:p>
            <a:pPr marL="342900" lvl="0" indent="-342900">
              <a:buFont typeface="+mj-lt"/>
              <a:buAutoNum type="arabicPeriod"/>
            </a:pPr>
            <a:r>
              <a:rPr lang="en-GB" sz="2800" dirty="0"/>
              <a:t>You don't always need to read </a:t>
            </a:r>
            <a:r>
              <a:rPr lang="en-GB" sz="2800" b="1" dirty="0"/>
              <a:t>complete sentences</a:t>
            </a:r>
            <a:r>
              <a:rPr lang="en-GB" sz="2800" dirty="0"/>
              <a:t>. </a:t>
            </a:r>
          </a:p>
          <a:p>
            <a:pPr marL="342900" lvl="0" indent="-342900">
              <a:buFont typeface="+mj-lt"/>
              <a:buAutoNum type="arabicPeriod"/>
            </a:pPr>
            <a:r>
              <a:rPr lang="en-GB" sz="2800" dirty="0"/>
              <a:t>Read thoroughly when the paragraph contains a </a:t>
            </a:r>
            <a:r>
              <a:rPr lang="en-GB" sz="2800" b="1" dirty="0"/>
              <a:t>main idea</a:t>
            </a:r>
            <a:r>
              <a:rPr lang="en-GB" sz="2800" dirty="0"/>
              <a:t>. </a:t>
            </a:r>
          </a:p>
          <a:p>
            <a:pPr marL="342900" lvl="0" indent="-342900">
              <a:buFont typeface="+mj-lt"/>
              <a:buAutoNum type="arabicPeriod"/>
            </a:pPr>
            <a:r>
              <a:rPr lang="en-GB" sz="2800" dirty="0"/>
              <a:t>Follow </a:t>
            </a:r>
            <a:r>
              <a:rPr lang="en-GB" sz="2800" b="1" dirty="0"/>
              <a:t>comprehension clues</a:t>
            </a:r>
            <a:r>
              <a:rPr lang="en-GB" sz="2800" dirty="0"/>
              <a:t> that signal a change</a:t>
            </a:r>
            <a:r>
              <a:rPr lang="en-GB" sz="3200" dirty="0"/>
              <a:t>.</a:t>
            </a:r>
          </a:p>
        </p:txBody>
      </p:sp>
    </p:spTree>
    <p:extLst>
      <p:ext uri="{BB962C8B-B14F-4D97-AF65-F5344CB8AC3E}">
        <p14:creationId xmlns:p14="http://schemas.microsoft.com/office/powerpoint/2010/main" val="1926437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97E83-3B08-1FC4-5B7F-14A6904A6A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99DF81-204D-C74D-A144-144D55CE6794}"/>
              </a:ext>
            </a:extLst>
          </p:cNvPr>
          <p:cNvSpPr txBox="1"/>
          <p:nvPr/>
        </p:nvSpPr>
        <p:spPr>
          <a:xfrm>
            <a:off x="992139" y="428178"/>
            <a:ext cx="10755212" cy="6001643"/>
          </a:xfrm>
          <a:prstGeom prst="rect">
            <a:avLst/>
          </a:prstGeom>
          <a:noFill/>
        </p:spPr>
        <p:txBody>
          <a:bodyPr wrap="square">
            <a:spAutoFit/>
          </a:bodyPr>
          <a:lstStyle/>
          <a:p>
            <a:pPr>
              <a:buNone/>
            </a:pPr>
            <a:r>
              <a:rPr lang="en-GB" sz="2400" b="1" dirty="0"/>
              <a:t>“What is this paragraph doing?”</a:t>
            </a:r>
          </a:p>
          <a:p>
            <a:pPr>
              <a:buNone/>
            </a:pPr>
            <a:r>
              <a:rPr lang="en-GB" sz="2400" dirty="0"/>
              <a:t>Is it:</a:t>
            </a:r>
          </a:p>
          <a:p>
            <a:pPr lvl="8"/>
            <a:r>
              <a:rPr lang="en-GB" sz="2400" b="1" dirty="0"/>
              <a:t>Introducing</a:t>
            </a:r>
            <a:br>
              <a:rPr lang="en-GB" sz="2400" dirty="0"/>
            </a:br>
            <a:r>
              <a:rPr lang="en-GB" sz="2400" dirty="0"/>
              <a:t>↓</a:t>
            </a:r>
            <a:br>
              <a:rPr lang="en-GB" sz="2400" dirty="0"/>
            </a:br>
            <a:r>
              <a:rPr lang="en-GB" sz="2400" b="1" dirty="0"/>
              <a:t>Explaining</a:t>
            </a:r>
            <a:br>
              <a:rPr lang="en-GB" sz="2400" dirty="0"/>
            </a:br>
            <a:r>
              <a:rPr lang="en-GB" sz="2400" dirty="0"/>
              <a:t>↓</a:t>
            </a:r>
            <a:br>
              <a:rPr lang="en-GB" sz="2400" dirty="0"/>
            </a:br>
            <a:r>
              <a:rPr lang="en-GB" sz="2400" b="1" dirty="0"/>
              <a:t>Giving Examples</a:t>
            </a:r>
            <a:br>
              <a:rPr lang="en-GB" sz="2400" dirty="0"/>
            </a:br>
            <a:r>
              <a:rPr lang="en-GB" sz="2400" dirty="0"/>
              <a:t>↓</a:t>
            </a:r>
            <a:br>
              <a:rPr lang="en-GB" sz="2400" dirty="0"/>
            </a:br>
            <a:r>
              <a:rPr lang="en-GB" sz="2400" b="1" dirty="0"/>
              <a:t>Presenting Evidence</a:t>
            </a:r>
            <a:br>
              <a:rPr lang="en-GB" sz="2400" dirty="0"/>
            </a:br>
            <a:r>
              <a:rPr lang="en-GB" sz="2400" dirty="0"/>
              <a:t>↓</a:t>
            </a:r>
            <a:br>
              <a:rPr lang="en-GB" sz="2400" dirty="0"/>
            </a:br>
            <a:r>
              <a:rPr lang="en-GB" sz="2400" b="1" dirty="0"/>
              <a:t>Changing Direction</a:t>
            </a:r>
            <a:br>
              <a:rPr lang="en-GB" sz="2400" dirty="0"/>
            </a:br>
            <a:r>
              <a:rPr lang="en-GB" sz="2400" dirty="0"/>
              <a:t>↓</a:t>
            </a:r>
            <a:br>
              <a:rPr lang="en-GB" sz="2400" dirty="0"/>
            </a:br>
            <a:r>
              <a:rPr lang="en-GB" sz="2400" b="1" dirty="0"/>
              <a:t>Drawing A Conclusion</a:t>
            </a:r>
          </a:p>
          <a:p>
            <a:pPr>
              <a:buNone/>
            </a:pPr>
            <a:endParaRPr lang="en-GB" sz="2400" dirty="0"/>
          </a:p>
          <a:p>
            <a:pPr>
              <a:buNone/>
            </a:pPr>
            <a:r>
              <a:rPr lang="en-GB" sz="2400" dirty="0"/>
              <a:t>If a paragraph is </a:t>
            </a:r>
            <a:r>
              <a:rPr lang="en-GB" sz="2400" b="1" dirty="0"/>
              <a:t>continuing the same idea</a:t>
            </a:r>
            <a:r>
              <a:rPr lang="en-GB" sz="2400" dirty="0"/>
              <a:t>, you may skim. If it is </a:t>
            </a:r>
            <a:r>
              <a:rPr lang="en-GB" sz="2400" b="1" dirty="0"/>
              <a:t>introducing something new</a:t>
            </a:r>
            <a:r>
              <a:rPr lang="en-GB" sz="2400" dirty="0"/>
              <a:t>, slow down and read carefully. </a:t>
            </a:r>
          </a:p>
        </p:txBody>
      </p:sp>
    </p:spTree>
    <p:extLst>
      <p:ext uri="{BB962C8B-B14F-4D97-AF65-F5344CB8AC3E}">
        <p14:creationId xmlns:p14="http://schemas.microsoft.com/office/powerpoint/2010/main" val="6288594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640080"/>
          </a:xfrm>
          <a:prstGeom prst="rect">
            <a:avLst/>
          </a:prstGeom>
          <a:noFill/>
        </p:spPr>
        <p:txBody>
          <a:bodyPr wrap="none">
            <a:spAutoFit/>
          </a:bodyPr>
          <a:lstStyle/>
          <a:p>
            <a:pPr>
              <a:defRPr sz="2700" b="1">
                <a:solidFill>
                  <a:srgbClr val="1F2937"/>
                </a:solidFill>
              </a:defRPr>
            </a:pPr>
            <a:r>
              <a:t>SIGNPOST WORDS:  Know When to Skim — and When to Read</a:t>
            </a:r>
          </a:p>
        </p:txBody>
      </p:sp>
      <p:sp>
        <p:nvSpPr>
          <p:cNvPr id="4" name="Rounded Rectangle 3"/>
          <p:cNvSpPr/>
          <p:nvPr/>
        </p:nvSpPr>
        <p:spPr>
          <a:xfrm>
            <a:off x="594360" y="1508760"/>
            <a:ext cx="5349240" cy="196596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 name="Rounded Rectangle 4"/>
          <p:cNvSpPr/>
          <p:nvPr/>
        </p:nvSpPr>
        <p:spPr>
          <a:xfrm>
            <a:off x="594360" y="1508760"/>
            <a:ext cx="109728" cy="19659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TextBox 5"/>
          <p:cNvSpPr txBox="1"/>
          <p:nvPr/>
        </p:nvSpPr>
        <p:spPr>
          <a:xfrm>
            <a:off x="914400" y="1709928"/>
            <a:ext cx="2220673" cy="400110"/>
          </a:xfrm>
          <a:prstGeom prst="rect">
            <a:avLst/>
          </a:prstGeom>
          <a:noFill/>
        </p:spPr>
        <p:txBody>
          <a:bodyPr wrap="none">
            <a:spAutoFit/>
          </a:bodyPr>
          <a:lstStyle/>
          <a:p>
            <a:pPr>
              <a:defRPr sz="1600" b="1">
                <a:solidFill>
                  <a:srgbClr val="2563EB"/>
                </a:solidFill>
              </a:defRPr>
            </a:pPr>
            <a:r>
              <a:rPr sz="2000"/>
              <a:t>CONTINUATION</a:t>
            </a:r>
          </a:p>
        </p:txBody>
      </p:sp>
      <p:sp>
        <p:nvSpPr>
          <p:cNvPr id="7" name="TextBox 6"/>
          <p:cNvSpPr txBox="1"/>
          <p:nvPr/>
        </p:nvSpPr>
        <p:spPr>
          <a:xfrm>
            <a:off x="914400" y="2130552"/>
            <a:ext cx="4663440" cy="400110"/>
          </a:xfrm>
          <a:prstGeom prst="rect">
            <a:avLst/>
          </a:prstGeom>
          <a:noFill/>
        </p:spPr>
        <p:txBody>
          <a:bodyPr wrap="square">
            <a:spAutoFit/>
          </a:bodyPr>
          <a:lstStyle/>
          <a:p>
            <a:pPr>
              <a:defRPr sz="1600" b="1">
                <a:solidFill>
                  <a:srgbClr val="1F2937"/>
                </a:solidFill>
              </a:defRPr>
            </a:pPr>
            <a:r>
              <a:rPr sz="2000" dirty="0"/>
              <a:t>Furthermore  •  Similarly  •  In addition</a:t>
            </a:r>
          </a:p>
        </p:txBody>
      </p:sp>
      <p:sp>
        <p:nvSpPr>
          <p:cNvPr id="8" name="TextBox 7"/>
          <p:cNvSpPr txBox="1"/>
          <p:nvPr/>
        </p:nvSpPr>
        <p:spPr>
          <a:xfrm>
            <a:off x="914400" y="2834639"/>
            <a:ext cx="5069016" cy="400110"/>
          </a:xfrm>
          <a:prstGeom prst="rect">
            <a:avLst/>
          </a:prstGeom>
          <a:noFill/>
        </p:spPr>
        <p:txBody>
          <a:bodyPr wrap="none">
            <a:spAutoFit/>
          </a:bodyPr>
          <a:lstStyle/>
          <a:p>
            <a:pPr>
              <a:defRPr sz="1350" b="1">
                <a:solidFill>
                  <a:srgbClr val="4B5563"/>
                </a:solidFill>
              </a:defRPr>
            </a:pPr>
            <a:r>
              <a:rPr sz="2000" dirty="0"/>
              <a:t>Same direction  →  POSSIBLE SKIMMING</a:t>
            </a:r>
          </a:p>
        </p:txBody>
      </p:sp>
      <p:sp>
        <p:nvSpPr>
          <p:cNvPr id="9" name="Rounded Rectangle 8"/>
          <p:cNvSpPr/>
          <p:nvPr/>
        </p:nvSpPr>
        <p:spPr>
          <a:xfrm>
            <a:off x="6263640" y="1508760"/>
            <a:ext cx="5349240" cy="196596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0" name="Rounded Rectangle 9"/>
          <p:cNvSpPr/>
          <p:nvPr/>
        </p:nvSpPr>
        <p:spPr>
          <a:xfrm>
            <a:off x="6263640" y="1508760"/>
            <a:ext cx="109728" cy="196596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TextBox 10"/>
          <p:cNvSpPr txBox="1"/>
          <p:nvPr/>
        </p:nvSpPr>
        <p:spPr>
          <a:xfrm>
            <a:off x="6583679" y="1709928"/>
            <a:ext cx="2938625" cy="400110"/>
          </a:xfrm>
          <a:prstGeom prst="rect">
            <a:avLst/>
          </a:prstGeom>
          <a:noFill/>
        </p:spPr>
        <p:txBody>
          <a:bodyPr wrap="none">
            <a:spAutoFit/>
          </a:bodyPr>
          <a:lstStyle/>
          <a:p>
            <a:pPr>
              <a:defRPr sz="1600" b="1">
                <a:solidFill>
                  <a:srgbClr val="DC2626"/>
                </a:solidFill>
              </a:defRPr>
            </a:pPr>
            <a:r>
              <a:rPr sz="2000"/>
              <a:t>CONTRAST / CHANGE</a:t>
            </a:r>
          </a:p>
        </p:txBody>
      </p:sp>
      <p:sp>
        <p:nvSpPr>
          <p:cNvPr id="12" name="TextBox 11"/>
          <p:cNvSpPr txBox="1"/>
          <p:nvPr/>
        </p:nvSpPr>
        <p:spPr>
          <a:xfrm>
            <a:off x="6583679" y="2130552"/>
            <a:ext cx="4663440" cy="707886"/>
          </a:xfrm>
          <a:prstGeom prst="rect">
            <a:avLst/>
          </a:prstGeom>
          <a:noFill/>
        </p:spPr>
        <p:txBody>
          <a:bodyPr wrap="square">
            <a:spAutoFit/>
          </a:bodyPr>
          <a:lstStyle/>
          <a:p>
            <a:pPr>
              <a:defRPr sz="1600" b="1">
                <a:solidFill>
                  <a:srgbClr val="1F2937"/>
                </a:solidFill>
              </a:defRPr>
            </a:pPr>
            <a:r>
              <a:rPr sz="2000" dirty="0"/>
              <a:t>However  •  But  •  In contrast  •  On the other hand</a:t>
            </a:r>
          </a:p>
        </p:txBody>
      </p:sp>
      <p:sp>
        <p:nvSpPr>
          <p:cNvPr id="13" name="TextBox 12"/>
          <p:cNvSpPr txBox="1"/>
          <p:nvPr/>
        </p:nvSpPr>
        <p:spPr>
          <a:xfrm>
            <a:off x="6583679" y="2834639"/>
            <a:ext cx="4623382" cy="400110"/>
          </a:xfrm>
          <a:prstGeom prst="rect">
            <a:avLst/>
          </a:prstGeom>
          <a:noFill/>
        </p:spPr>
        <p:txBody>
          <a:bodyPr wrap="none">
            <a:spAutoFit/>
          </a:bodyPr>
          <a:lstStyle/>
          <a:p>
            <a:pPr>
              <a:defRPr sz="1350" b="1">
                <a:solidFill>
                  <a:srgbClr val="4B5563"/>
                </a:solidFill>
              </a:defRPr>
            </a:pPr>
            <a:r>
              <a:rPr sz="2000" dirty="0"/>
              <a:t>New direction  →  READ CAREFULLY</a:t>
            </a:r>
          </a:p>
        </p:txBody>
      </p:sp>
      <p:sp>
        <p:nvSpPr>
          <p:cNvPr id="14" name="Rounded Rectangle 13"/>
          <p:cNvSpPr/>
          <p:nvPr/>
        </p:nvSpPr>
        <p:spPr>
          <a:xfrm>
            <a:off x="621792" y="3977639"/>
            <a:ext cx="5349240" cy="196596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94360" y="3977639"/>
            <a:ext cx="109728" cy="196596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178807"/>
            <a:ext cx="1056700" cy="400110"/>
          </a:xfrm>
          <a:prstGeom prst="rect">
            <a:avLst/>
          </a:prstGeom>
          <a:noFill/>
        </p:spPr>
        <p:txBody>
          <a:bodyPr wrap="none">
            <a:spAutoFit/>
          </a:bodyPr>
          <a:lstStyle/>
          <a:p>
            <a:pPr>
              <a:defRPr sz="1600" b="1">
                <a:solidFill>
                  <a:srgbClr val="D97706"/>
                </a:solidFill>
              </a:defRPr>
            </a:pPr>
            <a:r>
              <a:rPr sz="2000"/>
              <a:t>CAUSE</a:t>
            </a:r>
          </a:p>
        </p:txBody>
      </p:sp>
      <p:sp>
        <p:nvSpPr>
          <p:cNvPr id="17" name="TextBox 16"/>
          <p:cNvSpPr txBox="1"/>
          <p:nvPr/>
        </p:nvSpPr>
        <p:spPr>
          <a:xfrm>
            <a:off x="914400" y="4599431"/>
            <a:ext cx="4663440" cy="400110"/>
          </a:xfrm>
          <a:prstGeom prst="rect">
            <a:avLst/>
          </a:prstGeom>
          <a:noFill/>
        </p:spPr>
        <p:txBody>
          <a:bodyPr wrap="square">
            <a:spAutoFit/>
          </a:bodyPr>
          <a:lstStyle/>
          <a:p>
            <a:pPr>
              <a:defRPr sz="1600" b="1">
                <a:solidFill>
                  <a:srgbClr val="1F2937"/>
                </a:solidFill>
              </a:defRPr>
            </a:pPr>
            <a:r>
              <a:rPr sz="2000" dirty="0"/>
              <a:t>Because  •  The reason  •  Behind this</a:t>
            </a:r>
          </a:p>
        </p:txBody>
      </p:sp>
      <p:sp>
        <p:nvSpPr>
          <p:cNvPr id="18" name="TextBox 17"/>
          <p:cNvSpPr txBox="1"/>
          <p:nvPr/>
        </p:nvSpPr>
        <p:spPr>
          <a:xfrm>
            <a:off x="914400" y="5303520"/>
            <a:ext cx="3910045" cy="400110"/>
          </a:xfrm>
          <a:prstGeom prst="rect">
            <a:avLst/>
          </a:prstGeom>
          <a:noFill/>
        </p:spPr>
        <p:txBody>
          <a:bodyPr wrap="none">
            <a:spAutoFit/>
          </a:bodyPr>
          <a:lstStyle/>
          <a:p>
            <a:pPr>
              <a:defRPr sz="1350" b="1">
                <a:solidFill>
                  <a:srgbClr val="4B5563"/>
                </a:solidFill>
              </a:defRPr>
            </a:pPr>
            <a:r>
              <a:rPr sz="2000"/>
              <a:t>Important explanation  →  READ</a:t>
            </a:r>
          </a:p>
        </p:txBody>
      </p:sp>
      <p:sp>
        <p:nvSpPr>
          <p:cNvPr id="19" name="Rounded Rectangle 18"/>
          <p:cNvSpPr/>
          <p:nvPr/>
        </p:nvSpPr>
        <p:spPr>
          <a:xfrm>
            <a:off x="6318504" y="3977639"/>
            <a:ext cx="5349240" cy="1965960"/>
          </a:xfrm>
          <a:prstGeom prst="roundRect">
            <a:avLst/>
          </a:prstGeom>
          <a:solidFill>
            <a:srgbClr val="FFFFFF"/>
          </a:solidFill>
          <a:ln>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63640" y="3977639"/>
            <a:ext cx="109728" cy="19659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79" y="4178807"/>
            <a:ext cx="1925527" cy="400110"/>
          </a:xfrm>
          <a:prstGeom prst="rect">
            <a:avLst/>
          </a:prstGeom>
          <a:noFill/>
        </p:spPr>
        <p:txBody>
          <a:bodyPr wrap="none">
            <a:spAutoFit/>
          </a:bodyPr>
          <a:lstStyle/>
          <a:p>
            <a:pPr>
              <a:defRPr sz="1600" b="1">
                <a:solidFill>
                  <a:srgbClr val="059669"/>
                </a:solidFill>
              </a:defRPr>
            </a:pPr>
            <a:r>
              <a:rPr sz="2000"/>
              <a:t>CONCLUSION</a:t>
            </a:r>
          </a:p>
        </p:txBody>
      </p:sp>
      <p:sp>
        <p:nvSpPr>
          <p:cNvPr id="22" name="TextBox 21"/>
          <p:cNvSpPr txBox="1"/>
          <p:nvPr/>
        </p:nvSpPr>
        <p:spPr>
          <a:xfrm>
            <a:off x="6583679" y="4599431"/>
            <a:ext cx="4663440" cy="400110"/>
          </a:xfrm>
          <a:prstGeom prst="rect">
            <a:avLst/>
          </a:prstGeom>
          <a:noFill/>
        </p:spPr>
        <p:txBody>
          <a:bodyPr wrap="square">
            <a:spAutoFit/>
          </a:bodyPr>
          <a:lstStyle/>
          <a:p>
            <a:pPr>
              <a:defRPr sz="1600" b="1">
                <a:solidFill>
                  <a:srgbClr val="1F2937"/>
                </a:solidFill>
              </a:defRPr>
            </a:pPr>
            <a:r>
              <a:rPr sz="2000"/>
              <a:t>Therefore  •  Thus  •  In conclusion</a:t>
            </a:r>
          </a:p>
        </p:txBody>
      </p:sp>
      <p:sp>
        <p:nvSpPr>
          <p:cNvPr id="23" name="TextBox 22"/>
          <p:cNvSpPr txBox="1"/>
          <p:nvPr/>
        </p:nvSpPr>
        <p:spPr>
          <a:xfrm>
            <a:off x="6583679" y="5303520"/>
            <a:ext cx="3297698" cy="400110"/>
          </a:xfrm>
          <a:prstGeom prst="rect">
            <a:avLst/>
          </a:prstGeom>
          <a:noFill/>
        </p:spPr>
        <p:txBody>
          <a:bodyPr wrap="none">
            <a:spAutoFit/>
          </a:bodyPr>
          <a:lstStyle/>
          <a:p>
            <a:pPr>
              <a:defRPr sz="1350" b="1">
                <a:solidFill>
                  <a:srgbClr val="4B5563"/>
                </a:solidFill>
              </a:defRPr>
            </a:pPr>
            <a:r>
              <a:rPr sz="2000"/>
              <a:t>Likely important  →  READ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292534-419A-D536-C422-F8413B8536E6}"/>
              </a:ext>
            </a:extLst>
          </p:cNvPr>
          <p:cNvSpPr txBox="1"/>
          <p:nvPr/>
        </p:nvSpPr>
        <p:spPr>
          <a:xfrm>
            <a:off x="4584357" y="2162432"/>
            <a:ext cx="2185214" cy="369332"/>
          </a:xfrm>
          <a:prstGeom prst="rect">
            <a:avLst/>
          </a:prstGeom>
          <a:noFill/>
        </p:spPr>
        <p:txBody>
          <a:bodyPr wrap="none" rtlCol="0">
            <a:spAutoFit/>
          </a:bodyPr>
          <a:lstStyle/>
          <a:p>
            <a:r>
              <a:rPr lang="en-IN" dirty="0"/>
              <a:t>Passage on skimming</a:t>
            </a:r>
            <a:endParaRPr lang="en-GB" dirty="0"/>
          </a:p>
        </p:txBody>
      </p:sp>
    </p:spTree>
    <p:extLst>
      <p:ext uri="{BB962C8B-B14F-4D97-AF65-F5344CB8AC3E}">
        <p14:creationId xmlns:p14="http://schemas.microsoft.com/office/powerpoint/2010/main" val="3947167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13507F-2AD6-F113-0959-2D48BD5C08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764" y="392167"/>
            <a:ext cx="11682472" cy="6073666"/>
          </a:xfrm>
          <a:prstGeom prst="rect">
            <a:avLst/>
          </a:prstGeom>
        </p:spPr>
      </p:pic>
    </p:spTree>
    <p:extLst>
      <p:ext uri="{BB962C8B-B14F-4D97-AF65-F5344CB8AC3E}">
        <p14:creationId xmlns:p14="http://schemas.microsoft.com/office/powerpoint/2010/main" val="410678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F86178-1805-4AFD-5F32-8E3FEA0FB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279" y="4639833"/>
            <a:ext cx="10614028" cy="2130244"/>
          </a:xfrm>
          <a:prstGeom prst="rect">
            <a:avLst/>
          </a:prstGeom>
        </p:spPr>
      </p:pic>
      <p:pic>
        <p:nvPicPr>
          <p:cNvPr id="5" name="Picture 4">
            <a:extLst>
              <a:ext uri="{FF2B5EF4-FFF2-40B4-BE49-F238E27FC236}">
                <a16:creationId xmlns:a16="http://schemas.microsoft.com/office/drawing/2014/main" id="{F97CDC8B-19F6-4C85-1AFE-BCB6C3B916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2439" y="0"/>
            <a:ext cx="8493996" cy="2036867"/>
          </a:xfrm>
          <a:prstGeom prst="rect">
            <a:avLst/>
          </a:prstGeom>
        </p:spPr>
      </p:pic>
      <p:pic>
        <p:nvPicPr>
          <p:cNvPr id="7" name="Picture 6">
            <a:extLst>
              <a:ext uri="{FF2B5EF4-FFF2-40B4-BE49-F238E27FC236}">
                <a16:creationId xmlns:a16="http://schemas.microsoft.com/office/drawing/2014/main" id="{5434A44F-660B-4C42-B75C-112311DA9C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9269" y="2355014"/>
            <a:ext cx="10331900" cy="1966672"/>
          </a:xfrm>
          <a:prstGeom prst="rect">
            <a:avLst/>
          </a:prstGeom>
        </p:spPr>
      </p:pic>
    </p:spTree>
    <p:extLst>
      <p:ext uri="{BB962C8B-B14F-4D97-AF65-F5344CB8AC3E}">
        <p14:creationId xmlns:p14="http://schemas.microsoft.com/office/powerpoint/2010/main" val="11509865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640080"/>
            <a:ext cx="11064240" cy="731520"/>
          </a:xfrm>
          <a:prstGeom prst="rect">
            <a:avLst/>
          </a:prstGeom>
          <a:noFill/>
        </p:spPr>
        <p:txBody>
          <a:bodyPr wrap="none">
            <a:spAutoFit/>
          </a:bodyPr>
          <a:lstStyle/>
          <a:p>
            <a:pPr>
              <a:defRPr sz="3200" b="1"/>
            </a:pPr>
            <a:r>
              <a:rPr dirty="0"/>
              <a:t>SQ3R: Read Smarter, Not Longer</a:t>
            </a:r>
          </a:p>
        </p:txBody>
      </p:sp>
      <p:sp>
        <p:nvSpPr>
          <p:cNvPr id="4" name="Rectangle 3"/>
          <p:cNvSpPr/>
          <p:nvPr/>
        </p:nvSpPr>
        <p:spPr>
          <a:xfrm>
            <a:off x="502920" y="1828800"/>
            <a:ext cx="2011680" cy="3383280"/>
          </a:xfrm>
          <a:prstGeom prst="rect">
            <a:avLst/>
          </a:prstGeom>
        </p:spPr>
        <p:style>
          <a:lnRef idx="1">
            <a:schemeClr val="accent1"/>
          </a:lnRef>
          <a:fillRef idx="3">
            <a:schemeClr val="accent1"/>
          </a:fillRef>
          <a:effectRef idx="2">
            <a:schemeClr val="accent1"/>
          </a:effectRef>
          <a:fontRef idx="minor">
            <a:schemeClr val="lt1"/>
          </a:fontRef>
        </p:style>
        <p:txBody>
          <a:bodyPr lIns="137160" tIns="182880" rIns="137160" rtlCol="0" anchor="ctr"/>
          <a:lstStyle/>
          <a:p>
            <a:pPr algn="l">
              <a:defRPr sz="2600" b="1"/>
            </a:pPr>
            <a:r>
              <a:rPr dirty="0"/>
              <a:t>1</a:t>
            </a:r>
          </a:p>
          <a:p>
            <a:pPr algn="l">
              <a:defRPr sz="2000" b="1"/>
            </a:pPr>
            <a:r>
              <a:rPr dirty="0"/>
              <a:t>SURVEY</a:t>
            </a:r>
          </a:p>
          <a:p>
            <a:pPr algn="l">
              <a:defRPr sz="1500"/>
            </a:pPr>
            <a:r>
              <a:rPr dirty="0"/>
              <a:t>Preview the text</a:t>
            </a:r>
            <a:br>
              <a:rPr dirty="0"/>
            </a:br>
            <a:r>
              <a:rPr dirty="0"/>
              <a:t>Title • headings • summary • visuals</a:t>
            </a:r>
          </a:p>
        </p:txBody>
      </p:sp>
      <p:sp>
        <p:nvSpPr>
          <p:cNvPr id="5" name="Rectangle 4"/>
          <p:cNvSpPr/>
          <p:nvPr/>
        </p:nvSpPr>
        <p:spPr>
          <a:xfrm>
            <a:off x="2788920" y="1828800"/>
            <a:ext cx="2011680" cy="3383280"/>
          </a:xfrm>
          <a:prstGeom prst="rect">
            <a:avLst/>
          </a:prstGeom>
        </p:spPr>
        <p:style>
          <a:lnRef idx="1">
            <a:schemeClr val="accent1"/>
          </a:lnRef>
          <a:fillRef idx="3">
            <a:schemeClr val="accent1"/>
          </a:fillRef>
          <a:effectRef idx="2">
            <a:schemeClr val="accent1"/>
          </a:effectRef>
          <a:fontRef idx="minor">
            <a:schemeClr val="lt1"/>
          </a:fontRef>
        </p:style>
        <p:txBody>
          <a:bodyPr lIns="137160" tIns="182880" rIns="137160" rtlCol="0" anchor="ctr"/>
          <a:lstStyle/>
          <a:p>
            <a:pPr algn="l">
              <a:defRPr sz="2600" b="1"/>
            </a:pPr>
            <a:r>
              <a:rPr dirty="0"/>
              <a:t>2</a:t>
            </a:r>
          </a:p>
          <a:p>
            <a:pPr algn="l">
              <a:defRPr sz="2000" b="1"/>
            </a:pPr>
            <a:r>
              <a:rPr dirty="0"/>
              <a:t>QUESTION</a:t>
            </a:r>
          </a:p>
          <a:p>
            <a:pPr algn="l">
              <a:defRPr sz="1500"/>
            </a:pPr>
            <a:r>
              <a:rPr dirty="0"/>
              <a:t>Ask what you want</a:t>
            </a:r>
            <a:br>
              <a:rPr dirty="0"/>
            </a:br>
            <a:r>
              <a:rPr dirty="0"/>
              <a:t>to discover</a:t>
            </a:r>
          </a:p>
        </p:txBody>
      </p:sp>
      <p:sp>
        <p:nvSpPr>
          <p:cNvPr id="6" name="Rectangle 5"/>
          <p:cNvSpPr/>
          <p:nvPr/>
        </p:nvSpPr>
        <p:spPr>
          <a:xfrm>
            <a:off x="5074920" y="1828800"/>
            <a:ext cx="2011680" cy="3383280"/>
          </a:xfrm>
          <a:prstGeom prst="rect">
            <a:avLst/>
          </a:prstGeom>
        </p:spPr>
        <p:style>
          <a:lnRef idx="1">
            <a:schemeClr val="accent1"/>
          </a:lnRef>
          <a:fillRef idx="3">
            <a:schemeClr val="accent1"/>
          </a:fillRef>
          <a:effectRef idx="2">
            <a:schemeClr val="accent1"/>
          </a:effectRef>
          <a:fontRef idx="minor">
            <a:schemeClr val="lt1"/>
          </a:fontRef>
        </p:style>
        <p:txBody>
          <a:bodyPr lIns="137160" tIns="182880" rIns="137160" rtlCol="0" anchor="ctr"/>
          <a:lstStyle/>
          <a:p>
            <a:pPr algn="l">
              <a:defRPr sz="2600" b="1"/>
            </a:pPr>
            <a:r>
              <a:rPr dirty="0"/>
              <a:t>3</a:t>
            </a:r>
          </a:p>
          <a:p>
            <a:pPr algn="l">
              <a:defRPr sz="2000" b="1"/>
            </a:pPr>
            <a:r>
              <a:rPr dirty="0"/>
              <a:t>READ</a:t>
            </a:r>
          </a:p>
          <a:p>
            <a:pPr algn="l">
              <a:defRPr sz="1500"/>
            </a:pPr>
            <a:r>
              <a:rPr dirty="0"/>
              <a:t>Read actively</a:t>
            </a:r>
            <a:br>
              <a:rPr dirty="0"/>
            </a:br>
            <a:r>
              <a:rPr dirty="0"/>
              <a:t>Focus on main ideas</a:t>
            </a:r>
          </a:p>
        </p:txBody>
      </p:sp>
      <p:sp>
        <p:nvSpPr>
          <p:cNvPr id="7" name="Rectangle 6"/>
          <p:cNvSpPr/>
          <p:nvPr/>
        </p:nvSpPr>
        <p:spPr>
          <a:xfrm>
            <a:off x="7360920" y="1828800"/>
            <a:ext cx="2011680" cy="3383280"/>
          </a:xfrm>
          <a:prstGeom prst="rect">
            <a:avLst/>
          </a:prstGeom>
        </p:spPr>
        <p:style>
          <a:lnRef idx="1">
            <a:schemeClr val="accent1"/>
          </a:lnRef>
          <a:fillRef idx="3">
            <a:schemeClr val="accent1"/>
          </a:fillRef>
          <a:effectRef idx="2">
            <a:schemeClr val="accent1"/>
          </a:effectRef>
          <a:fontRef idx="minor">
            <a:schemeClr val="lt1"/>
          </a:fontRef>
        </p:style>
        <p:txBody>
          <a:bodyPr lIns="137160" tIns="182880" rIns="137160" rtlCol="0" anchor="ctr"/>
          <a:lstStyle/>
          <a:p>
            <a:pPr algn="l">
              <a:defRPr sz="2600" b="1"/>
            </a:pPr>
            <a:r>
              <a:t>4</a:t>
            </a:r>
          </a:p>
          <a:p>
            <a:pPr algn="l">
              <a:defRPr sz="2000" b="1"/>
            </a:pPr>
            <a:r>
              <a:t>RECITE</a:t>
            </a:r>
          </a:p>
          <a:p>
            <a:pPr algn="l">
              <a:defRPr sz="1500"/>
            </a:pPr>
            <a:r>
              <a:t>Close the book</a:t>
            </a:r>
            <a:br/>
            <a:r>
              <a:t>Explain it in your own words</a:t>
            </a:r>
          </a:p>
        </p:txBody>
      </p:sp>
      <p:sp>
        <p:nvSpPr>
          <p:cNvPr id="8" name="Rectangle 7"/>
          <p:cNvSpPr/>
          <p:nvPr/>
        </p:nvSpPr>
        <p:spPr>
          <a:xfrm>
            <a:off x="9646920" y="1828800"/>
            <a:ext cx="2011680" cy="3383280"/>
          </a:xfrm>
          <a:prstGeom prst="rect">
            <a:avLst/>
          </a:prstGeom>
        </p:spPr>
        <p:style>
          <a:lnRef idx="1">
            <a:schemeClr val="accent1"/>
          </a:lnRef>
          <a:fillRef idx="3">
            <a:schemeClr val="accent1"/>
          </a:fillRef>
          <a:effectRef idx="2">
            <a:schemeClr val="accent1"/>
          </a:effectRef>
          <a:fontRef idx="minor">
            <a:schemeClr val="lt1"/>
          </a:fontRef>
        </p:style>
        <p:txBody>
          <a:bodyPr lIns="137160" tIns="182880" rIns="137160" rtlCol="0" anchor="ctr"/>
          <a:lstStyle/>
          <a:p>
            <a:pPr algn="l">
              <a:defRPr sz="2600" b="1"/>
            </a:pPr>
            <a:r>
              <a:t>5</a:t>
            </a:r>
          </a:p>
          <a:p>
            <a:pPr algn="l">
              <a:defRPr sz="2000" b="1"/>
            </a:pPr>
            <a:r>
              <a:t>REVIEW</a:t>
            </a:r>
          </a:p>
          <a:p>
            <a:pPr algn="l">
              <a:defRPr sz="1500"/>
            </a:pPr>
            <a:r>
              <a:t>Test yourself</a:t>
            </a:r>
            <a:br/>
            <a:r>
              <a:t>Check what you remember</a:t>
            </a:r>
          </a:p>
        </p:txBody>
      </p:sp>
      <p:sp>
        <p:nvSpPr>
          <p:cNvPr id="9" name="TextBox 8"/>
          <p:cNvSpPr txBox="1"/>
          <p:nvPr/>
        </p:nvSpPr>
        <p:spPr>
          <a:xfrm>
            <a:off x="914400" y="5623560"/>
            <a:ext cx="10393038" cy="400110"/>
          </a:xfrm>
          <a:prstGeom prst="rect">
            <a:avLst/>
          </a:prstGeom>
          <a:noFill/>
        </p:spPr>
        <p:txBody>
          <a:bodyPr wrap="none">
            <a:spAutoFit/>
          </a:bodyPr>
          <a:lstStyle/>
          <a:p>
            <a:pPr algn="l">
              <a:defRPr sz="1900" b="1"/>
            </a:pPr>
            <a:r>
              <a:rPr sz="2000" dirty="0"/>
              <a:t>Think of SQ3R as a conversation with the text:  Preview → Ask → Read → Explain → Check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B04A94-DBCA-157E-AC9B-5B1104116810}"/>
              </a:ext>
            </a:extLst>
          </p:cNvPr>
          <p:cNvSpPr txBox="1"/>
          <p:nvPr/>
        </p:nvSpPr>
        <p:spPr>
          <a:xfrm>
            <a:off x="375044" y="151179"/>
            <a:ext cx="11441912" cy="6555641"/>
          </a:xfrm>
          <a:prstGeom prst="rect">
            <a:avLst/>
          </a:prstGeom>
          <a:noFill/>
        </p:spPr>
        <p:txBody>
          <a:bodyPr wrap="square">
            <a:spAutoFit/>
          </a:bodyPr>
          <a:lstStyle/>
          <a:p>
            <a:pPr algn="ctr"/>
            <a:r>
              <a:rPr lang="en-US" sz="2100" dirty="0"/>
              <a:t>When Forests Disappear</a:t>
            </a:r>
          </a:p>
          <a:p>
            <a:pPr algn="just"/>
            <a:endParaRPr lang="en-US" sz="2100" dirty="0"/>
          </a:p>
          <a:p>
            <a:pPr algn="just"/>
            <a:r>
              <a:rPr lang="en-US" sz="2100" dirty="0"/>
              <a:t>Forests are often described as the lungs of the planet, but their importance extends far beyond the production of oxygen. Forest ecosystems regulate water cycles, protect soil from erosion, store carbon, and provide habitats for countless species. They also support the livelihoods of millions of people who depend on forests for food, medicine, fuel, and income. Despite these benefits, forests continue to disappear in many parts of the world because of agriculture, mining, urban expansion, and commercial logging. Deforestation does not simply remove trees; it can disturb an entire ecological system. When trees are cleared, rainfall may wash away fertile soil, rivers can become polluted with sediment, and local temperatures may rise. Animals that depend on particular trees or forest habitats may be forced to migrate or may fail to survive. The loss of biodiversity can then affect other species, creating consequences that are difficult to predict. Some argue that forests must be protected regardless of economic cost. Others point out that communities and developing economies need land and natural resources to improve living standards. The real challenge, therefore, is not merely to stop human activity but to find ways of meeting human needs without destroying the ecological systems on which those needs ultimately depend. Sustainable forestry, reforestation, protected areas, and responsible land-use planning can help achieve this balance. However, such measures require long-term thinking. A forest that takes decades to recover cannot be treated as though it were an unlimited resource. Protecting forests ultimately requires society to </a:t>
            </a:r>
            <a:r>
              <a:rPr lang="en-US" sz="2100" dirty="0" err="1"/>
              <a:t>recognise</a:t>
            </a:r>
            <a:r>
              <a:rPr lang="en-US" sz="2100" dirty="0"/>
              <a:t> that economic progress and environmental health are not necessarily opposing goals; when managed wisely, they can support each other.</a:t>
            </a:r>
            <a:endParaRPr lang="en-GB" sz="2100" dirty="0"/>
          </a:p>
        </p:txBody>
      </p:sp>
    </p:spTree>
    <p:extLst>
      <p:ext uri="{BB962C8B-B14F-4D97-AF65-F5344CB8AC3E}">
        <p14:creationId xmlns:p14="http://schemas.microsoft.com/office/powerpoint/2010/main" val="20729511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2A020-24B4-20A2-79FC-187D16B642D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E1F1A78-FCF9-B353-F89A-C87051F614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338537" cy="6858000"/>
          </a:xfrm>
          <a:prstGeom prst="rect">
            <a:avLst/>
          </a:prstGeom>
        </p:spPr>
      </p:pic>
    </p:spTree>
    <p:extLst>
      <p:ext uri="{BB962C8B-B14F-4D97-AF65-F5344CB8AC3E}">
        <p14:creationId xmlns:p14="http://schemas.microsoft.com/office/powerpoint/2010/main" val="3887952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01BBD-D74B-6778-6C7F-C6121D0C20F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C172AD7-725A-41D0-59E3-EAA0C53AAC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03218"/>
            <a:ext cx="12023124" cy="4451563"/>
          </a:xfrm>
          <a:prstGeom prst="rect">
            <a:avLst/>
          </a:prstGeom>
        </p:spPr>
      </p:pic>
    </p:spTree>
    <p:extLst>
      <p:ext uri="{BB962C8B-B14F-4D97-AF65-F5344CB8AC3E}">
        <p14:creationId xmlns:p14="http://schemas.microsoft.com/office/powerpoint/2010/main" val="30356766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C81F7B-D94D-E9DA-679C-0AE635C9447F}"/>
              </a:ext>
            </a:extLst>
          </p:cNvPr>
          <p:cNvSpPr txBox="1"/>
          <p:nvPr/>
        </p:nvSpPr>
        <p:spPr>
          <a:xfrm>
            <a:off x="700731" y="1222707"/>
            <a:ext cx="10790538" cy="3970318"/>
          </a:xfrm>
          <a:prstGeom prst="rect">
            <a:avLst/>
          </a:prstGeom>
          <a:noFill/>
        </p:spPr>
        <p:txBody>
          <a:bodyPr wrap="square">
            <a:spAutoFit/>
          </a:bodyPr>
          <a:lstStyle/>
          <a:p>
            <a:pPr algn="just"/>
            <a:r>
              <a:rPr lang="en-GB" sz="2800" dirty="0"/>
              <a:t>Universities should encourage students to walk between classes whenever possible. Walking provides students with a simple way to remain physically active during a busy academic day</a:t>
            </a:r>
            <a:r>
              <a:rPr lang="en-GB" sz="2800" b="1" dirty="0"/>
              <a:t>.</a:t>
            </a:r>
            <a:r>
              <a:rPr lang="en-GB" sz="2800" dirty="0"/>
              <a:t> For example, a student who walks across campus several times a day may accumulate a considerable amount of physical activity without setting aside a separate hour for exercise. This matters because students often say that they do not have enough time for exercise</a:t>
            </a:r>
            <a:r>
              <a:rPr lang="en-GB" sz="2800" b="1" dirty="0"/>
              <a:t>.</a:t>
            </a:r>
            <a:r>
              <a:rPr lang="en-GB" sz="2800" dirty="0"/>
              <a:t> Walking therefore turns an unavoidable part of university life—moving from one classroom to another—into an opportunity for physical activity.</a:t>
            </a:r>
          </a:p>
        </p:txBody>
      </p:sp>
    </p:spTree>
    <p:extLst>
      <p:ext uri="{BB962C8B-B14F-4D97-AF65-F5344CB8AC3E}">
        <p14:creationId xmlns:p14="http://schemas.microsoft.com/office/powerpoint/2010/main" val="12489362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337E40-EF27-5003-06D6-B1A6B475F51A}"/>
              </a:ext>
            </a:extLst>
          </p:cNvPr>
          <p:cNvSpPr txBox="1"/>
          <p:nvPr/>
        </p:nvSpPr>
        <p:spPr>
          <a:xfrm>
            <a:off x="819829" y="612844"/>
            <a:ext cx="10552341" cy="5632311"/>
          </a:xfrm>
          <a:prstGeom prst="rect">
            <a:avLst/>
          </a:prstGeom>
          <a:noFill/>
        </p:spPr>
        <p:txBody>
          <a:bodyPr wrap="square">
            <a:spAutoFit/>
          </a:bodyPr>
          <a:lstStyle/>
          <a:p>
            <a:pPr algn="just"/>
            <a:r>
              <a:rPr lang="en-GB" sz="2400" dirty="0"/>
              <a:t>1. </a:t>
            </a:r>
          </a:p>
          <a:p>
            <a:pPr algn="just"/>
            <a:r>
              <a:rPr lang="en-GB" sz="2400" dirty="0"/>
              <a:t>Universities should encourage students to participate in extracurricular activities. These activities help students develop skills that cannot always be learned in the classroom. For example, students who participate in clubs often learn how to work with people who have different opinions and personalities. These experiences develop communication, teamwork and leadership skills, which can be valuable in professional life.</a:t>
            </a:r>
          </a:p>
          <a:p>
            <a:pPr algn="just"/>
            <a:endParaRPr lang="en-GB" sz="2400" dirty="0"/>
          </a:p>
          <a:p>
            <a:pPr algn="just"/>
            <a:r>
              <a:rPr lang="en-GB" sz="2400" dirty="0"/>
              <a:t>2.</a:t>
            </a:r>
          </a:p>
          <a:p>
            <a:pPr algn="just"/>
            <a:r>
              <a:rPr lang="en-GB" sz="2400" dirty="0"/>
              <a:t>Many students use their phones while studying. They check messages, watch short videos and respond to social media notifications. For example, a student may intend to check one message but end up spending twenty minutes scrolling through social media. These interruptions break concentration and make it harder to return to the original task. Students should therefore keep their phones away when they need to concentrate on important academic work.</a:t>
            </a:r>
          </a:p>
        </p:txBody>
      </p:sp>
    </p:spTree>
    <p:extLst>
      <p:ext uri="{BB962C8B-B14F-4D97-AF65-F5344CB8AC3E}">
        <p14:creationId xmlns:p14="http://schemas.microsoft.com/office/powerpoint/2010/main" val="34015098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7D5111-305C-3AFB-0506-33CD45E6F6ED}"/>
              </a:ext>
            </a:extLst>
          </p:cNvPr>
          <p:cNvSpPr txBox="1"/>
          <p:nvPr/>
        </p:nvSpPr>
        <p:spPr>
          <a:xfrm>
            <a:off x="990599" y="1722618"/>
            <a:ext cx="10583333" cy="2308324"/>
          </a:xfrm>
          <a:prstGeom prst="rect">
            <a:avLst/>
          </a:prstGeom>
          <a:noFill/>
        </p:spPr>
        <p:txBody>
          <a:bodyPr wrap="square">
            <a:spAutoFit/>
          </a:bodyPr>
          <a:lstStyle/>
          <a:p>
            <a:r>
              <a:rPr lang="en-GB" sz="2400" dirty="0"/>
              <a:t>Rahul reached the railway station at 7:15 in the morning. The platform was already crowded, and several passengers were waiting near the entrance. He bought a cup of tea and checked the electronic display. His train was delayed by twenty minutes. He called his friend, who was waiting for him at the other end of the city, and told him about the delay. A few minutes later, Rahul found a seat on a bench and opened his book.</a:t>
            </a:r>
          </a:p>
        </p:txBody>
      </p:sp>
    </p:spTree>
    <p:extLst>
      <p:ext uri="{BB962C8B-B14F-4D97-AF65-F5344CB8AC3E}">
        <p14:creationId xmlns:p14="http://schemas.microsoft.com/office/powerpoint/2010/main" val="22162355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672DB8-2619-45F1-84CA-0C2CA409A666}"/>
              </a:ext>
            </a:extLst>
          </p:cNvPr>
          <p:cNvSpPr txBox="1"/>
          <p:nvPr/>
        </p:nvSpPr>
        <p:spPr>
          <a:xfrm>
            <a:off x="918633" y="1343959"/>
            <a:ext cx="10354734" cy="2308324"/>
          </a:xfrm>
          <a:prstGeom prst="rect">
            <a:avLst/>
          </a:prstGeom>
          <a:noFill/>
        </p:spPr>
        <p:txBody>
          <a:bodyPr wrap="square">
            <a:spAutoFit/>
          </a:bodyPr>
          <a:lstStyle/>
          <a:p>
            <a:pPr algn="just"/>
            <a:r>
              <a:rPr lang="en-GB" sz="2400" dirty="0">
                <a:latin typeface="+mj-lt"/>
              </a:rPr>
              <a:t>Rahul reached the railway station at 7:15 in the morning. The platform was already crowded, and several passengers were waiting near the entrance. Public transport can be stressful when passengers have no reliable information about delays. Rahul checked the electronic display and discovered that his train was delayed by twenty minutes. He called his friend and explained the situation. The lack of clear information had already caused confusion about when he would arrive.</a:t>
            </a:r>
          </a:p>
        </p:txBody>
      </p:sp>
      <p:sp>
        <p:nvSpPr>
          <p:cNvPr id="4" name="TextBox 3">
            <a:extLst>
              <a:ext uri="{FF2B5EF4-FFF2-40B4-BE49-F238E27FC236}">
                <a16:creationId xmlns:a16="http://schemas.microsoft.com/office/drawing/2014/main" id="{A7DB684B-DE9B-BE6A-B3AC-144939B77EAA}"/>
              </a:ext>
            </a:extLst>
          </p:cNvPr>
          <p:cNvSpPr txBox="1"/>
          <p:nvPr/>
        </p:nvSpPr>
        <p:spPr>
          <a:xfrm>
            <a:off x="4199467" y="5943600"/>
            <a:ext cx="7586134" cy="369332"/>
          </a:xfrm>
          <a:prstGeom prst="rect">
            <a:avLst/>
          </a:prstGeom>
          <a:noFill/>
        </p:spPr>
        <p:txBody>
          <a:bodyPr wrap="square" rtlCol="0">
            <a:spAutoFit/>
          </a:bodyPr>
          <a:lstStyle/>
          <a:p>
            <a:r>
              <a:rPr lang="en-IN" dirty="0"/>
              <a:t>************************************************************</a:t>
            </a:r>
            <a:endParaRPr lang="en-GB" dirty="0"/>
          </a:p>
        </p:txBody>
      </p:sp>
    </p:spTree>
    <p:extLst>
      <p:ext uri="{BB962C8B-B14F-4D97-AF65-F5344CB8AC3E}">
        <p14:creationId xmlns:p14="http://schemas.microsoft.com/office/powerpoint/2010/main" val="25497423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E9525D-8E9B-485C-4211-480248070C65}"/>
              </a:ext>
            </a:extLst>
          </p:cNvPr>
          <p:cNvSpPr txBox="1"/>
          <p:nvPr/>
        </p:nvSpPr>
        <p:spPr>
          <a:xfrm>
            <a:off x="1033825" y="511629"/>
            <a:ext cx="7491153" cy="1877437"/>
          </a:xfrm>
          <a:prstGeom prst="rect">
            <a:avLst/>
          </a:prstGeom>
          <a:noFill/>
        </p:spPr>
        <p:txBody>
          <a:bodyPr wrap="none" rtlCol="0">
            <a:spAutoFit/>
          </a:bodyPr>
          <a:lstStyle/>
          <a:p>
            <a:r>
              <a:rPr lang="en-IN" sz="2800" dirty="0">
                <a:solidFill>
                  <a:srgbClr val="C00000"/>
                </a:solidFill>
              </a:rPr>
              <a:t>Audience</a:t>
            </a:r>
          </a:p>
          <a:p>
            <a:endParaRPr lang="en-IN" sz="2800" dirty="0">
              <a:solidFill>
                <a:srgbClr val="C00000"/>
              </a:solidFill>
            </a:endParaRPr>
          </a:p>
          <a:p>
            <a:r>
              <a:rPr lang="en-GB" sz="2000" dirty="0"/>
              <a:t>Might you have more than one audience?</a:t>
            </a:r>
          </a:p>
          <a:p>
            <a:r>
              <a:rPr lang="en-GB" sz="2000" dirty="0"/>
              <a:t>What is most important to them?</a:t>
            </a:r>
          </a:p>
          <a:p>
            <a:r>
              <a:rPr lang="en-GB" sz="2000" dirty="0"/>
              <a:t>What do you want your audience to think, learn, or assume about you? </a:t>
            </a:r>
            <a:endParaRPr lang="en-GB" sz="3200" dirty="0">
              <a:solidFill>
                <a:srgbClr val="C00000"/>
              </a:solidFill>
            </a:endParaRPr>
          </a:p>
        </p:txBody>
      </p:sp>
      <p:pic>
        <p:nvPicPr>
          <p:cNvPr id="5" name="Picture 4">
            <a:extLst>
              <a:ext uri="{FF2B5EF4-FFF2-40B4-BE49-F238E27FC236}">
                <a16:creationId xmlns:a16="http://schemas.microsoft.com/office/drawing/2014/main" id="{08AB9B4F-4EE0-15F5-6B5D-7078A14725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751" y="3850570"/>
            <a:ext cx="10813698" cy="2173712"/>
          </a:xfrm>
          <a:prstGeom prst="rect">
            <a:avLst/>
          </a:prstGeom>
        </p:spPr>
      </p:pic>
      <p:sp>
        <p:nvSpPr>
          <p:cNvPr id="6" name="TextBox 5">
            <a:extLst>
              <a:ext uri="{FF2B5EF4-FFF2-40B4-BE49-F238E27FC236}">
                <a16:creationId xmlns:a16="http://schemas.microsoft.com/office/drawing/2014/main" id="{3DAC1E7B-F724-8510-9AEE-A84D90121475}"/>
              </a:ext>
            </a:extLst>
          </p:cNvPr>
          <p:cNvSpPr txBox="1"/>
          <p:nvPr/>
        </p:nvSpPr>
        <p:spPr>
          <a:xfrm>
            <a:off x="1033825" y="3046555"/>
            <a:ext cx="5814123" cy="523220"/>
          </a:xfrm>
          <a:prstGeom prst="rect">
            <a:avLst/>
          </a:prstGeom>
          <a:noFill/>
        </p:spPr>
        <p:txBody>
          <a:bodyPr wrap="square" rtlCol="0">
            <a:spAutoFit/>
          </a:bodyPr>
          <a:lstStyle/>
          <a:p>
            <a:r>
              <a:rPr lang="en-IN" sz="2800" dirty="0">
                <a:solidFill>
                  <a:srgbClr val="C00000"/>
                </a:solidFill>
              </a:rPr>
              <a:t>Purpose</a:t>
            </a:r>
            <a:endParaRPr lang="en-GB" dirty="0">
              <a:solidFill>
                <a:srgbClr val="C00000"/>
              </a:solidFill>
            </a:endParaRPr>
          </a:p>
        </p:txBody>
      </p:sp>
    </p:spTree>
    <p:extLst>
      <p:ext uri="{BB962C8B-B14F-4D97-AF65-F5344CB8AC3E}">
        <p14:creationId xmlns:p14="http://schemas.microsoft.com/office/powerpoint/2010/main" val="5530253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B15BCB-D84E-BD3E-4405-D966C6AA31D6}"/>
              </a:ext>
            </a:extLst>
          </p:cNvPr>
          <p:cNvSpPr txBox="1"/>
          <p:nvPr/>
        </p:nvSpPr>
        <p:spPr>
          <a:xfrm>
            <a:off x="630220" y="590151"/>
            <a:ext cx="11083962" cy="5262979"/>
          </a:xfrm>
          <a:prstGeom prst="rect">
            <a:avLst/>
          </a:prstGeom>
          <a:noFill/>
        </p:spPr>
        <p:txBody>
          <a:bodyPr wrap="square">
            <a:spAutoFit/>
          </a:bodyPr>
          <a:lstStyle/>
          <a:p>
            <a:pPr>
              <a:buNone/>
            </a:pPr>
            <a:r>
              <a:rPr lang="en-GB" sz="2400" b="1" dirty="0"/>
              <a:t>				Campus Cafeteria Notice</a:t>
            </a:r>
          </a:p>
          <a:p>
            <a:pPr algn="just">
              <a:buNone/>
            </a:pPr>
            <a:r>
              <a:rPr lang="en-GB" sz="2400" dirty="0"/>
              <a:t>From Monday, the university cafeteria will introduce a reusable-container system. Students purchasing takeaway meals will receive their food in reusable containers and will be required to return the containers to designated collection points. A refundable deposit will be charged at the time of purchase. The system is expected to reduce the amount of disposable packaging generated on campus. Students are requested to return containers within 48 hours so that they can be cleaned and used again.</a:t>
            </a:r>
          </a:p>
          <a:p>
            <a:pPr algn="just">
              <a:buNone/>
            </a:pPr>
            <a:endParaRPr lang="en-GB" sz="2400" dirty="0"/>
          </a:p>
          <a:p>
            <a:pPr>
              <a:buNone/>
            </a:pPr>
            <a:r>
              <a:rPr lang="en-GB" sz="2400" b="1" dirty="0"/>
              <a:t>Questions</a:t>
            </a:r>
          </a:p>
          <a:p>
            <a:pPr marL="342900" lvl="0" indent="-342900">
              <a:buFont typeface="+mj-lt"/>
              <a:buAutoNum type="arabicPeriod"/>
            </a:pPr>
            <a:r>
              <a:rPr lang="en-GB" sz="2400" dirty="0"/>
              <a:t>Who is the likely </a:t>
            </a:r>
            <a:r>
              <a:rPr lang="en-GB" sz="2400" b="1" dirty="0"/>
              <a:t>audience</a:t>
            </a:r>
            <a:r>
              <a:rPr lang="en-GB" sz="2400" dirty="0"/>
              <a:t>? </a:t>
            </a:r>
          </a:p>
          <a:p>
            <a:pPr marL="342900" lvl="0" indent="-342900">
              <a:buFont typeface="+mj-lt"/>
              <a:buAutoNum type="arabicPeriod"/>
            </a:pPr>
            <a:r>
              <a:rPr lang="en-GB" sz="2400" dirty="0"/>
              <a:t>Who is </a:t>
            </a:r>
            <a:r>
              <a:rPr lang="en-GB" sz="2400" b="1" dirty="0"/>
              <a:t>not</a:t>
            </a:r>
            <a:r>
              <a:rPr lang="en-GB" sz="2400" dirty="0"/>
              <a:t> the primary audience? </a:t>
            </a:r>
          </a:p>
          <a:p>
            <a:pPr marL="342900" lvl="0" indent="-342900">
              <a:buFont typeface="+mj-lt"/>
              <a:buAutoNum type="arabicPeriod"/>
            </a:pPr>
            <a:r>
              <a:rPr lang="en-GB" sz="2400" dirty="0"/>
              <a:t>What is the writer trying to achieve? </a:t>
            </a:r>
          </a:p>
          <a:p>
            <a:pPr marL="342900" lvl="0" indent="-342900">
              <a:buFont typeface="+mj-lt"/>
              <a:buAutoNum type="arabicPeriod"/>
            </a:pPr>
            <a:r>
              <a:rPr lang="en-GB" sz="2400" dirty="0"/>
              <a:t>Is the purpose primarily:  inform?  persuade?  criticize?  warn?  entertain? </a:t>
            </a:r>
          </a:p>
          <a:p>
            <a:pPr marL="342900" lvl="0" indent="-342900">
              <a:buFont typeface="+mj-lt"/>
              <a:buAutoNum type="arabicPeriod"/>
            </a:pPr>
            <a:r>
              <a:rPr lang="en-GB" sz="2400" dirty="0"/>
              <a:t>Which words reveal the purpose?</a:t>
            </a:r>
          </a:p>
        </p:txBody>
      </p:sp>
    </p:spTree>
    <p:extLst>
      <p:ext uri="{BB962C8B-B14F-4D97-AF65-F5344CB8AC3E}">
        <p14:creationId xmlns:p14="http://schemas.microsoft.com/office/powerpoint/2010/main" val="24937151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4EE62D-95BC-243E-5072-6ECEBDA1EA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693" y="0"/>
            <a:ext cx="7147277" cy="6867875"/>
          </a:xfrm>
          <a:prstGeom prst="rect">
            <a:avLst/>
          </a:prstGeom>
        </p:spPr>
      </p:pic>
    </p:spTree>
    <p:extLst>
      <p:ext uri="{BB962C8B-B14F-4D97-AF65-F5344CB8AC3E}">
        <p14:creationId xmlns:p14="http://schemas.microsoft.com/office/powerpoint/2010/main" val="42595493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5F446CC-E751-1AA1-B969-6E4BD199B332}"/>
              </a:ext>
            </a:extLst>
          </p:cNvPr>
          <p:cNvSpPr txBox="1"/>
          <p:nvPr/>
        </p:nvSpPr>
        <p:spPr>
          <a:xfrm>
            <a:off x="1046199" y="557777"/>
            <a:ext cx="8306145" cy="1938992"/>
          </a:xfrm>
          <a:prstGeom prst="rect">
            <a:avLst/>
          </a:prstGeom>
          <a:noFill/>
        </p:spPr>
        <p:txBody>
          <a:bodyPr wrap="square">
            <a:spAutoFit/>
          </a:bodyPr>
          <a:lstStyle/>
          <a:p>
            <a:r>
              <a:rPr lang="en-GB" sz="2400" b="0" i="0" dirty="0">
                <a:solidFill>
                  <a:srgbClr val="003333"/>
                </a:solidFill>
                <a:effectLst/>
                <a:latin typeface="times new roman" panose="02020603050405020304" pitchFamily="18" charset="0"/>
              </a:rPr>
              <a:t>A)    </a:t>
            </a:r>
            <a:r>
              <a:rPr lang="en-GB" sz="2400" b="0" i="0" dirty="0">
                <a:solidFill>
                  <a:srgbClr val="003333"/>
                </a:solidFill>
                <a:effectLst/>
                <a:latin typeface="times new roman, times, serif"/>
              </a:rPr>
              <a:t>cause and effect</a:t>
            </a:r>
          </a:p>
          <a:p>
            <a:r>
              <a:rPr lang="en-GB" sz="2400" b="0" i="0" dirty="0">
                <a:solidFill>
                  <a:srgbClr val="003333"/>
                </a:solidFill>
                <a:effectLst/>
                <a:latin typeface="times new roman" panose="02020603050405020304" pitchFamily="18" charset="0"/>
              </a:rPr>
              <a:t>B)    </a:t>
            </a:r>
            <a:r>
              <a:rPr lang="en-GB" sz="2400" b="0" i="0" dirty="0">
                <a:solidFill>
                  <a:srgbClr val="003333"/>
                </a:solidFill>
                <a:effectLst/>
                <a:latin typeface="times new roman, times, serif"/>
              </a:rPr>
              <a:t>compare/contrast</a:t>
            </a:r>
            <a:r>
              <a:rPr lang="en-GB" sz="2400" b="0" i="0" dirty="0">
                <a:solidFill>
                  <a:srgbClr val="003333"/>
                </a:solidFill>
                <a:effectLst/>
                <a:latin typeface="times new roman" panose="02020603050405020304" pitchFamily="18" charset="0"/>
              </a:rPr>
              <a:t>.</a:t>
            </a:r>
            <a:br>
              <a:rPr lang="en-GB" sz="2400" b="0" i="0" dirty="0">
                <a:solidFill>
                  <a:srgbClr val="003333"/>
                </a:solidFill>
                <a:effectLst/>
                <a:latin typeface="times new roman" panose="02020603050405020304" pitchFamily="18" charset="0"/>
              </a:rPr>
            </a:br>
            <a:r>
              <a:rPr lang="en-GB" sz="2400" b="0" i="0" dirty="0">
                <a:solidFill>
                  <a:srgbClr val="003333"/>
                </a:solidFill>
                <a:effectLst/>
                <a:latin typeface="times new roman" panose="02020603050405020304" pitchFamily="18" charset="0"/>
              </a:rPr>
              <a:t>C)    </a:t>
            </a:r>
            <a:r>
              <a:rPr lang="en-GB" sz="2400" b="0" i="0" dirty="0">
                <a:solidFill>
                  <a:srgbClr val="003333"/>
                </a:solidFill>
                <a:effectLst/>
                <a:latin typeface="times new roman, times, serif"/>
              </a:rPr>
              <a:t>example. </a:t>
            </a:r>
          </a:p>
          <a:p>
            <a:r>
              <a:rPr lang="en-GB" sz="2400" b="0" i="0" dirty="0">
                <a:solidFill>
                  <a:srgbClr val="003333"/>
                </a:solidFill>
                <a:effectLst/>
                <a:latin typeface="times new roman" panose="02020603050405020304" pitchFamily="18" charset="0"/>
              </a:rPr>
              <a:t>D)    </a:t>
            </a:r>
            <a:r>
              <a:rPr lang="en-GB" sz="2400" b="0" i="0" dirty="0">
                <a:solidFill>
                  <a:srgbClr val="003333"/>
                </a:solidFill>
                <a:effectLst/>
                <a:latin typeface="times new roman, times, serif"/>
              </a:rPr>
              <a:t>definition. </a:t>
            </a:r>
            <a:br>
              <a:rPr lang="en-GB" sz="2400" b="0" i="0" dirty="0">
                <a:solidFill>
                  <a:srgbClr val="003333"/>
                </a:solidFill>
                <a:effectLst/>
                <a:latin typeface="times new roman" panose="02020603050405020304" pitchFamily="18" charset="0"/>
              </a:rPr>
            </a:br>
            <a:r>
              <a:rPr lang="en-GB" sz="2400" b="0" i="0" dirty="0">
                <a:solidFill>
                  <a:srgbClr val="003333"/>
                </a:solidFill>
                <a:effectLst/>
                <a:latin typeface="times new roman" panose="02020603050405020304" pitchFamily="18" charset="0"/>
              </a:rPr>
              <a:t>E)    </a:t>
            </a:r>
            <a:r>
              <a:rPr lang="en-GB" sz="2400" b="0" i="0" dirty="0">
                <a:solidFill>
                  <a:srgbClr val="003333"/>
                </a:solidFill>
                <a:effectLst/>
                <a:latin typeface="times new roman, times, serif"/>
              </a:rPr>
              <a:t>sequential. </a:t>
            </a:r>
            <a:endParaRPr lang="en-GB" sz="2400" dirty="0"/>
          </a:p>
        </p:txBody>
      </p:sp>
      <p:sp>
        <p:nvSpPr>
          <p:cNvPr id="7" name="TextBox 6">
            <a:extLst>
              <a:ext uri="{FF2B5EF4-FFF2-40B4-BE49-F238E27FC236}">
                <a16:creationId xmlns:a16="http://schemas.microsoft.com/office/drawing/2014/main" id="{D0579D5E-F21B-F230-2629-86ED572F5E03}"/>
              </a:ext>
            </a:extLst>
          </p:cNvPr>
          <p:cNvSpPr txBox="1"/>
          <p:nvPr/>
        </p:nvSpPr>
        <p:spPr>
          <a:xfrm>
            <a:off x="310242" y="3429000"/>
            <a:ext cx="11642272" cy="2677656"/>
          </a:xfrm>
          <a:prstGeom prst="rect">
            <a:avLst/>
          </a:prstGeom>
          <a:noFill/>
        </p:spPr>
        <p:txBody>
          <a:bodyPr wrap="square">
            <a:spAutoFit/>
          </a:bodyPr>
          <a:lstStyle/>
          <a:p>
            <a:pPr marL="342900" lvl="0" indent="-342900" algn="l">
              <a:buFont typeface="Arial" panose="020B0604020202020204" pitchFamily="34" charset="0"/>
              <a:buChar char="•"/>
            </a:pPr>
            <a:r>
              <a:rPr lang="en-GB" sz="2400" b="0" i="0" dirty="0">
                <a:solidFill>
                  <a:srgbClr val="C00000"/>
                </a:solidFill>
                <a:effectLst/>
              </a:rPr>
              <a:t>word choice</a:t>
            </a:r>
            <a:r>
              <a:rPr lang="en-GB" sz="2400" b="0" i="0" dirty="0">
                <a:solidFill>
                  <a:srgbClr val="000000"/>
                </a:solidFill>
                <a:effectLst/>
              </a:rPr>
              <a:t>: note the powerful words -- what connotations or feelings are evoked by the use of certain words?</a:t>
            </a:r>
          </a:p>
          <a:p>
            <a:pPr marL="342900" lvl="0" indent="-342900" algn="l">
              <a:buFont typeface="Arial" panose="020B0604020202020204" pitchFamily="34" charset="0"/>
              <a:buChar char="•"/>
            </a:pPr>
            <a:r>
              <a:rPr lang="en-GB" sz="2400" b="0" i="0" dirty="0">
                <a:solidFill>
                  <a:srgbClr val="C00000"/>
                </a:solidFill>
                <a:effectLst/>
              </a:rPr>
              <a:t>word placement</a:t>
            </a:r>
            <a:r>
              <a:rPr lang="en-GB" sz="2400" b="0" i="0" dirty="0">
                <a:solidFill>
                  <a:srgbClr val="000000"/>
                </a:solidFill>
                <a:effectLst/>
              </a:rPr>
              <a:t>: what words introduce or conclude the idea discussed?</a:t>
            </a:r>
          </a:p>
          <a:p>
            <a:pPr marL="342900" lvl="0" indent="-342900" algn="l">
              <a:buFont typeface="Arial" panose="020B0604020202020204" pitchFamily="34" charset="0"/>
              <a:buChar char="•"/>
            </a:pPr>
            <a:r>
              <a:rPr lang="en-GB" sz="2400" b="0" i="0" dirty="0">
                <a:solidFill>
                  <a:srgbClr val="C00000"/>
                </a:solidFill>
                <a:effectLst/>
              </a:rPr>
              <a:t>emphasis</a:t>
            </a:r>
            <a:r>
              <a:rPr lang="en-GB" sz="2400" b="0" i="0" dirty="0">
                <a:solidFill>
                  <a:srgbClr val="000000"/>
                </a:solidFill>
                <a:effectLst/>
              </a:rPr>
              <a:t>: what points are emphasized? are words repeated? which sentences are more heavily weighted?</a:t>
            </a:r>
          </a:p>
          <a:p>
            <a:pPr marL="342900" lvl="0" indent="-342900" algn="l">
              <a:buFont typeface="Arial" panose="020B0604020202020204" pitchFamily="34" charset="0"/>
              <a:buChar char="•"/>
            </a:pPr>
            <a:r>
              <a:rPr lang="en-GB" sz="2400" b="0" i="0" dirty="0">
                <a:solidFill>
                  <a:srgbClr val="C00000"/>
                </a:solidFill>
                <a:effectLst/>
              </a:rPr>
              <a:t>organization:</a:t>
            </a:r>
            <a:r>
              <a:rPr lang="en-GB" sz="2400" b="0" i="0" dirty="0">
                <a:solidFill>
                  <a:srgbClr val="000000"/>
                </a:solidFill>
                <a:effectLst/>
              </a:rPr>
              <a:t>  what organizational structure is used? how does the structure affect the idea being discussed?</a:t>
            </a:r>
          </a:p>
        </p:txBody>
      </p:sp>
    </p:spTree>
    <p:extLst>
      <p:ext uri="{BB962C8B-B14F-4D97-AF65-F5344CB8AC3E}">
        <p14:creationId xmlns:p14="http://schemas.microsoft.com/office/powerpoint/2010/main" val="32483969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15001C-B15A-9227-7715-36460A98D484}"/>
              </a:ext>
            </a:extLst>
          </p:cNvPr>
          <p:cNvSpPr txBox="1"/>
          <p:nvPr/>
        </p:nvSpPr>
        <p:spPr>
          <a:xfrm>
            <a:off x="451756" y="569692"/>
            <a:ext cx="11653158" cy="6001643"/>
          </a:xfrm>
          <a:prstGeom prst="rect">
            <a:avLst/>
          </a:prstGeom>
          <a:noFill/>
        </p:spPr>
        <p:txBody>
          <a:bodyPr wrap="square">
            <a:spAutoFit/>
          </a:bodyPr>
          <a:lstStyle/>
          <a:p>
            <a:pPr algn="just"/>
            <a:r>
              <a:rPr lang="en-GB" sz="2400" b="0" i="0" dirty="0">
                <a:solidFill>
                  <a:srgbClr val="000000"/>
                </a:solidFill>
                <a:effectLst/>
                <a:latin typeface="times new roman" panose="02020603050405020304" pitchFamily="18" charset="0"/>
              </a:rPr>
              <a:t> 	The Romantic Period in literature resulted from the reaction to eighteenth-century rationalism in which writers tried to order their experiences with the world.  During the eighteenth century the emphasis was on logical conclusions and reason as shown in the study of physics and mathematics and reflected in the literature of the time.  The Romantics, on the other hand, turned away from these abstractions in </a:t>
            </a:r>
            <a:r>
              <a:rPr lang="en-GB" sz="2400" b="0" i="0" dirty="0" err="1">
                <a:solidFill>
                  <a:srgbClr val="000000"/>
                </a:solidFill>
                <a:effectLst/>
                <a:latin typeface="times new roman" panose="02020603050405020304" pitchFamily="18" charset="0"/>
              </a:rPr>
              <a:t>favor</a:t>
            </a:r>
            <a:r>
              <a:rPr lang="en-GB" sz="2400" b="0" i="0" dirty="0">
                <a:solidFill>
                  <a:srgbClr val="000000"/>
                </a:solidFill>
                <a:effectLst/>
                <a:latin typeface="times new roman" panose="02020603050405020304" pitchFamily="18" charset="0"/>
              </a:rPr>
              <a:t> of feelings and immediate experiences.  They turned their backs on the idea of people as cold, rational beings and portrayed them in all their complexity, warmth, and diversity as individuals.</a:t>
            </a:r>
            <a:br>
              <a:rPr lang="en-GB" sz="2400" dirty="0"/>
            </a:br>
            <a:br>
              <a:rPr lang="en-GB" sz="2400" dirty="0"/>
            </a:br>
            <a:r>
              <a:rPr lang="en-GB" sz="2400" b="0" i="0" dirty="0">
                <a:solidFill>
                  <a:srgbClr val="000000"/>
                </a:solidFill>
                <a:effectLst/>
                <a:latin typeface="times new roman" panose="02020603050405020304" pitchFamily="18" charset="0"/>
              </a:rPr>
              <a:t>  	</a:t>
            </a:r>
            <a:r>
              <a:rPr lang="en-GB" sz="2400" dirty="0">
                <a:solidFill>
                  <a:srgbClr val="000000"/>
                </a:solidFill>
                <a:latin typeface="times new roman" panose="02020603050405020304" pitchFamily="18" charset="0"/>
              </a:rPr>
              <a:t> </a:t>
            </a:r>
            <a:r>
              <a:rPr lang="en-GB" sz="2400" b="0" i="0" dirty="0">
                <a:solidFill>
                  <a:srgbClr val="000000"/>
                </a:solidFill>
                <a:effectLst/>
                <a:latin typeface="times new roman" panose="02020603050405020304" pitchFamily="18" charset="0"/>
              </a:rPr>
              <a:t>Individualism was stressed by Romantic authors and poets.  The individual was valued, not looked down on, even though he or she was of peasant stock.  In fact, many people in the upper classes went out into the countrysides to converse with those of "rustic and humble life."  Literature became concerned with everyday life, not just the lives of kings and queens.  Scenes of the family in a simple cottage and hearth, of shepherds and their flocks, and of labourers and their children working in factories were commonplace in Romantic literature.  Their feelings, memories, and imaginations suddenly seemed more real and important than those in more opulent surroundings.</a:t>
            </a:r>
            <a:endParaRPr lang="en-GB" sz="2400" dirty="0"/>
          </a:p>
        </p:txBody>
      </p:sp>
    </p:spTree>
    <p:extLst>
      <p:ext uri="{BB962C8B-B14F-4D97-AF65-F5344CB8AC3E}">
        <p14:creationId xmlns:p14="http://schemas.microsoft.com/office/powerpoint/2010/main" val="7999672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F391A7-0F3C-4BA8-3252-15580EA4D7CB}"/>
              </a:ext>
            </a:extLst>
          </p:cNvPr>
          <p:cNvSpPr txBox="1"/>
          <p:nvPr/>
        </p:nvSpPr>
        <p:spPr>
          <a:xfrm>
            <a:off x="674916" y="461073"/>
            <a:ext cx="10591799" cy="5847755"/>
          </a:xfrm>
          <a:prstGeom prst="rect">
            <a:avLst/>
          </a:prstGeom>
          <a:noFill/>
        </p:spPr>
        <p:txBody>
          <a:bodyPr wrap="square">
            <a:spAutoFit/>
          </a:bodyPr>
          <a:lstStyle/>
          <a:p>
            <a:pPr marL="0" marR="0" indent="0" algn="l">
              <a:buNone/>
            </a:pPr>
            <a:r>
              <a:rPr lang="en-GB" sz="2200" b="0" i="0" dirty="0">
                <a:solidFill>
                  <a:srgbClr val="FF0000"/>
                </a:solidFill>
                <a:effectLst/>
              </a:rPr>
              <a:t>1.  the author's purpose is –</a:t>
            </a:r>
          </a:p>
          <a:p>
            <a:pPr marL="0" marR="0" indent="0" algn="l">
              <a:buNone/>
            </a:pPr>
            <a:endParaRPr lang="en-GB" sz="2200" b="0" i="0" dirty="0">
              <a:solidFill>
                <a:srgbClr val="000000"/>
              </a:solidFill>
              <a:effectLst/>
            </a:endParaRPr>
          </a:p>
          <a:p>
            <a:pPr marL="0" marR="0" indent="0" algn="l" rtl="0">
              <a:buNone/>
            </a:pPr>
            <a:r>
              <a:rPr lang="en-GB" sz="2200" b="0" i="0" dirty="0">
                <a:solidFill>
                  <a:srgbClr val="000000"/>
                </a:solidFill>
                <a:effectLst/>
              </a:rPr>
              <a:t>A)  to describe the Romantic Period.</a:t>
            </a:r>
            <a:br>
              <a:rPr lang="en-GB" sz="2200" b="0" i="0" dirty="0">
                <a:solidFill>
                  <a:srgbClr val="000000"/>
                </a:solidFill>
                <a:effectLst/>
              </a:rPr>
            </a:br>
            <a:r>
              <a:rPr lang="en-GB" sz="2200" b="0" i="0" dirty="0">
                <a:solidFill>
                  <a:srgbClr val="000000"/>
                </a:solidFill>
                <a:effectLst/>
              </a:rPr>
              <a:t>B)  to contrast the Romantic Period with the literature of the eighteenth century.</a:t>
            </a:r>
            <a:br>
              <a:rPr lang="en-GB" sz="2200" b="0" i="0" dirty="0">
                <a:solidFill>
                  <a:srgbClr val="000000"/>
                </a:solidFill>
                <a:effectLst/>
              </a:rPr>
            </a:br>
            <a:r>
              <a:rPr lang="en-GB" sz="2200" b="0" i="0" dirty="0">
                <a:solidFill>
                  <a:srgbClr val="000000"/>
                </a:solidFill>
                <a:effectLst/>
              </a:rPr>
              <a:t>C)  to </a:t>
            </a:r>
            <a:r>
              <a:rPr lang="en-GB" sz="2200" b="0" i="0" dirty="0" err="1">
                <a:solidFill>
                  <a:srgbClr val="000000"/>
                </a:solidFill>
                <a:effectLst/>
              </a:rPr>
              <a:t>analyze</a:t>
            </a:r>
            <a:r>
              <a:rPr lang="en-GB" sz="2200" b="0" i="0" dirty="0">
                <a:solidFill>
                  <a:srgbClr val="000000"/>
                </a:solidFill>
                <a:effectLst/>
              </a:rPr>
              <a:t> literature of the Romantic Period.</a:t>
            </a:r>
            <a:br>
              <a:rPr lang="en-GB" sz="2200" b="0" i="0" dirty="0">
                <a:solidFill>
                  <a:srgbClr val="000000"/>
                </a:solidFill>
                <a:effectLst/>
              </a:rPr>
            </a:br>
            <a:r>
              <a:rPr lang="en-GB" sz="2200" b="0" i="0" dirty="0">
                <a:solidFill>
                  <a:srgbClr val="000000"/>
                </a:solidFill>
                <a:effectLst/>
              </a:rPr>
              <a:t>D)  to define just what the Romantic Period involved.</a:t>
            </a:r>
            <a:br>
              <a:rPr lang="en-GB" sz="2200" b="0" i="0" dirty="0">
                <a:solidFill>
                  <a:srgbClr val="000000"/>
                </a:solidFill>
                <a:effectLst/>
              </a:rPr>
            </a:br>
            <a:endParaRPr lang="en-GB" sz="2200" dirty="0"/>
          </a:p>
          <a:p>
            <a:pPr marL="0" marR="0" indent="0" algn="l">
              <a:buNone/>
            </a:pPr>
            <a:br>
              <a:rPr lang="en-GB" sz="2200" b="0" i="0" dirty="0">
                <a:solidFill>
                  <a:srgbClr val="000000"/>
                </a:solidFill>
                <a:effectLst/>
              </a:rPr>
            </a:br>
            <a:r>
              <a:rPr lang="en-GB" sz="2200" b="0" i="0" dirty="0">
                <a:solidFill>
                  <a:srgbClr val="000000"/>
                </a:solidFill>
                <a:effectLst/>
              </a:rPr>
              <a:t>2.  </a:t>
            </a:r>
            <a:r>
              <a:rPr lang="en-GB" sz="2200" b="0" i="0" dirty="0">
                <a:solidFill>
                  <a:srgbClr val="FF0000"/>
                </a:solidFill>
                <a:effectLst/>
              </a:rPr>
              <a:t>In developing the second paragraph, the organizational pattern used by the author could be described as –</a:t>
            </a:r>
          </a:p>
          <a:p>
            <a:pPr marL="0" marR="0" indent="0" algn="l" rtl="0">
              <a:buNone/>
            </a:pPr>
            <a:r>
              <a:rPr lang="en-GB" sz="2200" b="0" i="0" dirty="0">
                <a:solidFill>
                  <a:srgbClr val="000000"/>
                </a:solidFill>
                <a:effectLst/>
              </a:rPr>
              <a:t>A)  cause and effect. The first sentence states a cause and the remaining sentences of the paragraph are effects.</a:t>
            </a:r>
            <a:br>
              <a:rPr lang="en-GB" sz="2200" b="0" i="0" dirty="0">
                <a:solidFill>
                  <a:srgbClr val="000000"/>
                </a:solidFill>
                <a:effectLst/>
              </a:rPr>
            </a:br>
            <a:r>
              <a:rPr lang="en-GB" sz="2200" b="0" i="0" dirty="0">
                <a:solidFill>
                  <a:srgbClr val="000000"/>
                </a:solidFill>
                <a:effectLst/>
              </a:rPr>
              <a:t>B)  simple listing. The first sentence states the basis for listing other information as remaining sentences of the paragraph.</a:t>
            </a:r>
            <a:br>
              <a:rPr lang="en-GB" sz="2200" b="0" i="0" dirty="0">
                <a:solidFill>
                  <a:srgbClr val="000000"/>
                </a:solidFill>
                <a:effectLst/>
              </a:rPr>
            </a:br>
            <a:r>
              <a:rPr lang="en-GB" sz="2200" b="0" i="0" dirty="0">
                <a:solidFill>
                  <a:srgbClr val="000000"/>
                </a:solidFill>
                <a:effectLst/>
              </a:rPr>
              <a:t>C)  example. The first sentence is followed by a number of examples used to illustrate it.</a:t>
            </a:r>
            <a:br>
              <a:rPr lang="en-GB" sz="2200" b="0" i="0" dirty="0">
                <a:solidFill>
                  <a:srgbClr val="000000"/>
                </a:solidFill>
                <a:effectLst/>
              </a:rPr>
            </a:br>
            <a:r>
              <a:rPr lang="en-GB" sz="2200" b="0" i="0" dirty="0">
                <a:solidFill>
                  <a:srgbClr val="000000"/>
                </a:solidFill>
                <a:effectLst/>
              </a:rPr>
              <a:t>D)  definition. The first sentence provides a definition and the remaining sentences of the paragraph explain it.</a:t>
            </a:r>
          </a:p>
        </p:txBody>
      </p:sp>
    </p:spTree>
    <p:extLst>
      <p:ext uri="{BB962C8B-B14F-4D97-AF65-F5344CB8AC3E}">
        <p14:creationId xmlns:p14="http://schemas.microsoft.com/office/powerpoint/2010/main" val="10955856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61EA69-8091-5E3F-6155-E34425BAA66A}"/>
              </a:ext>
            </a:extLst>
          </p:cNvPr>
          <p:cNvSpPr txBox="1"/>
          <p:nvPr/>
        </p:nvSpPr>
        <p:spPr>
          <a:xfrm>
            <a:off x="751703" y="546928"/>
            <a:ext cx="10688594" cy="5509200"/>
          </a:xfrm>
          <a:prstGeom prst="rect">
            <a:avLst/>
          </a:prstGeom>
          <a:noFill/>
        </p:spPr>
        <p:txBody>
          <a:bodyPr wrap="square">
            <a:spAutoFit/>
          </a:bodyPr>
          <a:lstStyle/>
          <a:p>
            <a:pPr algn="just"/>
            <a:r>
              <a:rPr lang="en-US" sz="2200" dirty="0"/>
              <a:t>In recent decades, urban sociologists have studied the phenomenon of “cultural districts”—neighborhoods defined by a concentration of artistic venues, workshops, and galleries. Initially dismissed by some critics as gentrification agents, these districts have gradually gained recognition for their role in urban revitalization and community cohesion. Cultural districts often emerge organically, sparked by a small group of artists seeking affordable studio space. Over time, these areas become vibrant economic ecosystems where craft makers, performance spaces, and art schools thrive. Rather than displacing long-term residents, cultural districts may support them by creating employment opportunities and attracting local investment. Furthermore, their presence can transform public perception of a neighborhood, turning it from a neglected zone into a celebrated urban landmark. However, skeptics remain. Some fear that cultural districts commodify local art, cater primarily to tourists, and fail to address root social problems like poverty. A successful cultural district, proponents argue, requires careful planning and sustained effort to balance growth, authenticity, and inclusivity. In doing so, a district can foster neighborhood identity, encourage cultural exchange, and even spur civic pride, ultimately benefiting both local residents and the broader city.</a:t>
            </a:r>
            <a:endParaRPr lang="en-GB" sz="2200" dirty="0"/>
          </a:p>
        </p:txBody>
      </p:sp>
    </p:spTree>
    <p:extLst>
      <p:ext uri="{BB962C8B-B14F-4D97-AF65-F5344CB8AC3E}">
        <p14:creationId xmlns:p14="http://schemas.microsoft.com/office/powerpoint/2010/main" val="4214343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6EE08C-2251-78C3-53AC-DEA8C70CDFD8}"/>
              </a:ext>
            </a:extLst>
          </p:cNvPr>
          <p:cNvSpPr txBox="1"/>
          <p:nvPr/>
        </p:nvSpPr>
        <p:spPr>
          <a:xfrm>
            <a:off x="819482" y="663332"/>
            <a:ext cx="10325596" cy="2308324"/>
          </a:xfrm>
          <a:prstGeom prst="rect">
            <a:avLst/>
          </a:prstGeom>
          <a:noFill/>
        </p:spPr>
        <p:txBody>
          <a:bodyPr wrap="square">
            <a:spAutoFit/>
          </a:bodyPr>
          <a:lstStyle/>
          <a:p>
            <a:pPr algn="l"/>
            <a:r>
              <a:rPr lang="en-US" sz="2400" b="0" i="0" u="none" strike="noStrike" baseline="0" dirty="0"/>
              <a:t>1. </a:t>
            </a:r>
            <a:r>
              <a:rPr lang="en-US" sz="2400" b="0" i="0" u="none" strike="noStrike" baseline="0" dirty="0">
                <a:solidFill>
                  <a:srgbClr val="FF0000"/>
                </a:solidFill>
              </a:rPr>
              <a:t>The primary purpose of the passage is to</a:t>
            </a:r>
            <a:r>
              <a:rPr lang="en-US" sz="2400" b="0" i="0" u="none" strike="noStrike" baseline="0" dirty="0"/>
              <a:t>:</a:t>
            </a:r>
          </a:p>
          <a:p>
            <a:pPr algn="l"/>
            <a:r>
              <a:rPr lang="en-GB" sz="2400" b="0" i="0" u="none" strike="noStrike" baseline="0" dirty="0"/>
              <a:t>(A) Critique cultural districts for harming local communities.</a:t>
            </a:r>
            <a:endParaRPr lang="en-GB" sz="7200" b="0" i="0" u="none" strike="noStrike" baseline="0" dirty="0"/>
          </a:p>
          <a:p>
            <a:pPr algn="l"/>
            <a:r>
              <a:rPr lang="en-US" sz="2400" b="0" i="0" u="none" strike="noStrike" baseline="0" dirty="0"/>
              <a:t>(B) Describe the emergence and potential value of cultural districts.</a:t>
            </a:r>
          </a:p>
          <a:p>
            <a:pPr algn="l"/>
            <a:r>
              <a:rPr lang="en-US" sz="2400" b="0" i="0" u="none" strike="noStrike" baseline="0" dirty="0"/>
              <a:t>(C) Compare cultural districts to traditional art museums.</a:t>
            </a:r>
          </a:p>
          <a:p>
            <a:pPr algn="l"/>
            <a:r>
              <a:rPr lang="en-US" sz="2400" b="0" i="0" u="none" strike="noStrike" baseline="0" dirty="0"/>
              <a:t>(D) Show that cultural districts rarely succeed economically.</a:t>
            </a:r>
          </a:p>
          <a:p>
            <a:pPr algn="l"/>
            <a:r>
              <a:rPr lang="en-GB" sz="2400" b="0" i="0" u="none" strike="noStrike" baseline="0" dirty="0"/>
              <a:t>(E) Argue that cultural districts cause gentrification.</a:t>
            </a:r>
            <a:endParaRPr lang="en-GB" sz="3200" dirty="0"/>
          </a:p>
        </p:txBody>
      </p:sp>
      <p:sp>
        <p:nvSpPr>
          <p:cNvPr id="5" name="TextBox 4">
            <a:extLst>
              <a:ext uri="{FF2B5EF4-FFF2-40B4-BE49-F238E27FC236}">
                <a16:creationId xmlns:a16="http://schemas.microsoft.com/office/drawing/2014/main" id="{955038D1-A036-1891-07D7-D8526C3DEF02}"/>
              </a:ext>
            </a:extLst>
          </p:cNvPr>
          <p:cNvSpPr txBox="1"/>
          <p:nvPr/>
        </p:nvSpPr>
        <p:spPr>
          <a:xfrm>
            <a:off x="819482" y="3517012"/>
            <a:ext cx="10899276" cy="2308324"/>
          </a:xfrm>
          <a:prstGeom prst="rect">
            <a:avLst/>
          </a:prstGeom>
          <a:noFill/>
        </p:spPr>
        <p:txBody>
          <a:bodyPr wrap="square">
            <a:spAutoFit/>
          </a:bodyPr>
          <a:lstStyle/>
          <a:p>
            <a:pPr algn="l"/>
            <a:r>
              <a:rPr lang="en-US" sz="2400" b="0" i="0" u="none" strike="noStrike" baseline="0" dirty="0">
                <a:solidFill>
                  <a:srgbClr val="FF0000"/>
                </a:solidFill>
              </a:rPr>
              <a:t>2. The passage’s overall organization is best described as:</a:t>
            </a:r>
          </a:p>
          <a:p>
            <a:pPr algn="l"/>
            <a:r>
              <a:rPr lang="en-US" sz="2400" b="0" i="0" u="none" strike="noStrike" baseline="0" dirty="0"/>
              <a:t>(A) Presenting a historical timeline of cultural districts.</a:t>
            </a:r>
          </a:p>
          <a:p>
            <a:pPr algn="l"/>
            <a:r>
              <a:rPr lang="en-US" sz="2400" b="0" i="0" u="none" strike="noStrike" baseline="0" dirty="0"/>
              <a:t>(B) Introducing a concept, acknowledging objections, and suggesting a </a:t>
            </a:r>
            <a:r>
              <a:rPr lang="en-GB" sz="2400" b="0" i="0" u="none" strike="noStrike" baseline="0" dirty="0"/>
              <a:t>balanced view.</a:t>
            </a:r>
          </a:p>
          <a:p>
            <a:pPr algn="l"/>
            <a:r>
              <a:rPr lang="en-US" sz="2400" b="0" i="0" u="none" strike="noStrike" baseline="0" dirty="0"/>
              <a:t>(C) Listing only the benefits of cultural districts.</a:t>
            </a:r>
          </a:p>
          <a:p>
            <a:pPr algn="l"/>
            <a:r>
              <a:rPr lang="en-US" sz="2400" b="0" i="0" u="none" strike="noStrike" baseline="0" dirty="0"/>
              <a:t>(D) Offering a single counterexample to a prevailing theory.</a:t>
            </a:r>
          </a:p>
          <a:p>
            <a:pPr algn="l"/>
            <a:r>
              <a:rPr lang="en-US" sz="2400" b="0" i="0" u="none" strike="noStrike" baseline="0" dirty="0"/>
              <a:t>(E) Proposing a policy solution without discussing drawbacks.</a:t>
            </a:r>
            <a:endParaRPr lang="en-GB" sz="3200" dirty="0"/>
          </a:p>
        </p:txBody>
      </p:sp>
    </p:spTree>
    <p:extLst>
      <p:ext uri="{BB962C8B-B14F-4D97-AF65-F5344CB8AC3E}">
        <p14:creationId xmlns:p14="http://schemas.microsoft.com/office/powerpoint/2010/main" val="6406692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515C1C-68F6-6A07-FAF7-39331135DAC1}"/>
              </a:ext>
            </a:extLst>
          </p:cNvPr>
          <p:cNvSpPr txBox="1"/>
          <p:nvPr/>
        </p:nvSpPr>
        <p:spPr>
          <a:xfrm>
            <a:off x="676017" y="890415"/>
            <a:ext cx="10839965" cy="4893647"/>
          </a:xfrm>
          <a:prstGeom prst="rect">
            <a:avLst/>
          </a:prstGeom>
          <a:noFill/>
        </p:spPr>
        <p:txBody>
          <a:bodyPr wrap="square">
            <a:spAutoFit/>
          </a:bodyPr>
          <a:lstStyle/>
          <a:p>
            <a:pPr algn="just"/>
            <a:r>
              <a:rPr lang="en-US" sz="2400" b="0" i="0" u="none" strike="noStrike" baseline="0" dirty="0">
                <a:latin typeface="LiberationSerif"/>
              </a:rPr>
              <a:t>Contemporary debates in bioethics often pivot around the tension between individual autonomy and the collective good. In medical resource allocation, for instance, a purely individualistic approach might prioritize patient choice above all else, potentially resulting in inefficient use of limited supplies. Conversely, a strictly utilitarian approach could maximize overall benefit while sacrificing personal freedom. Many ethicists advocate for a balanced framework—one that respects individual rights but also considers broader social impacts. This might mean setting guidelines that ensure fair access to treatments, transparent decision-making, and ethical review boards capable of navigating morally fraught scenarios. Such frameworks are continuously evolving, shaped by advances in medical technology, shifting cultural values, and ongoing discourse among healthcare professionals, policymakers, and the public. Achieving the right equilibrium is an ongoing challenge, illustrating the complexity inherent in applying moral theories to real-world health dilemmas.</a:t>
            </a:r>
            <a:endParaRPr lang="en-GB" sz="3200" dirty="0"/>
          </a:p>
        </p:txBody>
      </p:sp>
    </p:spTree>
    <p:extLst>
      <p:ext uri="{BB962C8B-B14F-4D97-AF65-F5344CB8AC3E}">
        <p14:creationId xmlns:p14="http://schemas.microsoft.com/office/powerpoint/2010/main" val="4333365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C99358-9FE9-2C80-BC5E-0496919F3AC0}"/>
              </a:ext>
            </a:extLst>
          </p:cNvPr>
          <p:cNvSpPr txBox="1"/>
          <p:nvPr/>
        </p:nvSpPr>
        <p:spPr>
          <a:xfrm>
            <a:off x="929773" y="1018893"/>
            <a:ext cx="10505606" cy="3539430"/>
          </a:xfrm>
          <a:prstGeom prst="rect">
            <a:avLst/>
          </a:prstGeom>
          <a:noFill/>
        </p:spPr>
        <p:txBody>
          <a:bodyPr wrap="square">
            <a:spAutoFit/>
          </a:bodyPr>
          <a:lstStyle/>
          <a:p>
            <a:pPr marL="514350" indent="-514350" algn="l">
              <a:buAutoNum type="arabicPeriod"/>
            </a:pPr>
            <a:r>
              <a:rPr lang="en-US" sz="2800" b="0" i="0" u="none" strike="noStrike" baseline="0" dirty="0">
                <a:latin typeface="+mj-lt"/>
              </a:rPr>
              <a:t>The passage’s main theme is:</a:t>
            </a:r>
          </a:p>
          <a:p>
            <a:pPr algn="l"/>
            <a:endParaRPr lang="en-US" sz="2800" b="0" i="0" u="none" strike="noStrike" baseline="0" dirty="0">
              <a:latin typeface="+mj-lt"/>
            </a:endParaRPr>
          </a:p>
          <a:p>
            <a:pPr algn="l"/>
            <a:r>
              <a:rPr lang="en-US" sz="2800" b="0" i="0" u="none" strike="noStrike" baseline="0" dirty="0">
                <a:latin typeface="+mj-lt"/>
              </a:rPr>
              <a:t>(A) The complexity of balancing personal autonomy and societal</a:t>
            </a:r>
          </a:p>
          <a:p>
            <a:pPr algn="l"/>
            <a:r>
              <a:rPr lang="en-GB" sz="2800" b="0" i="0" u="none" strike="noStrike" baseline="0" dirty="0">
                <a:latin typeface="+mj-lt"/>
              </a:rPr>
              <a:t>welfare in bioethics.</a:t>
            </a:r>
          </a:p>
          <a:p>
            <a:pPr algn="l"/>
            <a:r>
              <a:rPr lang="en-US" sz="2800" b="0" i="0" u="none" strike="noStrike" baseline="0" dirty="0">
                <a:latin typeface="+mj-lt"/>
              </a:rPr>
              <a:t>(B) The superiority of a purely individualistic approach.</a:t>
            </a:r>
          </a:p>
          <a:p>
            <a:pPr algn="l"/>
            <a:r>
              <a:rPr lang="en-US" sz="2800" b="0" i="0" u="none" strike="noStrike" baseline="0" dirty="0">
                <a:latin typeface="+mj-lt"/>
              </a:rPr>
              <a:t>(C) The need to eliminate ethical review boards.</a:t>
            </a:r>
          </a:p>
          <a:p>
            <a:pPr algn="l"/>
            <a:r>
              <a:rPr lang="en-US" sz="2800" b="0" i="0" u="none" strike="noStrike" baseline="0" dirty="0">
                <a:latin typeface="+mj-lt"/>
              </a:rPr>
              <a:t>(D) The irrelevance of utilitarian principles.</a:t>
            </a:r>
          </a:p>
          <a:p>
            <a:pPr algn="l"/>
            <a:r>
              <a:rPr lang="en-US" sz="2800" b="0" i="0" u="none" strike="noStrike" baseline="0" dirty="0">
                <a:latin typeface="+mj-lt"/>
              </a:rPr>
              <a:t>(E) The simplicity of moral decision-making in healthcare.</a:t>
            </a:r>
            <a:endParaRPr lang="en-GB" sz="3600" dirty="0">
              <a:latin typeface="+mj-lt"/>
            </a:endParaRPr>
          </a:p>
        </p:txBody>
      </p:sp>
      <p:sp>
        <p:nvSpPr>
          <p:cNvPr id="4" name="TextBox 3">
            <a:extLst>
              <a:ext uri="{FF2B5EF4-FFF2-40B4-BE49-F238E27FC236}">
                <a16:creationId xmlns:a16="http://schemas.microsoft.com/office/drawing/2014/main" id="{D6A78CC6-751E-B3B8-CE21-C5291747AB23}"/>
              </a:ext>
            </a:extLst>
          </p:cNvPr>
          <p:cNvSpPr txBox="1"/>
          <p:nvPr/>
        </p:nvSpPr>
        <p:spPr>
          <a:xfrm>
            <a:off x="3537680" y="5741233"/>
            <a:ext cx="7897700" cy="369332"/>
          </a:xfrm>
          <a:prstGeom prst="rect">
            <a:avLst/>
          </a:prstGeom>
          <a:noFill/>
        </p:spPr>
        <p:txBody>
          <a:bodyPr wrap="square" rtlCol="0">
            <a:spAutoFit/>
          </a:bodyPr>
          <a:lstStyle/>
          <a:p>
            <a:r>
              <a:rPr lang="en-IN" dirty="0"/>
              <a:t>****************************************************************</a:t>
            </a:r>
            <a:endParaRPr lang="en-GB" dirty="0"/>
          </a:p>
        </p:txBody>
      </p:sp>
    </p:spTree>
    <p:extLst>
      <p:ext uri="{BB962C8B-B14F-4D97-AF65-F5344CB8AC3E}">
        <p14:creationId xmlns:p14="http://schemas.microsoft.com/office/powerpoint/2010/main" val="4751750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72C594-B7D2-79B3-0ED2-A2E179E6B6D2}"/>
              </a:ext>
            </a:extLst>
          </p:cNvPr>
          <p:cNvSpPr txBox="1"/>
          <p:nvPr/>
        </p:nvSpPr>
        <p:spPr>
          <a:xfrm>
            <a:off x="914400" y="527125"/>
            <a:ext cx="10047642" cy="4708981"/>
          </a:xfrm>
          <a:prstGeom prst="rect">
            <a:avLst/>
          </a:prstGeom>
          <a:noFill/>
        </p:spPr>
        <p:txBody>
          <a:bodyPr wrap="square" rtlCol="0">
            <a:spAutoFit/>
          </a:bodyPr>
          <a:lstStyle/>
          <a:p>
            <a:r>
              <a:rPr lang="en-IN" sz="3200" dirty="0">
                <a:solidFill>
                  <a:srgbClr val="FF0000"/>
                </a:solidFill>
              </a:rPr>
              <a:t>Assumption</a:t>
            </a:r>
            <a:r>
              <a:rPr lang="en-IN" sz="2800" dirty="0">
                <a:solidFill>
                  <a:srgbClr val="FF0000"/>
                </a:solidFill>
              </a:rPr>
              <a:t> </a:t>
            </a:r>
          </a:p>
          <a:p>
            <a:endParaRPr lang="en-GB" sz="2800" dirty="0">
              <a:solidFill>
                <a:srgbClr val="FF0000"/>
              </a:solidFill>
            </a:endParaRPr>
          </a:p>
          <a:p>
            <a:pPr marL="457200" indent="-457200">
              <a:buFont typeface="Arial" panose="020B0604020202020204" pitchFamily="34" charset="0"/>
              <a:buChar char="•"/>
            </a:pPr>
            <a:r>
              <a:rPr lang="en-IN" sz="2400" dirty="0"/>
              <a:t>The Ground was slippery, it must have been raining.</a:t>
            </a:r>
          </a:p>
          <a:p>
            <a:pPr marL="457200" indent="-457200">
              <a:buFont typeface="Arial" panose="020B0604020202020204" pitchFamily="34" charset="0"/>
              <a:buChar char="•"/>
            </a:pPr>
            <a:endParaRPr lang="en-IN" sz="2400" dirty="0"/>
          </a:p>
          <a:p>
            <a:pPr marL="457200" indent="-457200">
              <a:buFont typeface="Arial" panose="020B0604020202020204" pitchFamily="34" charset="0"/>
              <a:buChar char="•"/>
            </a:pPr>
            <a:r>
              <a:rPr lang="en-IN" sz="2400" dirty="0"/>
              <a:t>Conclusion? Premise?</a:t>
            </a:r>
          </a:p>
          <a:p>
            <a:pPr marL="457200" indent="-457200">
              <a:buFont typeface="Arial" panose="020B0604020202020204" pitchFamily="34" charset="0"/>
              <a:buChar char="•"/>
            </a:pPr>
            <a:endParaRPr lang="en-IN" sz="2400" dirty="0"/>
          </a:p>
          <a:p>
            <a:pPr marL="457200" indent="-457200">
              <a:buFont typeface="Arial" panose="020B0604020202020204" pitchFamily="34" charset="0"/>
              <a:buChar char="•"/>
            </a:pPr>
            <a:r>
              <a:rPr lang="en-GB" sz="2400" dirty="0"/>
              <a:t>Assumption?</a:t>
            </a:r>
          </a:p>
          <a:p>
            <a:endParaRPr lang="en-GB" sz="2400" dirty="0"/>
          </a:p>
          <a:p>
            <a:endParaRPr lang="en-GB" sz="2400" dirty="0"/>
          </a:p>
          <a:p>
            <a:endParaRPr lang="en-GB" sz="2400" dirty="0"/>
          </a:p>
          <a:p>
            <a:pPr marL="457200" indent="-457200">
              <a:buFont typeface="Arial" panose="020B0604020202020204" pitchFamily="34" charset="0"/>
              <a:buChar char="•"/>
            </a:pPr>
            <a:r>
              <a:rPr lang="en-GB" sz="2400" dirty="0"/>
              <a:t>The ground was slippery. The ground cannot have become slippery without rains. So, it must have rained.</a:t>
            </a:r>
          </a:p>
        </p:txBody>
      </p:sp>
    </p:spTree>
    <p:extLst>
      <p:ext uri="{BB962C8B-B14F-4D97-AF65-F5344CB8AC3E}">
        <p14:creationId xmlns:p14="http://schemas.microsoft.com/office/powerpoint/2010/main" val="7169187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C599AE-2338-4735-AA7D-9954E9BB25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680" y="314503"/>
            <a:ext cx="11216639" cy="6042913"/>
          </a:xfrm>
          <a:prstGeom prst="rect">
            <a:avLst/>
          </a:prstGeom>
        </p:spPr>
      </p:pic>
    </p:spTree>
    <p:extLst>
      <p:ext uri="{BB962C8B-B14F-4D97-AF65-F5344CB8AC3E}">
        <p14:creationId xmlns:p14="http://schemas.microsoft.com/office/powerpoint/2010/main" val="32911344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3495C6-89E4-EDD2-760C-8655E39E24FD}"/>
              </a:ext>
            </a:extLst>
          </p:cNvPr>
          <p:cNvSpPr txBox="1"/>
          <p:nvPr/>
        </p:nvSpPr>
        <p:spPr>
          <a:xfrm>
            <a:off x="907643" y="516091"/>
            <a:ext cx="10581810" cy="1200329"/>
          </a:xfrm>
          <a:prstGeom prst="rect">
            <a:avLst/>
          </a:prstGeom>
          <a:noFill/>
        </p:spPr>
        <p:txBody>
          <a:bodyPr wrap="square" rtlCol="0">
            <a:spAutoFit/>
          </a:bodyPr>
          <a:lstStyle/>
          <a:p>
            <a:r>
              <a:rPr lang="en-IN" sz="2400" dirty="0"/>
              <a:t>If Sudha eats rice, Ram also eats rice. If Ram eats rice, Shyam also eats rice. If Shyam eats rice. Manju also eat rice. If Manju eats rice, Madan also eats rice.</a:t>
            </a:r>
          </a:p>
          <a:p>
            <a:endParaRPr lang="en-GB" sz="2400" dirty="0"/>
          </a:p>
        </p:txBody>
      </p:sp>
      <p:pic>
        <p:nvPicPr>
          <p:cNvPr id="4" name="Picture 3">
            <a:extLst>
              <a:ext uri="{FF2B5EF4-FFF2-40B4-BE49-F238E27FC236}">
                <a16:creationId xmlns:a16="http://schemas.microsoft.com/office/drawing/2014/main" id="{99288A5B-5D7D-9310-A4B5-DA8A9135CA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4042" y="1716420"/>
            <a:ext cx="3653002" cy="5066850"/>
          </a:xfrm>
          <a:prstGeom prst="rect">
            <a:avLst/>
          </a:prstGeom>
        </p:spPr>
      </p:pic>
      <p:pic>
        <p:nvPicPr>
          <p:cNvPr id="8" name="Picture 7">
            <a:extLst>
              <a:ext uri="{FF2B5EF4-FFF2-40B4-BE49-F238E27FC236}">
                <a16:creationId xmlns:a16="http://schemas.microsoft.com/office/drawing/2014/main" id="{07910DE1-4370-DA9C-70D7-D1835B7278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01932" y="1716420"/>
            <a:ext cx="3824683" cy="5297894"/>
          </a:xfrm>
          <a:prstGeom prst="rect">
            <a:avLst/>
          </a:prstGeom>
        </p:spPr>
      </p:pic>
    </p:spTree>
    <p:extLst>
      <p:ext uri="{BB962C8B-B14F-4D97-AF65-F5344CB8AC3E}">
        <p14:creationId xmlns:p14="http://schemas.microsoft.com/office/powerpoint/2010/main" val="36652842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D148067-0716-0EB3-5CF9-DFFB4D5B91A6}"/>
              </a:ext>
            </a:extLst>
          </p:cNvPr>
          <p:cNvGrpSpPr/>
          <p:nvPr/>
        </p:nvGrpSpPr>
        <p:grpSpPr>
          <a:xfrm>
            <a:off x="684635" y="365216"/>
            <a:ext cx="10616411" cy="6161600"/>
            <a:chOff x="5449624" y="1661715"/>
            <a:chExt cx="9063962" cy="5558900"/>
          </a:xfrm>
        </p:grpSpPr>
        <p:pic>
          <p:nvPicPr>
            <p:cNvPr id="7" name="Picture 6">
              <a:extLst>
                <a:ext uri="{FF2B5EF4-FFF2-40B4-BE49-F238E27FC236}">
                  <a16:creationId xmlns:a16="http://schemas.microsoft.com/office/drawing/2014/main" id="{74720F6F-C04C-B093-AC31-A63D41226D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9624" y="1661715"/>
              <a:ext cx="3812851" cy="5528197"/>
            </a:xfrm>
            <a:prstGeom prst="rect">
              <a:avLst/>
            </a:prstGeom>
          </p:spPr>
        </p:pic>
        <p:pic>
          <p:nvPicPr>
            <p:cNvPr id="9" name="Picture 8">
              <a:extLst>
                <a:ext uri="{FF2B5EF4-FFF2-40B4-BE49-F238E27FC236}">
                  <a16:creationId xmlns:a16="http://schemas.microsoft.com/office/drawing/2014/main" id="{35865ECC-06E8-4242-E897-AA0A7032AA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44411" y="1661715"/>
              <a:ext cx="4169175" cy="5558900"/>
            </a:xfrm>
            <a:prstGeom prst="rect">
              <a:avLst/>
            </a:prstGeom>
          </p:spPr>
        </p:pic>
      </p:grpSp>
    </p:spTree>
    <p:extLst>
      <p:ext uri="{BB962C8B-B14F-4D97-AF65-F5344CB8AC3E}">
        <p14:creationId xmlns:p14="http://schemas.microsoft.com/office/powerpoint/2010/main" val="33361819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21D415-9E97-3D42-7F5B-11F275405EF3}"/>
              </a:ext>
            </a:extLst>
          </p:cNvPr>
          <p:cNvSpPr txBox="1"/>
          <p:nvPr/>
        </p:nvSpPr>
        <p:spPr>
          <a:xfrm>
            <a:off x="1106758" y="1363122"/>
            <a:ext cx="10256334" cy="3046988"/>
          </a:xfrm>
          <a:prstGeom prst="rect">
            <a:avLst/>
          </a:prstGeom>
          <a:noFill/>
        </p:spPr>
        <p:txBody>
          <a:bodyPr wrap="square">
            <a:spAutoFit/>
          </a:bodyPr>
          <a:lstStyle/>
          <a:p>
            <a:pPr marL="0" marR="0" indent="0" algn="l">
              <a:buNone/>
            </a:pPr>
            <a:r>
              <a:rPr lang="en-GB" sz="2400" b="1" i="0" dirty="0">
                <a:effectLst/>
                <a:latin typeface="+mj-lt"/>
              </a:rPr>
              <a:t>Statement: </a:t>
            </a:r>
            <a:r>
              <a:rPr lang="en-GB" sz="2400" b="0" i="0" dirty="0">
                <a:effectLst/>
                <a:latin typeface="+mj-lt"/>
              </a:rPr>
              <a:t>It is desirable to put the child in school at the age of 5 or so.</a:t>
            </a:r>
          </a:p>
          <a:p>
            <a:pPr marL="0" marR="0" indent="0" algn="l">
              <a:buNone/>
            </a:pPr>
            <a:endParaRPr lang="en-GB" sz="2400" b="0" i="0" dirty="0">
              <a:effectLst/>
              <a:latin typeface="+mj-lt"/>
            </a:endParaRPr>
          </a:p>
          <a:p>
            <a:pPr marL="0" marR="0" indent="0" algn="l">
              <a:buNone/>
            </a:pPr>
            <a:r>
              <a:rPr lang="en-GB" sz="2400" b="1" i="0" dirty="0">
                <a:effectLst/>
                <a:latin typeface="+mj-lt"/>
              </a:rPr>
              <a:t>Assumptions:</a:t>
            </a:r>
          </a:p>
          <a:p>
            <a:pPr marL="0" marR="0" indent="0" algn="l">
              <a:buNone/>
            </a:pPr>
            <a:endParaRPr lang="en-GB" sz="2400" b="0" i="0" dirty="0">
              <a:effectLst/>
              <a:latin typeface="+mj-lt"/>
            </a:endParaRPr>
          </a:p>
          <a:p>
            <a:pPr marL="342900" marR="0" lvl="0" indent="-342900" algn="l">
              <a:buFont typeface="+mj-lt"/>
              <a:buAutoNum type="arabicPeriod"/>
            </a:pPr>
            <a:r>
              <a:rPr lang="en-GB" sz="2400" b="0" i="0" dirty="0">
                <a:effectLst/>
                <a:latin typeface="+mj-lt"/>
              </a:rPr>
              <a:t>At that age the child reaches appropriate level of development and is ready to learn.</a:t>
            </a:r>
          </a:p>
          <a:p>
            <a:pPr marL="342900" marR="0" lvl="0" indent="-342900" algn="l">
              <a:buFont typeface="+mj-lt"/>
              <a:buAutoNum type="arabicPeriod"/>
            </a:pPr>
            <a:endParaRPr lang="en-GB" sz="2400" b="0" i="0" dirty="0">
              <a:effectLst/>
              <a:latin typeface="+mj-lt"/>
            </a:endParaRPr>
          </a:p>
          <a:p>
            <a:pPr marL="342900" marR="0" lvl="0" indent="-342900" algn="l">
              <a:buFont typeface="+mj-lt"/>
              <a:buAutoNum type="arabicPeriod"/>
            </a:pPr>
            <a:r>
              <a:rPr lang="en-GB" sz="2400" b="0" i="0" dirty="0">
                <a:effectLst/>
                <a:latin typeface="+mj-lt"/>
              </a:rPr>
              <a:t>The schools do not admit children after six years of age.</a:t>
            </a:r>
          </a:p>
        </p:txBody>
      </p:sp>
    </p:spTree>
    <p:extLst>
      <p:ext uri="{BB962C8B-B14F-4D97-AF65-F5344CB8AC3E}">
        <p14:creationId xmlns:p14="http://schemas.microsoft.com/office/powerpoint/2010/main" val="4343541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D92DA5-9BC2-C184-F7CC-892F27BA4AD3}"/>
              </a:ext>
            </a:extLst>
          </p:cNvPr>
          <p:cNvSpPr txBox="1"/>
          <p:nvPr/>
        </p:nvSpPr>
        <p:spPr>
          <a:xfrm>
            <a:off x="873369" y="844377"/>
            <a:ext cx="10445261" cy="4893647"/>
          </a:xfrm>
          <a:prstGeom prst="rect">
            <a:avLst/>
          </a:prstGeom>
          <a:noFill/>
        </p:spPr>
        <p:txBody>
          <a:bodyPr wrap="square" rtlCol="0">
            <a:spAutoFit/>
          </a:bodyPr>
          <a:lstStyle/>
          <a:p>
            <a:r>
              <a:rPr lang="en-IN" sz="2400" b="1" dirty="0"/>
              <a:t>Definitive words</a:t>
            </a:r>
          </a:p>
          <a:p>
            <a:endParaRPr lang="en-IN" sz="2400" dirty="0"/>
          </a:p>
          <a:p>
            <a:r>
              <a:rPr lang="en-IN" sz="2400" dirty="0"/>
              <a:t>Statement: The </a:t>
            </a:r>
            <a:r>
              <a:rPr lang="en-IN" sz="2400" dirty="0" err="1"/>
              <a:t>BoP</a:t>
            </a:r>
            <a:r>
              <a:rPr lang="en-IN" sz="2400" dirty="0"/>
              <a:t> crisis has worsened and the government should make every effort to boost exports </a:t>
            </a:r>
          </a:p>
          <a:p>
            <a:endParaRPr lang="en-IN" sz="2400" dirty="0"/>
          </a:p>
          <a:p>
            <a:r>
              <a:rPr lang="en-IN" sz="2400" dirty="0"/>
              <a:t>Assumption 1 : Exports are the best solution to avert the </a:t>
            </a:r>
            <a:r>
              <a:rPr lang="en-IN" sz="2400" dirty="0" err="1"/>
              <a:t>BoP</a:t>
            </a:r>
            <a:r>
              <a:rPr lang="en-IN" sz="2400" dirty="0"/>
              <a:t> crisis.</a:t>
            </a:r>
          </a:p>
          <a:p>
            <a:r>
              <a:rPr lang="en-IN" sz="2400" dirty="0"/>
              <a:t>Assumption 2: Exports are a reasonably good solution to the </a:t>
            </a:r>
            <a:r>
              <a:rPr lang="en-IN" sz="2400" dirty="0" err="1"/>
              <a:t>BoP</a:t>
            </a:r>
            <a:r>
              <a:rPr lang="en-IN" sz="2400" dirty="0"/>
              <a:t> crisis.</a:t>
            </a:r>
          </a:p>
          <a:p>
            <a:r>
              <a:rPr lang="en-IN" sz="2400" dirty="0"/>
              <a:t>Assumption 3: Exports are the only solution to overcome the </a:t>
            </a:r>
            <a:r>
              <a:rPr lang="en-IN" sz="2400" dirty="0" err="1"/>
              <a:t>BoP</a:t>
            </a:r>
            <a:r>
              <a:rPr lang="en-IN" sz="2400" dirty="0"/>
              <a:t> Crisis.</a:t>
            </a:r>
          </a:p>
          <a:p>
            <a:r>
              <a:rPr lang="en-IN" sz="2400" dirty="0"/>
              <a:t>Assumption 4: The </a:t>
            </a:r>
            <a:r>
              <a:rPr lang="en-IN" sz="2400" dirty="0" err="1"/>
              <a:t>BoP</a:t>
            </a:r>
            <a:r>
              <a:rPr lang="en-IN" sz="2400" dirty="0"/>
              <a:t> crisis will definitely be averted by boosting exports. </a:t>
            </a:r>
          </a:p>
          <a:p>
            <a:r>
              <a:rPr lang="en-IN" sz="2400" dirty="0"/>
              <a:t>Assumption 5: The </a:t>
            </a:r>
            <a:r>
              <a:rPr lang="en-IN" sz="2400" dirty="0" err="1"/>
              <a:t>BoP</a:t>
            </a:r>
            <a:r>
              <a:rPr lang="en-IN" sz="2400" dirty="0"/>
              <a:t> Crisis will probably be averted by boosting exports.</a:t>
            </a:r>
          </a:p>
          <a:p>
            <a:endParaRPr lang="en-IN" sz="2400" dirty="0"/>
          </a:p>
          <a:p>
            <a:endParaRPr lang="en-IN" sz="2400" dirty="0"/>
          </a:p>
          <a:p>
            <a:r>
              <a:rPr lang="en-IN" sz="2400" dirty="0"/>
              <a:t>Valid ?</a:t>
            </a:r>
          </a:p>
        </p:txBody>
      </p:sp>
    </p:spTree>
    <p:extLst>
      <p:ext uri="{BB962C8B-B14F-4D97-AF65-F5344CB8AC3E}">
        <p14:creationId xmlns:p14="http://schemas.microsoft.com/office/powerpoint/2010/main" val="21888129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DC3931-D5A2-5A31-5283-85F95D64460A}"/>
              </a:ext>
            </a:extLst>
          </p:cNvPr>
          <p:cNvSpPr txBox="1"/>
          <p:nvPr/>
        </p:nvSpPr>
        <p:spPr>
          <a:xfrm>
            <a:off x="960510" y="622316"/>
            <a:ext cx="10621889" cy="5201424"/>
          </a:xfrm>
          <a:prstGeom prst="rect">
            <a:avLst/>
          </a:prstGeom>
          <a:noFill/>
        </p:spPr>
        <p:txBody>
          <a:bodyPr wrap="square">
            <a:spAutoFit/>
          </a:bodyPr>
          <a:lstStyle/>
          <a:p>
            <a:pPr algn="ctr">
              <a:buNone/>
            </a:pPr>
            <a:br>
              <a:rPr lang="en-GB" sz="2000" dirty="0"/>
            </a:br>
            <a:endParaRPr lang="en-GB" sz="2000" dirty="0"/>
          </a:p>
          <a:p>
            <a:pPr>
              <a:buNone/>
            </a:pPr>
            <a:r>
              <a:rPr lang="en-GB" sz="2000" b="1" dirty="0"/>
              <a:t>Example</a:t>
            </a:r>
            <a:endParaRPr lang="en-GB" b="1" dirty="0"/>
          </a:p>
          <a:p>
            <a:pPr algn="just">
              <a:buNone/>
            </a:pPr>
            <a:r>
              <a:rPr lang="en-GB" sz="2400" dirty="0"/>
              <a:t>"I am not going to call off the strike unless the government announces free education to every child in the area. Education is a basic right of every child and it is impossible for me to keep a blind eye when this right is being violated." - X, a political leader.</a:t>
            </a:r>
            <a:endParaRPr lang="en-GB" sz="2400" b="1" dirty="0"/>
          </a:p>
          <a:p>
            <a:pPr>
              <a:buNone/>
            </a:pPr>
            <a:endParaRPr lang="en-GB" b="1" dirty="0"/>
          </a:p>
          <a:p>
            <a:pPr>
              <a:buNone/>
            </a:pPr>
            <a:r>
              <a:rPr lang="en-GB" sz="2000" b="1" dirty="0"/>
              <a:t>What is stated?</a:t>
            </a:r>
            <a:endParaRPr lang="en-GB" sz="2000" dirty="0"/>
          </a:p>
          <a:p>
            <a:pPr marL="342900" lvl="0" indent="-342900">
              <a:buFont typeface="Arial" panose="020B0604020202020204" pitchFamily="34" charset="0"/>
              <a:buChar char="•"/>
            </a:pPr>
            <a:r>
              <a:rPr lang="en-GB" sz="2000" dirty="0"/>
              <a:t>Education is a basic right.</a:t>
            </a:r>
          </a:p>
          <a:p>
            <a:pPr marL="342900" lvl="0" indent="-342900">
              <a:buFont typeface="Arial" panose="020B0604020202020204" pitchFamily="34" charset="0"/>
              <a:buChar char="•"/>
            </a:pPr>
            <a:r>
              <a:rPr lang="en-GB" sz="2000" dirty="0"/>
              <a:t>This right is being violated.</a:t>
            </a:r>
          </a:p>
          <a:p>
            <a:pPr marL="342900" lvl="0" indent="-342900">
              <a:buFont typeface="Arial" panose="020B0604020202020204" pitchFamily="34" charset="0"/>
              <a:buChar char="•"/>
            </a:pPr>
            <a:r>
              <a:rPr lang="en-GB" sz="2000" dirty="0"/>
              <a:t>The leader will continue the strike.</a:t>
            </a:r>
          </a:p>
          <a:p>
            <a:pPr marL="342900" lvl="0" indent="-342900">
              <a:buFont typeface="Arial" panose="020B0604020202020204" pitchFamily="34" charset="0"/>
              <a:buChar char="•"/>
            </a:pPr>
            <a:endParaRPr lang="en-GB" dirty="0"/>
          </a:p>
          <a:p>
            <a:pPr>
              <a:buNone/>
            </a:pPr>
            <a:endParaRPr lang="en-GB" sz="2000" dirty="0"/>
          </a:p>
          <a:p>
            <a:pPr>
              <a:buNone/>
            </a:pPr>
            <a:r>
              <a:rPr lang="en-GB" sz="2000" b="1" dirty="0"/>
              <a:t>Assumption ?</a:t>
            </a:r>
          </a:p>
          <a:p>
            <a:pPr>
              <a:buNone/>
            </a:pPr>
            <a:endParaRPr lang="en-GB" sz="2000" b="1" dirty="0"/>
          </a:p>
        </p:txBody>
      </p:sp>
    </p:spTree>
    <p:extLst>
      <p:ext uri="{BB962C8B-B14F-4D97-AF65-F5344CB8AC3E}">
        <p14:creationId xmlns:p14="http://schemas.microsoft.com/office/powerpoint/2010/main" val="38977616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BB2256-534E-E1A6-7471-4E29E3621165}"/>
              </a:ext>
            </a:extLst>
          </p:cNvPr>
          <p:cNvSpPr txBox="1"/>
          <p:nvPr/>
        </p:nvSpPr>
        <p:spPr>
          <a:xfrm>
            <a:off x="426720" y="390436"/>
            <a:ext cx="2580640" cy="400110"/>
          </a:xfrm>
          <a:prstGeom prst="rect">
            <a:avLst/>
          </a:prstGeom>
          <a:noFill/>
        </p:spPr>
        <p:txBody>
          <a:bodyPr wrap="square">
            <a:spAutoFit/>
          </a:bodyPr>
          <a:lstStyle/>
          <a:p>
            <a:r>
              <a:rPr lang="en-GB" sz="2000" b="1" dirty="0">
                <a:solidFill>
                  <a:srgbClr val="C00000"/>
                </a:solidFill>
              </a:rPr>
              <a:t>Description = What?</a:t>
            </a:r>
          </a:p>
        </p:txBody>
      </p:sp>
      <p:sp>
        <p:nvSpPr>
          <p:cNvPr id="5" name="TextBox 4">
            <a:extLst>
              <a:ext uri="{FF2B5EF4-FFF2-40B4-BE49-F238E27FC236}">
                <a16:creationId xmlns:a16="http://schemas.microsoft.com/office/drawing/2014/main" id="{E75208CB-427C-03C9-EB7A-ED3CA459685C}"/>
              </a:ext>
            </a:extLst>
          </p:cNvPr>
          <p:cNvSpPr txBox="1"/>
          <p:nvPr/>
        </p:nvSpPr>
        <p:spPr>
          <a:xfrm>
            <a:off x="3007360" y="1160716"/>
            <a:ext cx="2773680" cy="400110"/>
          </a:xfrm>
          <a:prstGeom prst="rect">
            <a:avLst/>
          </a:prstGeom>
          <a:noFill/>
        </p:spPr>
        <p:txBody>
          <a:bodyPr wrap="square">
            <a:spAutoFit/>
          </a:bodyPr>
          <a:lstStyle/>
          <a:p>
            <a:r>
              <a:rPr lang="en-GB" sz="2000" b="1" dirty="0">
                <a:solidFill>
                  <a:srgbClr val="C00000"/>
                </a:solidFill>
              </a:rPr>
              <a:t>Examination = How?</a:t>
            </a:r>
            <a:endParaRPr lang="en-GB" sz="2000" dirty="0">
              <a:solidFill>
                <a:srgbClr val="C00000"/>
              </a:solidFill>
            </a:endParaRPr>
          </a:p>
        </p:txBody>
      </p:sp>
      <p:sp>
        <p:nvSpPr>
          <p:cNvPr id="7" name="TextBox 6">
            <a:extLst>
              <a:ext uri="{FF2B5EF4-FFF2-40B4-BE49-F238E27FC236}">
                <a16:creationId xmlns:a16="http://schemas.microsoft.com/office/drawing/2014/main" id="{87DEC6B1-20E4-28EB-40C7-61828B3B76F4}"/>
              </a:ext>
            </a:extLst>
          </p:cNvPr>
          <p:cNvSpPr txBox="1"/>
          <p:nvPr/>
        </p:nvSpPr>
        <p:spPr>
          <a:xfrm>
            <a:off x="6725920" y="2392696"/>
            <a:ext cx="2773680" cy="400110"/>
          </a:xfrm>
          <a:prstGeom prst="rect">
            <a:avLst/>
          </a:prstGeom>
          <a:noFill/>
        </p:spPr>
        <p:txBody>
          <a:bodyPr wrap="square">
            <a:spAutoFit/>
          </a:bodyPr>
          <a:lstStyle/>
          <a:p>
            <a:r>
              <a:rPr lang="en-GB" sz="2000" b="1" dirty="0">
                <a:solidFill>
                  <a:srgbClr val="C00000"/>
                </a:solidFill>
              </a:rPr>
              <a:t>Evaluation = How well?</a:t>
            </a:r>
            <a:endParaRPr lang="en-GB" sz="2000" dirty="0">
              <a:solidFill>
                <a:srgbClr val="C00000"/>
              </a:solidFill>
            </a:endParaRPr>
          </a:p>
        </p:txBody>
      </p:sp>
      <p:sp>
        <p:nvSpPr>
          <p:cNvPr id="9" name="TextBox 8">
            <a:extLst>
              <a:ext uri="{FF2B5EF4-FFF2-40B4-BE49-F238E27FC236}">
                <a16:creationId xmlns:a16="http://schemas.microsoft.com/office/drawing/2014/main" id="{348DDAB8-A783-F145-6AA7-E00A3C3795C0}"/>
              </a:ext>
            </a:extLst>
          </p:cNvPr>
          <p:cNvSpPr txBox="1"/>
          <p:nvPr/>
        </p:nvSpPr>
        <p:spPr>
          <a:xfrm>
            <a:off x="9479280" y="3746039"/>
            <a:ext cx="2661918" cy="400110"/>
          </a:xfrm>
          <a:prstGeom prst="rect">
            <a:avLst/>
          </a:prstGeom>
          <a:noFill/>
        </p:spPr>
        <p:txBody>
          <a:bodyPr wrap="square">
            <a:spAutoFit/>
          </a:bodyPr>
          <a:lstStyle/>
          <a:p>
            <a:r>
              <a:rPr lang="en-GB" sz="2000" b="1" dirty="0">
                <a:solidFill>
                  <a:srgbClr val="C00000"/>
                </a:solidFill>
              </a:rPr>
              <a:t>Judgment = So what?</a:t>
            </a:r>
            <a:endParaRPr lang="en-GB" sz="2000" dirty="0">
              <a:solidFill>
                <a:srgbClr val="C00000"/>
              </a:solidFill>
            </a:endParaRPr>
          </a:p>
        </p:txBody>
      </p:sp>
      <p:sp>
        <p:nvSpPr>
          <p:cNvPr id="11" name="TextBox 10">
            <a:extLst>
              <a:ext uri="{FF2B5EF4-FFF2-40B4-BE49-F238E27FC236}">
                <a16:creationId xmlns:a16="http://schemas.microsoft.com/office/drawing/2014/main" id="{AB0A12D4-5678-33B1-A8C5-93543A9C5E83}"/>
              </a:ext>
            </a:extLst>
          </p:cNvPr>
          <p:cNvSpPr txBox="1"/>
          <p:nvPr/>
        </p:nvSpPr>
        <p:spPr>
          <a:xfrm>
            <a:off x="411480" y="958568"/>
            <a:ext cx="2580640" cy="1200329"/>
          </a:xfrm>
          <a:prstGeom prst="rect">
            <a:avLst/>
          </a:prstGeom>
          <a:solidFill>
            <a:schemeClr val="bg2">
              <a:lumMod val="75000"/>
            </a:schemeClr>
          </a:solidFill>
        </p:spPr>
        <p:txBody>
          <a:bodyPr wrap="square">
            <a:spAutoFit/>
          </a:bodyPr>
          <a:lstStyle/>
          <a:p>
            <a:pPr>
              <a:buNone/>
            </a:pPr>
            <a:r>
              <a:rPr lang="en-GB" b="1" dirty="0"/>
              <a:t>What does the text say?</a:t>
            </a:r>
            <a:endParaRPr lang="en-GB" dirty="0"/>
          </a:p>
          <a:p>
            <a:pPr marL="342900" lvl="0" indent="-342900">
              <a:buFont typeface="Arial" panose="020B0604020202020204" pitchFamily="34" charset="0"/>
              <a:buChar char="•"/>
            </a:pPr>
            <a:r>
              <a:rPr lang="en-GB" dirty="0"/>
              <a:t>Main idea </a:t>
            </a:r>
          </a:p>
          <a:p>
            <a:pPr marL="342900" lvl="0" indent="-342900">
              <a:buFont typeface="Arial" panose="020B0604020202020204" pitchFamily="34" charset="0"/>
              <a:buChar char="•"/>
            </a:pPr>
            <a:endParaRPr lang="en-GB" dirty="0"/>
          </a:p>
          <a:p>
            <a:pPr lvl="0"/>
            <a:endParaRPr lang="en-GB" dirty="0"/>
          </a:p>
        </p:txBody>
      </p:sp>
      <p:sp>
        <p:nvSpPr>
          <p:cNvPr id="13" name="TextBox 12">
            <a:extLst>
              <a:ext uri="{FF2B5EF4-FFF2-40B4-BE49-F238E27FC236}">
                <a16:creationId xmlns:a16="http://schemas.microsoft.com/office/drawing/2014/main" id="{6CCD4FC8-E9B8-308A-D442-C99A6B6461A3}"/>
              </a:ext>
            </a:extLst>
          </p:cNvPr>
          <p:cNvSpPr txBox="1"/>
          <p:nvPr/>
        </p:nvSpPr>
        <p:spPr>
          <a:xfrm>
            <a:off x="2992120" y="1560826"/>
            <a:ext cx="3698240" cy="2585323"/>
          </a:xfrm>
          <a:prstGeom prst="rect">
            <a:avLst/>
          </a:prstGeom>
          <a:solidFill>
            <a:schemeClr val="bg2">
              <a:lumMod val="75000"/>
            </a:schemeClr>
          </a:solidFill>
        </p:spPr>
        <p:txBody>
          <a:bodyPr wrap="square">
            <a:spAutoFit/>
          </a:bodyPr>
          <a:lstStyle/>
          <a:p>
            <a:pPr lvl="0"/>
            <a:r>
              <a:rPr lang="en-GB" b="1" dirty="0"/>
              <a:t>What is the claim? </a:t>
            </a:r>
          </a:p>
          <a:p>
            <a:pPr marL="342900" lvl="0" indent="-342900">
              <a:buFont typeface="Arial" panose="020B0604020202020204" pitchFamily="34" charset="0"/>
              <a:buChar char="•"/>
            </a:pPr>
            <a:r>
              <a:rPr lang="en-GB" dirty="0"/>
              <a:t>What reasons are given? </a:t>
            </a:r>
          </a:p>
          <a:p>
            <a:pPr marL="342900" lvl="0" indent="-342900">
              <a:buFont typeface="Arial" panose="020B0604020202020204" pitchFamily="34" charset="0"/>
              <a:buChar char="•"/>
            </a:pPr>
            <a:r>
              <a:rPr lang="en-GB" dirty="0"/>
              <a:t>What evidence/examples are provided? </a:t>
            </a:r>
          </a:p>
          <a:p>
            <a:pPr marL="342900" lvl="0" indent="-342900">
              <a:buFont typeface="Arial" panose="020B0604020202020204" pitchFamily="34" charset="0"/>
              <a:buChar char="•"/>
            </a:pPr>
            <a:r>
              <a:rPr lang="en-GB" dirty="0"/>
              <a:t>Is there a connection between the reason and the claim? </a:t>
            </a:r>
          </a:p>
          <a:p>
            <a:pPr marL="342900" lvl="0" indent="-342900">
              <a:buFont typeface="Arial" panose="020B0604020202020204" pitchFamily="34" charset="0"/>
              <a:buChar char="•"/>
            </a:pPr>
            <a:r>
              <a:rPr lang="en-GB" dirty="0"/>
              <a:t>What assumptions does the writer make? </a:t>
            </a:r>
          </a:p>
          <a:p>
            <a:pPr marL="342900" lvl="0" indent="-342900">
              <a:buFont typeface="Arial" panose="020B0604020202020204" pitchFamily="34" charset="0"/>
              <a:buChar char="•"/>
            </a:pPr>
            <a:r>
              <a:rPr lang="en-GB" dirty="0"/>
              <a:t>What is missing?</a:t>
            </a:r>
          </a:p>
        </p:txBody>
      </p:sp>
      <p:sp>
        <p:nvSpPr>
          <p:cNvPr id="15" name="TextBox 14">
            <a:extLst>
              <a:ext uri="{FF2B5EF4-FFF2-40B4-BE49-F238E27FC236}">
                <a16:creationId xmlns:a16="http://schemas.microsoft.com/office/drawing/2014/main" id="{C8AFC7DE-FECF-9255-C92B-3A61B5687D1E}"/>
              </a:ext>
            </a:extLst>
          </p:cNvPr>
          <p:cNvSpPr txBox="1"/>
          <p:nvPr/>
        </p:nvSpPr>
        <p:spPr>
          <a:xfrm>
            <a:off x="6690360" y="2917597"/>
            <a:ext cx="2860040" cy="2862322"/>
          </a:xfrm>
          <a:prstGeom prst="rect">
            <a:avLst/>
          </a:prstGeom>
          <a:solidFill>
            <a:schemeClr val="bg2">
              <a:lumMod val="75000"/>
            </a:schemeClr>
          </a:solidFill>
        </p:spPr>
        <p:txBody>
          <a:bodyPr wrap="square">
            <a:spAutoFit/>
          </a:bodyPr>
          <a:lstStyle/>
          <a:p>
            <a:pPr marL="342900" lvl="0" indent="-342900">
              <a:buFont typeface="Arial" panose="020B0604020202020204" pitchFamily="34" charset="0"/>
              <a:buChar char="•"/>
            </a:pPr>
            <a:r>
              <a:rPr lang="en-GB" dirty="0"/>
              <a:t>Is the evidence sufficient? </a:t>
            </a:r>
          </a:p>
          <a:p>
            <a:pPr marL="342900" lvl="0" indent="-342900">
              <a:buFont typeface="Arial" panose="020B0604020202020204" pitchFamily="34" charset="0"/>
              <a:buChar char="•"/>
            </a:pPr>
            <a:r>
              <a:rPr lang="en-GB" dirty="0"/>
              <a:t>Is the evidence relevant? </a:t>
            </a:r>
          </a:p>
          <a:p>
            <a:pPr marL="342900" lvl="0" indent="-342900">
              <a:buFont typeface="Arial" panose="020B0604020202020204" pitchFamily="34" charset="0"/>
              <a:buChar char="•"/>
            </a:pPr>
            <a:r>
              <a:rPr lang="en-GB" dirty="0"/>
              <a:t>Is the reasoning logical? </a:t>
            </a:r>
          </a:p>
          <a:p>
            <a:pPr marL="342900" lvl="0" indent="-342900">
              <a:buFont typeface="Arial" panose="020B0604020202020204" pitchFamily="34" charset="0"/>
              <a:buChar char="•"/>
            </a:pPr>
            <a:r>
              <a:rPr lang="en-GB" dirty="0"/>
              <a:t>Is the assumption reasonable? </a:t>
            </a:r>
          </a:p>
          <a:p>
            <a:pPr marL="342900" lvl="0" indent="-342900">
              <a:buFont typeface="Arial" panose="020B0604020202020204" pitchFamily="34" charset="0"/>
              <a:buChar char="•"/>
            </a:pPr>
            <a:r>
              <a:rPr lang="en-GB" dirty="0"/>
              <a:t>Is important information missing? </a:t>
            </a:r>
          </a:p>
          <a:p>
            <a:pPr marL="342900" lvl="0" indent="-342900">
              <a:buFont typeface="Arial" panose="020B0604020202020204" pitchFamily="34" charset="0"/>
              <a:buChar char="•"/>
            </a:pPr>
            <a:r>
              <a:rPr lang="en-GB" dirty="0"/>
              <a:t>Is there another explanation?</a:t>
            </a:r>
          </a:p>
        </p:txBody>
      </p:sp>
      <p:sp>
        <p:nvSpPr>
          <p:cNvPr id="17" name="TextBox 16">
            <a:extLst>
              <a:ext uri="{FF2B5EF4-FFF2-40B4-BE49-F238E27FC236}">
                <a16:creationId xmlns:a16="http://schemas.microsoft.com/office/drawing/2014/main" id="{BBB43ED7-D4D4-60D3-0A2E-56AC22B55908}"/>
              </a:ext>
            </a:extLst>
          </p:cNvPr>
          <p:cNvSpPr txBox="1"/>
          <p:nvPr/>
        </p:nvSpPr>
        <p:spPr>
          <a:xfrm>
            <a:off x="9550400" y="4340513"/>
            <a:ext cx="2590798" cy="2308324"/>
          </a:xfrm>
          <a:prstGeom prst="rect">
            <a:avLst/>
          </a:prstGeom>
          <a:solidFill>
            <a:schemeClr val="bg2">
              <a:lumMod val="75000"/>
            </a:schemeClr>
          </a:solidFill>
        </p:spPr>
        <p:txBody>
          <a:bodyPr wrap="square">
            <a:spAutoFit/>
          </a:bodyPr>
          <a:lstStyle/>
          <a:p>
            <a:r>
              <a:rPr lang="en-US" b="1" dirty="0"/>
              <a:t>I like the writer's opinion=  No</a:t>
            </a:r>
          </a:p>
          <a:p>
            <a:endParaRPr lang="en-US" dirty="0"/>
          </a:p>
          <a:p>
            <a:r>
              <a:rPr lang="en-US" dirty="0"/>
              <a:t>Based on the strength and limitations of the argument, what conclusion can I reasonably reach?</a:t>
            </a:r>
            <a:endParaRPr lang="en-GB" dirty="0"/>
          </a:p>
        </p:txBody>
      </p:sp>
    </p:spTree>
    <p:extLst>
      <p:ext uri="{BB962C8B-B14F-4D97-AF65-F5344CB8AC3E}">
        <p14:creationId xmlns:p14="http://schemas.microsoft.com/office/powerpoint/2010/main" val="37506652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D7D53-ECCE-A965-D245-41D47150CA7A}"/>
              </a:ext>
            </a:extLst>
          </p:cNvPr>
          <p:cNvSpPr txBox="1"/>
          <p:nvPr/>
        </p:nvSpPr>
        <p:spPr>
          <a:xfrm>
            <a:off x="668377" y="566530"/>
            <a:ext cx="10535479" cy="5078313"/>
          </a:xfrm>
          <a:prstGeom prst="rect">
            <a:avLst/>
          </a:prstGeom>
          <a:noFill/>
        </p:spPr>
        <p:txBody>
          <a:bodyPr wrap="square" rtlCol="0">
            <a:spAutoFit/>
          </a:bodyPr>
          <a:lstStyle/>
          <a:p>
            <a:pPr algn="ctr"/>
            <a:r>
              <a:rPr lang="en-IN" sz="3200" dirty="0">
                <a:solidFill>
                  <a:srgbClr val="C00000"/>
                </a:solidFill>
              </a:rPr>
              <a:t>Inference</a:t>
            </a:r>
            <a:endParaRPr lang="en-IN" sz="2800" dirty="0">
              <a:solidFill>
                <a:srgbClr val="C00000"/>
              </a:solidFill>
            </a:endParaRPr>
          </a:p>
          <a:p>
            <a:endParaRPr lang="en-IN" sz="2800" dirty="0">
              <a:solidFill>
                <a:srgbClr val="C00000"/>
              </a:solidFill>
            </a:endParaRPr>
          </a:p>
          <a:p>
            <a:r>
              <a:rPr lang="en-GB" sz="2400" b="1" dirty="0"/>
              <a:t>Inference is a conclusion that the reader reaches by combining information from the text with reasoning.</a:t>
            </a:r>
            <a:r>
              <a:rPr lang="en-IN" sz="2400" b="1" dirty="0"/>
              <a:t> </a:t>
            </a:r>
          </a:p>
          <a:p>
            <a:endParaRPr lang="en-IN" sz="2400" dirty="0"/>
          </a:p>
          <a:p>
            <a:r>
              <a:rPr lang="en-GB" sz="2400" dirty="0"/>
              <a:t>Inference = What the text does not directly say, but gives you enough evidence to figure out.</a:t>
            </a:r>
          </a:p>
          <a:p>
            <a:endParaRPr lang="en-GB" sz="2400" dirty="0"/>
          </a:p>
          <a:p>
            <a:endParaRPr lang="en-GB" sz="2400" dirty="0"/>
          </a:p>
          <a:p>
            <a:r>
              <a:rPr lang="en-GB" sz="2400" dirty="0"/>
              <a:t>“Rohan entered the classroom carrying a </a:t>
            </a:r>
            <a:r>
              <a:rPr lang="en-GB" sz="2400" i="1" dirty="0"/>
              <a:t>wet umbrella</a:t>
            </a:r>
            <a:r>
              <a:rPr lang="en-GB" sz="2400" dirty="0"/>
              <a:t>. His shoes were covered with </a:t>
            </a:r>
            <a:r>
              <a:rPr lang="en-GB" sz="2400" i="1" dirty="0"/>
              <a:t>mud</a:t>
            </a:r>
            <a:r>
              <a:rPr lang="en-GB" sz="2400" dirty="0"/>
              <a:t>.”</a:t>
            </a:r>
          </a:p>
          <a:p>
            <a:endParaRPr lang="en-GB" sz="2400" dirty="0"/>
          </a:p>
          <a:p>
            <a:r>
              <a:rPr lang="en-GB" sz="2400" dirty="0"/>
              <a:t>It was probably raining?</a:t>
            </a:r>
          </a:p>
        </p:txBody>
      </p:sp>
    </p:spTree>
    <p:extLst>
      <p:ext uri="{BB962C8B-B14F-4D97-AF65-F5344CB8AC3E}">
        <p14:creationId xmlns:p14="http://schemas.microsoft.com/office/powerpoint/2010/main" val="10321842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998A28-9EEB-7193-68A7-FAC9EAD5C5CF}"/>
              </a:ext>
            </a:extLst>
          </p:cNvPr>
          <p:cNvSpPr txBox="1"/>
          <p:nvPr/>
        </p:nvSpPr>
        <p:spPr>
          <a:xfrm>
            <a:off x="827314" y="1073782"/>
            <a:ext cx="10972800" cy="3785652"/>
          </a:xfrm>
          <a:prstGeom prst="rect">
            <a:avLst/>
          </a:prstGeom>
          <a:noFill/>
        </p:spPr>
        <p:txBody>
          <a:bodyPr wrap="square">
            <a:spAutoFit/>
          </a:bodyPr>
          <a:lstStyle/>
          <a:p>
            <a:pPr algn="just"/>
            <a:r>
              <a:rPr lang="en-US" sz="2400" dirty="0"/>
              <a:t>In the forties, </a:t>
            </a:r>
            <a:r>
              <a:rPr lang="en-US" sz="2400" dirty="0" err="1"/>
              <a:t>nationalisation</a:t>
            </a:r>
            <a:r>
              <a:rPr lang="en-US" sz="2400" dirty="0"/>
              <a:t> was considered the panacea for all socio-economic ills. Today, </a:t>
            </a:r>
            <a:r>
              <a:rPr lang="en-US" sz="2400" dirty="0" err="1"/>
              <a:t>privatisation</a:t>
            </a:r>
            <a:r>
              <a:rPr lang="en-US" sz="2400" dirty="0"/>
              <a:t> has become the buzzword that has been sweeping both the developed and the developing world for more than a decade now. Even in India, the idea has been gathering momentum. But, before the idea is transplanted in India, there are several aspects of </a:t>
            </a:r>
            <a:r>
              <a:rPr lang="en-US" sz="2400" dirty="0" err="1"/>
              <a:t>privatisation</a:t>
            </a:r>
            <a:r>
              <a:rPr lang="en-US" sz="2400" dirty="0"/>
              <a:t> that need to be understood. It would be worth while, in this context, to look at the experiences of other countries.</a:t>
            </a:r>
          </a:p>
          <a:p>
            <a:pPr algn="just"/>
            <a:endParaRPr lang="en-US" sz="2400" dirty="0"/>
          </a:p>
          <a:p>
            <a:pPr algn="just"/>
            <a:endParaRPr lang="en-US" sz="2400" dirty="0"/>
          </a:p>
          <a:p>
            <a:pPr algn="just"/>
            <a:endParaRPr lang="en-US" sz="2400" dirty="0"/>
          </a:p>
          <a:p>
            <a:pPr algn="just"/>
            <a:r>
              <a:rPr lang="en-US" sz="2400" dirty="0"/>
              <a:t>Inference: India is also thinking of privatization?</a:t>
            </a:r>
            <a:endParaRPr lang="en-GB" sz="2400" dirty="0"/>
          </a:p>
        </p:txBody>
      </p:sp>
    </p:spTree>
    <p:extLst>
      <p:ext uri="{BB962C8B-B14F-4D97-AF65-F5344CB8AC3E}">
        <p14:creationId xmlns:p14="http://schemas.microsoft.com/office/powerpoint/2010/main" val="41064132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3C48B0-E363-0FBE-2745-059411AF6644}"/>
              </a:ext>
            </a:extLst>
          </p:cNvPr>
          <p:cNvSpPr txBox="1"/>
          <p:nvPr/>
        </p:nvSpPr>
        <p:spPr>
          <a:xfrm>
            <a:off x="725713" y="522238"/>
            <a:ext cx="10580915" cy="5970865"/>
          </a:xfrm>
          <a:prstGeom prst="rect">
            <a:avLst/>
          </a:prstGeom>
          <a:noFill/>
        </p:spPr>
        <p:txBody>
          <a:bodyPr wrap="square">
            <a:spAutoFit/>
          </a:bodyPr>
          <a:lstStyle/>
          <a:p>
            <a:pPr algn="just"/>
            <a:r>
              <a:rPr lang="en-GB" sz="2800" dirty="0"/>
              <a:t>When the college announced that classes would begin at 8 a.m. instead of 9 a.m., many students immediately started discussing the change in the WhatsApp group. Some students complained that they would have to leave home before sunrise, while others said that public transport would be difficult to find at that hour. A few students, however, welcomed the decision because they believed finishing classes earlier would give them more time in the evening.</a:t>
            </a:r>
          </a:p>
          <a:p>
            <a:pPr algn="just"/>
            <a:endParaRPr lang="en-GB" sz="2800" dirty="0"/>
          </a:p>
          <a:p>
            <a:pPr algn="just"/>
            <a:endParaRPr lang="en-GB" sz="2800" dirty="0"/>
          </a:p>
          <a:p>
            <a:pPr marL="342900" indent="-342900" algn="just">
              <a:buAutoNum type="arabicPeriod"/>
            </a:pPr>
            <a:r>
              <a:rPr lang="en-GB" sz="2800" dirty="0"/>
              <a:t>The students have mixed reactions to the change.</a:t>
            </a:r>
          </a:p>
          <a:p>
            <a:pPr marL="342900" indent="-342900" algn="just">
              <a:buAutoNum type="arabicPeriod"/>
            </a:pPr>
            <a:r>
              <a:rPr lang="en-GB" sz="2800" dirty="0"/>
              <a:t>Some students travel relatively long distances or depend on public transport.</a:t>
            </a:r>
          </a:p>
          <a:p>
            <a:pPr marL="342900" indent="-342900" algn="just">
              <a:buAutoNum type="arabicPeriod"/>
            </a:pPr>
            <a:r>
              <a:rPr lang="en-GB" sz="2800" dirty="0"/>
              <a:t>Some students welcome it.</a:t>
            </a:r>
          </a:p>
          <a:p>
            <a:pPr marL="342900" indent="-342900">
              <a:buAutoNum type="arabicPeriod"/>
            </a:pPr>
            <a:endParaRPr lang="en-GB" dirty="0"/>
          </a:p>
        </p:txBody>
      </p:sp>
    </p:spTree>
    <p:extLst>
      <p:ext uri="{BB962C8B-B14F-4D97-AF65-F5344CB8AC3E}">
        <p14:creationId xmlns:p14="http://schemas.microsoft.com/office/powerpoint/2010/main" val="38521868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7BB04E-B9C3-0506-2E6E-956A15E178EF}"/>
              </a:ext>
            </a:extLst>
          </p:cNvPr>
          <p:cNvSpPr txBox="1"/>
          <p:nvPr/>
        </p:nvSpPr>
        <p:spPr>
          <a:xfrm>
            <a:off x="776514" y="277527"/>
            <a:ext cx="10638972" cy="5632311"/>
          </a:xfrm>
          <a:prstGeom prst="rect">
            <a:avLst/>
          </a:prstGeom>
          <a:noFill/>
        </p:spPr>
        <p:txBody>
          <a:bodyPr wrap="square">
            <a:spAutoFit/>
          </a:bodyPr>
          <a:lstStyle/>
          <a:p>
            <a:pPr>
              <a:buNone/>
            </a:pPr>
            <a:br>
              <a:rPr lang="en-GB" sz="2400" dirty="0"/>
            </a:br>
            <a:r>
              <a:rPr lang="en-GB" sz="2400" dirty="0"/>
              <a:t>Sally overslept. Therefore, she did not eat breakfast. She realized that she was late for school, so she ran as fast as she could and did not see a hole in the ground which was in her path. She tripped and broke her ankle. She was then taken to the hospital and while lying in bed was visited by her friend, who wanted to know why she had got up so late.</a:t>
            </a:r>
            <a:br>
              <a:rPr lang="en-GB" sz="2400" dirty="0"/>
            </a:br>
            <a:endParaRPr lang="en-GB" sz="2400" dirty="0"/>
          </a:p>
          <a:p>
            <a:pPr>
              <a:buNone/>
            </a:pPr>
            <a:r>
              <a:rPr lang="en-GB" sz="2400" dirty="0"/>
              <a:t>Which of the following conclusions can be made from the above passage? </a:t>
            </a:r>
          </a:p>
          <a:p>
            <a:pPr>
              <a:buNone/>
            </a:pPr>
            <a:endParaRPr lang="en-GB" sz="2400" dirty="0"/>
          </a:p>
          <a:p>
            <a:pPr>
              <a:buNone/>
            </a:pPr>
            <a:r>
              <a:rPr lang="en-GB" sz="2400" dirty="0"/>
              <a:t>A) Because Sally did not eat her breakfast, she broke her ankle.</a:t>
            </a:r>
          </a:p>
          <a:p>
            <a:pPr>
              <a:buNone/>
            </a:pPr>
            <a:r>
              <a:rPr lang="en-GB" sz="2400" dirty="0"/>
              <a:t>B) Sally's friend visited her in the hospital because she wanted to know why she was late for school.</a:t>
            </a:r>
            <a:br>
              <a:rPr lang="en-GB" sz="2400" dirty="0"/>
            </a:br>
            <a:r>
              <a:rPr lang="en-GB" sz="2400" dirty="0"/>
              <a:t>C) Sally did not notice the hole because she overslept.</a:t>
            </a:r>
            <a:br>
              <a:rPr lang="en-GB" sz="2400" dirty="0"/>
            </a:br>
            <a:r>
              <a:rPr lang="en-GB" sz="2400" dirty="0"/>
              <a:t>D) Sally broke her ankle because she went to bed late the previous night. </a:t>
            </a:r>
          </a:p>
          <a:p>
            <a:pPr>
              <a:buNone/>
            </a:pPr>
            <a:r>
              <a:rPr lang="en-GB" sz="2400" dirty="0"/>
              <a:t>E) Sally's broken ankle meant she did not go to school that day.</a:t>
            </a:r>
          </a:p>
        </p:txBody>
      </p:sp>
    </p:spTree>
    <p:extLst>
      <p:ext uri="{BB962C8B-B14F-4D97-AF65-F5344CB8AC3E}">
        <p14:creationId xmlns:p14="http://schemas.microsoft.com/office/powerpoint/2010/main" val="5988137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1D1F20-CEAD-C825-DE2F-902D21A76C03}"/>
              </a:ext>
            </a:extLst>
          </p:cNvPr>
          <p:cNvSpPr txBox="1"/>
          <p:nvPr/>
        </p:nvSpPr>
        <p:spPr>
          <a:xfrm>
            <a:off x="551905" y="166568"/>
            <a:ext cx="11322231" cy="6524863"/>
          </a:xfrm>
          <a:prstGeom prst="rect">
            <a:avLst/>
          </a:prstGeom>
          <a:noFill/>
        </p:spPr>
        <p:txBody>
          <a:bodyPr wrap="square">
            <a:spAutoFit/>
          </a:bodyPr>
          <a:lstStyle/>
          <a:p>
            <a:pPr algn="just"/>
            <a:r>
              <a:rPr lang="en-GB" sz="2200" dirty="0"/>
              <a:t>Artificial intelligence (AI) tools are becoming increasingly common in universities. Students can use them to explain difficult concepts, generate ideas, summarize readings, identify weaknesses in an argument, and receive feedback on their writing. For students who need additional support, these tools can make learning more accessible and efficient. It is therefore tempting to view AI as simply another educational resource, similar to a textbook or search engine.</a:t>
            </a:r>
          </a:p>
          <a:p>
            <a:pPr algn="just"/>
            <a:r>
              <a:rPr lang="en-GB" sz="2200" dirty="0"/>
              <a:t>	Yet greater efficiency does not necessarily produce greater learning. A student who uses AI to understand a difficult theory may become more confident and then explore the subject independently. Another student may copy an AI-generated explanation into an assignment without understanding it. If students regularly ask AI to generate arguments, organize their thoughts, or rewrite their sentences, they may also have fewer opportunities to develop these abilities themselves. Moreover, AI systems can provide inaccurate information while presenting it with considerable confidence. Students who fail to verify such information may reproduce errors without recognizing them.</a:t>
            </a:r>
          </a:p>
          <a:p>
            <a:pPr algn="just"/>
            <a:r>
              <a:rPr lang="en-GB" sz="2200" dirty="0"/>
              <a:t>	These concerns do not necessarily mean that universities should prohibit AI. Instead, universities could require students to disclose their use of AI and explain how they evaluated or modified its output. Such a policy would allow students to benefit from technology while maintaining responsibility for their own work. The effectiveness of this approach, however, would depend on whether students are actually taught how to question, verify, and critically evaluate AI-generated information rather than simply being instructed to report its use.</a:t>
            </a:r>
          </a:p>
        </p:txBody>
      </p:sp>
    </p:spTree>
    <p:extLst>
      <p:ext uri="{BB962C8B-B14F-4D97-AF65-F5344CB8AC3E}">
        <p14:creationId xmlns:p14="http://schemas.microsoft.com/office/powerpoint/2010/main" val="11605788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BBB50A3-D2D4-49E9-5C78-9F130218D59A}"/>
              </a:ext>
            </a:extLst>
          </p:cNvPr>
          <p:cNvSpPr txBox="1"/>
          <p:nvPr/>
        </p:nvSpPr>
        <p:spPr>
          <a:xfrm>
            <a:off x="1390206" y="1621611"/>
            <a:ext cx="10688380" cy="2554545"/>
          </a:xfrm>
          <a:prstGeom prst="rect">
            <a:avLst/>
          </a:prstGeom>
          <a:noFill/>
        </p:spPr>
        <p:txBody>
          <a:bodyPr wrap="square">
            <a:spAutoFit/>
          </a:bodyPr>
          <a:lstStyle/>
          <a:p>
            <a:pPr algn="l"/>
            <a:endParaRPr lang="en-GB" sz="1200" b="0" i="0" u="none" strike="noStrike" baseline="0" dirty="0">
              <a:solidFill>
                <a:srgbClr val="000000"/>
              </a:solidFill>
              <a:latin typeface="Times New Roman" panose="02020603050405020304" pitchFamily="18" charset="0"/>
            </a:endParaRPr>
          </a:p>
          <a:p>
            <a:r>
              <a:rPr lang="en-US" sz="3600" b="0" i="0" u="none" strike="noStrike" baseline="0" dirty="0">
                <a:solidFill>
                  <a:srgbClr val="C00000"/>
                </a:solidFill>
                <a:latin typeface="Times New Roman" panose="02020603050405020304" pitchFamily="18" charset="0"/>
              </a:rPr>
              <a:t>Verbal ability and language refinement</a:t>
            </a:r>
          </a:p>
          <a:p>
            <a:endParaRPr lang="en-US" sz="3600" dirty="0">
              <a:solidFill>
                <a:srgbClr val="C00000"/>
              </a:solidFill>
              <a:latin typeface="Times New Roman" panose="02020603050405020304" pitchFamily="18" charset="0"/>
            </a:endParaRPr>
          </a:p>
          <a:p>
            <a:endParaRPr lang="en-GB" sz="2400" dirty="0">
              <a:latin typeface="Google Sans"/>
            </a:endParaRPr>
          </a:p>
          <a:p>
            <a:endParaRPr lang="en-GB" sz="2400" dirty="0">
              <a:latin typeface="Google Sans"/>
            </a:endParaRPr>
          </a:p>
          <a:p>
            <a:pPr algn="r"/>
            <a:r>
              <a:rPr lang="en-GB" sz="2800" dirty="0"/>
              <a:t>the skill to understand, use, and reason with language effectively.</a:t>
            </a:r>
            <a:r>
              <a:rPr lang="en-US" sz="2800" b="0" i="0" u="none" strike="noStrike" baseline="0" dirty="0">
                <a:solidFill>
                  <a:srgbClr val="C00000"/>
                </a:solidFill>
                <a:latin typeface="Times New Roman" panose="02020603050405020304" pitchFamily="18" charset="0"/>
              </a:rPr>
              <a:t> </a:t>
            </a:r>
          </a:p>
        </p:txBody>
      </p:sp>
    </p:spTree>
    <p:extLst>
      <p:ext uri="{BB962C8B-B14F-4D97-AF65-F5344CB8AC3E}">
        <p14:creationId xmlns:p14="http://schemas.microsoft.com/office/powerpoint/2010/main" val="4095302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4BCA75-8166-2098-93CC-B472A7A19606}"/>
              </a:ext>
            </a:extLst>
          </p:cNvPr>
          <p:cNvSpPr txBox="1"/>
          <p:nvPr/>
        </p:nvSpPr>
        <p:spPr>
          <a:xfrm>
            <a:off x="864640" y="520872"/>
            <a:ext cx="10954194" cy="5632311"/>
          </a:xfrm>
          <a:prstGeom prst="rect">
            <a:avLst/>
          </a:prstGeom>
          <a:noFill/>
        </p:spPr>
        <p:txBody>
          <a:bodyPr wrap="square">
            <a:spAutoFit/>
          </a:bodyPr>
          <a:lstStyle/>
          <a:p>
            <a:pPr marL="342900" indent="-342900">
              <a:buAutoNum type="arabicPeriod"/>
            </a:pPr>
            <a:r>
              <a:rPr lang="en-GB" sz="2000" b="1" dirty="0"/>
              <a:t>Vocabulary — Do I know the right words?</a:t>
            </a:r>
          </a:p>
          <a:p>
            <a:br>
              <a:rPr lang="en-GB" sz="2000" dirty="0"/>
            </a:br>
            <a:r>
              <a:rPr lang="en-GB" sz="2000" dirty="0"/>
              <a:t>	Understanding meanings, synonyms, antonyms, word usage, and choosing precise words.</a:t>
            </a:r>
          </a:p>
          <a:p>
            <a:pPr>
              <a:buNone/>
            </a:pPr>
            <a:r>
              <a:rPr lang="en-GB" sz="2000" i="1" dirty="0"/>
              <a:t>	The manager </a:t>
            </a:r>
            <a:r>
              <a:rPr lang="en-GB" sz="2000" b="1" i="1" dirty="0"/>
              <a:t>approved</a:t>
            </a:r>
            <a:r>
              <a:rPr lang="en-GB" sz="2000" i="1" dirty="0"/>
              <a:t> the proposal.</a:t>
            </a:r>
            <a:br>
              <a:rPr lang="en-GB" sz="2000" dirty="0"/>
            </a:br>
            <a:r>
              <a:rPr lang="en-GB" sz="2000" dirty="0"/>
              <a:t>	</a:t>
            </a:r>
            <a:r>
              <a:rPr lang="en-GB" sz="2000" i="1" dirty="0"/>
              <a:t>The manager </a:t>
            </a:r>
            <a:r>
              <a:rPr lang="en-GB" sz="2000" b="1" i="1" dirty="0"/>
              <a:t>accepted</a:t>
            </a:r>
            <a:r>
              <a:rPr lang="en-GB" sz="2000" i="1" dirty="0"/>
              <a:t> the proposal.</a:t>
            </a:r>
            <a:br>
              <a:rPr lang="en-GB" sz="2000" dirty="0"/>
            </a:br>
            <a:endParaRPr lang="en-GB" sz="2000" dirty="0"/>
          </a:p>
          <a:p>
            <a:pPr>
              <a:buNone/>
            </a:pPr>
            <a:r>
              <a:rPr lang="en-GB" sz="2000" b="1" dirty="0"/>
              <a:t>2. Grammar — Can I construct sentences correctly?</a:t>
            </a:r>
            <a:endParaRPr lang="en-GB" sz="2000" dirty="0"/>
          </a:p>
          <a:p>
            <a:pPr>
              <a:buNone/>
            </a:pPr>
            <a:r>
              <a:rPr lang="en-GB" sz="2000" dirty="0"/>
              <a:t>	❌ </a:t>
            </a:r>
            <a:r>
              <a:rPr lang="en-GB" sz="2000" i="1" dirty="0"/>
              <a:t>She don't understand the problem.</a:t>
            </a:r>
            <a:br>
              <a:rPr lang="en-GB" sz="2000" dirty="0"/>
            </a:br>
            <a:r>
              <a:rPr lang="en-GB" sz="2000" dirty="0"/>
              <a:t>	✅ </a:t>
            </a:r>
            <a:r>
              <a:rPr lang="en-GB" sz="2000" i="1" dirty="0"/>
              <a:t>She doesn't understand the problem.</a:t>
            </a:r>
          </a:p>
          <a:p>
            <a:pPr>
              <a:buNone/>
            </a:pPr>
            <a:endParaRPr lang="en-GB" sz="2000" b="1" dirty="0"/>
          </a:p>
          <a:p>
            <a:pPr>
              <a:buNone/>
            </a:pPr>
            <a:r>
              <a:rPr lang="en-GB" sz="2000" b="1" dirty="0"/>
              <a:t>3. Expression — Can I communicate my thought clearly?</a:t>
            </a:r>
            <a:endParaRPr lang="en-GB" sz="2000" dirty="0"/>
          </a:p>
          <a:p>
            <a:pPr>
              <a:buNone/>
            </a:pPr>
            <a:r>
              <a:rPr lang="en-GB" sz="2000" dirty="0"/>
              <a:t>	❌ </a:t>
            </a:r>
            <a:r>
              <a:rPr lang="en-GB" sz="2000" i="1" dirty="0"/>
              <a:t>The meeting was kind of bad because many things happened.</a:t>
            </a:r>
            <a:br>
              <a:rPr lang="en-GB" sz="2000" dirty="0"/>
            </a:br>
            <a:r>
              <a:rPr lang="en-GB" sz="2000" dirty="0"/>
              <a:t>	✅ </a:t>
            </a:r>
            <a:r>
              <a:rPr lang="en-GB" sz="2000" i="1" dirty="0"/>
              <a:t>The meeting was ineffective because the discussion lacked clear objectives.</a:t>
            </a:r>
          </a:p>
          <a:p>
            <a:pPr>
              <a:buNone/>
            </a:pPr>
            <a:endParaRPr lang="en-GB" sz="2000" i="1" dirty="0"/>
          </a:p>
          <a:p>
            <a:pPr>
              <a:buNone/>
            </a:pPr>
            <a:endParaRPr lang="en-GB" sz="2000" dirty="0"/>
          </a:p>
          <a:p>
            <a:pPr>
              <a:buNone/>
            </a:pPr>
            <a:r>
              <a:rPr lang="en-GB" sz="2000" dirty="0"/>
              <a:t>So, </a:t>
            </a:r>
            <a:r>
              <a:rPr lang="en-GB" sz="2000" b="1" dirty="0"/>
              <a:t>verbal ability is not simply “speaking good English.”</a:t>
            </a:r>
          </a:p>
          <a:p>
            <a:pPr>
              <a:buNone/>
            </a:pPr>
            <a:endParaRPr lang="en-GB" sz="2000" b="1" dirty="0"/>
          </a:p>
          <a:p>
            <a:pPr>
              <a:buNone/>
            </a:pPr>
            <a:r>
              <a:rPr lang="en-GB" sz="2000" b="1" dirty="0"/>
              <a:t>	Understand language + Use language + </a:t>
            </a:r>
            <a:r>
              <a:rPr lang="en-GB" sz="2000" b="1" dirty="0" err="1"/>
              <a:t>Analyze</a:t>
            </a:r>
            <a:r>
              <a:rPr lang="en-GB" sz="2000" b="1" dirty="0"/>
              <a:t> language + Express ideas</a:t>
            </a:r>
          </a:p>
        </p:txBody>
      </p:sp>
    </p:spTree>
    <p:extLst>
      <p:ext uri="{BB962C8B-B14F-4D97-AF65-F5344CB8AC3E}">
        <p14:creationId xmlns:p14="http://schemas.microsoft.com/office/powerpoint/2010/main" val="39756479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0062F4-04EF-FF42-87C1-C7F71EC0250C}"/>
              </a:ext>
            </a:extLst>
          </p:cNvPr>
          <p:cNvSpPr txBox="1"/>
          <p:nvPr/>
        </p:nvSpPr>
        <p:spPr>
          <a:xfrm>
            <a:off x="528969" y="479869"/>
            <a:ext cx="10879765" cy="5262979"/>
          </a:xfrm>
          <a:prstGeom prst="rect">
            <a:avLst/>
          </a:prstGeom>
          <a:noFill/>
        </p:spPr>
        <p:txBody>
          <a:bodyPr wrap="square">
            <a:spAutoFit/>
          </a:bodyPr>
          <a:lstStyle/>
          <a:p>
            <a:pPr marL="342900" indent="-342900">
              <a:buAutoNum type="arabicPeriod"/>
            </a:pPr>
            <a:r>
              <a:rPr lang="en-GB" sz="2800" dirty="0">
                <a:solidFill>
                  <a:srgbClr val="C00000"/>
                </a:solidFill>
              </a:rPr>
              <a:t>Vocabulary Building</a:t>
            </a:r>
          </a:p>
          <a:p>
            <a:endParaRPr lang="en-GB" sz="2800" dirty="0"/>
          </a:p>
          <a:p>
            <a:pPr marL="1371600" lvl="2" indent="-457200">
              <a:buFont typeface="Arial" panose="020B0604020202020204" pitchFamily="34" charset="0"/>
              <a:buChar char="•"/>
            </a:pPr>
            <a:r>
              <a:rPr lang="en-GB" sz="2800" dirty="0"/>
              <a:t>	Synonyms and antonyms </a:t>
            </a:r>
          </a:p>
          <a:p>
            <a:pPr marL="1371600" lvl="2" indent="-457200">
              <a:buFont typeface="Arial" panose="020B0604020202020204" pitchFamily="34" charset="0"/>
              <a:buChar char="•"/>
            </a:pPr>
            <a:r>
              <a:rPr lang="en-GB" sz="2800" dirty="0"/>
              <a:t>	One-word substitutions </a:t>
            </a:r>
          </a:p>
          <a:p>
            <a:pPr marL="1371600" lvl="2" indent="-457200">
              <a:buFont typeface="Arial" panose="020B0604020202020204" pitchFamily="34" charset="0"/>
              <a:buChar char="•"/>
            </a:pPr>
            <a:r>
              <a:rPr lang="en-GB" sz="2800" dirty="0"/>
              <a:t>	Idioms and phrases </a:t>
            </a:r>
          </a:p>
          <a:p>
            <a:pPr marL="1371600" lvl="2" indent="-457200">
              <a:buFont typeface="Arial" panose="020B0604020202020204" pitchFamily="34" charset="0"/>
              <a:buChar char="•"/>
            </a:pPr>
            <a:r>
              <a:rPr lang="en-GB" sz="2800" dirty="0"/>
              <a:t>	Phrasal verbs </a:t>
            </a:r>
          </a:p>
          <a:p>
            <a:pPr marL="1371600" lvl="2" indent="-457200">
              <a:buFont typeface="Arial" panose="020B0604020202020204" pitchFamily="34" charset="0"/>
              <a:buChar char="•"/>
            </a:pPr>
            <a:r>
              <a:rPr lang="en-GB" sz="2800" dirty="0"/>
              <a:t>	Commonly confused words </a:t>
            </a:r>
          </a:p>
          <a:p>
            <a:pPr marL="1371600" lvl="2" indent="-457200">
              <a:buFont typeface="Arial" panose="020B0604020202020204" pitchFamily="34" charset="0"/>
              <a:buChar char="•"/>
            </a:pPr>
            <a:r>
              <a:rPr lang="en-GB" sz="2800" dirty="0"/>
              <a:t>	Homophones/homonyms </a:t>
            </a:r>
          </a:p>
          <a:p>
            <a:pPr marL="1371600" lvl="2" indent="-457200">
              <a:buFont typeface="Arial" panose="020B0604020202020204" pitchFamily="34" charset="0"/>
              <a:buChar char="•"/>
            </a:pPr>
            <a:r>
              <a:rPr lang="en-GB" sz="2800" dirty="0"/>
              <a:t>	Word roots, prefixes, and suffixes </a:t>
            </a:r>
          </a:p>
          <a:p>
            <a:pPr marL="1371600" lvl="2" indent="-457200">
              <a:buFont typeface="Arial" panose="020B0604020202020204" pitchFamily="34" charset="0"/>
              <a:buChar char="•"/>
            </a:pPr>
            <a:r>
              <a:rPr lang="en-GB" sz="2800" dirty="0"/>
              <a:t>	Contextual vocabulary </a:t>
            </a:r>
          </a:p>
          <a:p>
            <a:pPr marL="1371600" lvl="2" indent="-457200">
              <a:buFont typeface="Arial" panose="020B0604020202020204" pitchFamily="34" charset="0"/>
              <a:buChar char="•"/>
            </a:pPr>
            <a:r>
              <a:rPr lang="en-GB" sz="2800" dirty="0"/>
              <a:t>	Collocations </a:t>
            </a:r>
          </a:p>
          <a:p>
            <a:pPr marL="342900" indent="-342900">
              <a:buAutoNum type="arabicPeriod"/>
            </a:pPr>
            <a:endParaRPr lang="en-GB" sz="2800" dirty="0"/>
          </a:p>
        </p:txBody>
      </p:sp>
    </p:spTree>
    <p:extLst>
      <p:ext uri="{BB962C8B-B14F-4D97-AF65-F5344CB8AC3E}">
        <p14:creationId xmlns:p14="http://schemas.microsoft.com/office/powerpoint/2010/main" val="17518619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5F8940-A8CA-75D0-3B40-CF495F779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9624" y="0"/>
            <a:ext cx="8662737" cy="6858000"/>
          </a:xfrm>
          <a:prstGeom prst="rect">
            <a:avLst/>
          </a:prstGeom>
        </p:spPr>
      </p:pic>
    </p:spTree>
    <p:extLst>
      <p:ext uri="{BB962C8B-B14F-4D97-AF65-F5344CB8AC3E}">
        <p14:creationId xmlns:p14="http://schemas.microsoft.com/office/powerpoint/2010/main" val="1840387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80AA25-73EB-0FB7-4D2F-7B8693A093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0582" y="137191"/>
            <a:ext cx="8420879" cy="6315660"/>
          </a:xfrm>
          <a:prstGeom prst="rect">
            <a:avLst/>
          </a:prstGeom>
        </p:spPr>
      </p:pic>
    </p:spTree>
    <p:extLst>
      <p:ext uri="{BB962C8B-B14F-4D97-AF65-F5344CB8AC3E}">
        <p14:creationId xmlns:p14="http://schemas.microsoft.com/office/powerpoint/2010/main" val="5496534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0E410B-7FAE-DB56-F0B7-A80D5162CC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7739" y="572441"/>
            <a:ext cx="7136522" cy="5713118"/>
          </a:xfrm>
          <a:prstGeom prst="rect">
            <a:avLst/>
          </a:prstGeom>
        </p:spPr>
      </p:pic>
    </p:spTree>
    <p:extLst>
      <p:ext uri="{BB962C8B-B14F-4D97-AF65-F5344CB8AC3E}">
        <p14:creationId xmlns:p14="http://schemas.microsoft.com/office/powerpoint/2010/main" val="28891839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0D5955-6C56-F204-9FF4-2F96CEEAFB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599" y="-258822"/>
            <a:ext cx="12652128" cy="7116822"/>
          </a:xfrm>
          <a:prstGeom prst="rect">
            <a:avLst/>
          </a:prstGeom>
        </p:spPr>
      </p:pic>
    </p:spTree>
    <p:extLst>
      <p:ext uri="{BB962C8B-B14F-4D97-AF65-F5344CB8AC3E}">
        <p14:creationId xmlns:p14="http://schemas.microsoft.com/office/powerpoint/2010/main" val="1585026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345108-4C69-1AC5-2564-CF5E44C6CC42}"/>
              </a:ext>
            </a:extLst>
          </p:cNvPr>
          <p:cNvSpPr txBox="1"/>
          <p:nvPr/>
        </p:nvSpPr>
        <p:spPr>
          <a:xfrm>
            <a:off x="1265274" y="410594"/>
            <a:ext cx="9813851" cy="5847755"/>
          </a:xfrm>
          <a:prstGeom prst="rect">
            <a:avLst/>
          </a:prstGeom>
          <a:noFill/>
        </p:spPr>
        <p:txBody>
          <a:bodyPr wrap="square">
            <a:spAutoFit/>
          </a:bodyPr>
          <a:lstStyle/>
          <a:p>
            <a:pPr>
              <a:buNone/>
            </a:pPr>
            <a:r>
              <a:rPr lang="en-GB" sz="2200" b="1" dirty="0"/>
              <a:t>Accept vs. Except</a:t>
            </a:r>
            <a:endParaRPr lang="en-GB" sz="2200" dirty="0"/>
          </a:p>
          <a:p>
            <a:pPr marL="1714500" lvl="3" indent="-342900">
              <a:buFont typeface="Arial" panose="020B0604020202020204" pitchFamily="34" charset="0"/>
              <a:buChar char="•"/>
            </a:pPr>
            <a:r>
              <a:rPr lang="en-GB" sz="2200" b="1" dirty="0"/>
              <a:t>Accept</a:t>
            </a:r>
            <a:r>
              <a:rPr lang="en-GB" sz="2200" dirty="0"/>
              <a:t> = receive/agrees to something</a:t>
            </a:r>
          </a:p>
          <a:p>
            <a:pPr marL="1714500" lvl="3" indent="-342900">
              <a:buFont typeface="Arial" panose="020B0604020202020204" pitchFamily="34" charset="0"/>
              <a:buChar char="•"/>
            </a:pPr>
            <a:r>
              <a:rPr lang="en-GB" sz="2200" dirty="0"/>
              <a:t>She </a:t>
            </a:r>
            <a:r>
              <a:rPr lang="en-GB" sz="2200" b="1" dirty="0"/>
              <a:t>accepted</a:t>
            </a:r>
            <a:r>
              <a:rPr lang="en-GB" sz="2200" dirty="0"/>
              <a:t> the offer.</a:t>
            </a:r>
          </a:p>
          <a:p>
            <a:pPr marL="1714500" lvl="3" indent="-342900">
              <a:buFont typeface="Arial" panose="020B0604020202020204" pitchFamily="34" charset="0"/>
              <a:buChar char="•"/>
            </a:pPr>
            <a:r>
              <a:rPr lang="en-GB" sz="2200" b="1" dirty="0"/>
              <a:t>Except</a:t>
            </a:r>
            <a:r>
              <a:rPr lang="en-GB" sz="2200" dirty="0"/>
              <a:t> = excluding</a:t>
            </a:r>
          </a:p>
          <a:p>
            <a:pPr marL="1714500" lvl="3" indent="-342900">
              <a:buFont typeface="Arial" panose="020B0604020202020204" pitchFamily="34" charset="0"/>
              <a:buChar char="•"/>
            </a:pPr>
            <a:r>
              <a:rPr lang="en-GB" sz="2200" dirty="0"/>
              <a:t>Everyone came </a:t>
            </a:r>
            <a:r>
              <a:rPr lang="en-GB" sz="2200" b="1" dirty="0"/>
              <a:t>except</a:t>
            </a:r>
            <a:r>
              <a:rPr lang="en-GB" sz="2200" dirty="0"/>
              <a:t> Rahul.</a:t>
            </a:r>
          </a:p>
          <a:p>
            <a:pPr marL="1714500" lvl="3" indent="-342900">
              <a:buFont typeface="Arial" panose="020B0604020202020204" pitchFamily="34" charset="0"/>
              <a:buChar char="•"/>
            </a:pPr>
            <a:endParaRPr lang="en-GB" sz="2200" dirty="0"/>
          </a:p>
          <a:p>
            <a:pPr>
              <a:buNone/>
            </a:pPr>
            <a:r>
              <a:rPr lang="en-GB" sz="2200" b="1" dirty="0"/>
              <a:t>Affect vs. Effect</a:t>
            </a:r>
            <a:endParaRPr lang="en-GB" sz="2200" dirty="0"/>
          </a:p>
          <a:p>
            <a:pPr marL="1257300" lvl="2" indent="-342900">
              <a:buFont typeface="Arial" panose="020B0604020202020204" pitchFamily="34" charset="0"/>
              <a:buChar char="•"/>
            </a:pPr>
            <a:r>
              <a:rPr lang="en-GB" sz="2200" b="1" dirty="0"/>
              <a:t>Affect</a:t>
            </a:r>
            <a:r>
              <a:rPr lang="en-GB" sz="2200" dirty="0"/>
              <a:t> = influence	</a:t>
            </a:r>
          </a:p>
          <a:p>
            <a:pPr marL="1257300" lvl="2" indent="-342900">
              <a:buFont typeface="Arial" panose="020B0604020202020204" pitchFamily="34" charset="0"/>
              <a:buChar char="•"/>
            </a:pPr>
            <a:r>
              <a:rPr lang="en-GB" sz="2200" dirty="0"/>
              <a:t>Lack of sleep can </a:t>
            </a:r>
            <a:r>
              <a:rPr lang="en-GB" sz="2200" b="1" dirty="0"/>
              <a:t>affect</a:t>
            </a:r>
            <a:r>
              <a:rPr lang="en-GB" sz="2200" dirty="0"/>
              <a:t> your concentration.</a:t>
            </a:r>
          </a:p>
          <a:p>
            <a:pPr marL="1257300" lvl="2" indent="-342900">
              <a:buFont typeface="Arial" panose="020B0604020202020204" pitchFamily="34" charset="0"/>
              <a:buChar char="•"/>
            </a:pPr>
            <a:r>
              <a:rPr lang="en-GB" sz="2200" b="1" dirty="0"/>
              <a:t>Effect</a:t>
            </a:r>
            <a:r>
              <a:rPr lang="en-GB" sz="2200" dirty="0"/>
              <a:t> = result</a:t>
            </a:r>
          </a:p>
          <a:p>
            <a:pPr marL="1257300" lvl="2" indent="-342900">
              <a:buFont typeface="Arial" panose="020B0604020202020204" pitchFamily="34" charset="0"/>
              <a:buChar char="•"/>
            </a:pPr>
            <a:r>
              <a:rPr lang="en-GB" sz="2200" dirty="0"/>
              <a:t>The medicine had a positive </a:t>
            </a:r>
            <a:r>
              <a:rPr lang="en-GB" sz="2200" b="1" dirty="0"/>
              <a:t>effect</a:t>
            </a:r>
            <a:r>
              <a:rPr lang="en-GB" sz="2200" dirty="0"/>
              <a:t>.</a:t>
            </a:r>
          </a:p>
          <a:p>
            <a:pPr marL="1257300" lvl="2" indent="-342900">
              <a:buFont typeface="Arial" panose="020B0604020202020204" pitchFamily="34" charset="0"/>
              <a:buChar char="•"/>
            </a:pPr>
            <a:endParaRPr lang="en-GB" sz="2200" dirty="0"/>
          </a:p>
          <a:p>
            <a:pPr>
              <a:buNone/>
            </a:pPr>
            <a:r>
              <a:rPr lang="en-GB" sz="2200" b="1" dirty="0"/>
              <a:t>Compliment vs. Complement</a:t>
            </a:r>
            <a:endParaRPr lang="en-GB" sz="2200" dirty="0"/>
          </a:p>
          <a:p>
            <a:pPr marL="1257300" lvl="2" indent="-342900">
              <a:buFont typeface="Arial" panose="020B0604020202020204" pitchFamily="34" charset="0"/>
              <a:buChar char="•"/>
            </a:pPr>
            <a:r>
              <a:rPr lang="en-GB" sz="2200" b="1" dirty="0"/>
              <a:t>Compliment</a:t>
            </a:r>
            <a:r>
              <a:rPr lang="en-GB" sz="2200" dirty="0"/>
              <a:t> = praise</a:t>
            </a:r>
          </a:p>
          <a:p>
            <a:pPr marL="1257300" lvl="2" indent="-342900">
              <a:buFont typeface="Arial" panose="020B0604020202020204" pitchFamily="34" charset="0"/>
              <a:buChar char="•"/>
            </a:pPr>
            <a:r>
              <a:rPr lang="en-GB" sz="2200" dirty="0"/>
              <a:t>She </a:t>
            </a:r>
            <a:r>
              <a:rPr lang="en-GB" sz="2200" b="1" dirty="0"/>
              <a:t>complimented</a:t>
            </a:r>
            <a:r>
              <a:rPr lang="en-GB" sz="2200" dirty="0"/>
              <a:t> him on his presentation.</a:t>
            </a:r>
          </a:p>
          <a:p>
            <a:pPr marL="1257300" lvl="2" indent="-342900">
              <a:buFont typeface="Arial" panose="020B0604020202020204" pitchFamily="34" charset="0"/>
              <a:buChar char="•"/>
            </a:pPr>
            <a:r>
              <a:rPr lang="en-GB" sz="2200" b="1" dirty="0"/>
              <a:t>Complement</a:t>
            </a:r>
            <a:r>
              <a:rPr lang="en-GB" sz="2200" dirty="0"/>
              <a:t> = complete/enhance</a:t>
            </a:r>
          </a:p>
          <a:p>
            <a:pPr marL="1257300" lvl="2" indent="-342900">
              <a:buFont typeface="Arial" panose="020B0604020202020204" pitchFamily="34" charset="0"/>
              <a:buChar char="•"/>
            </a:pPr>
            <a:r>
              <a:rPr lang="en-GB" sz="2200" dirty="0"/>
              <a:t>The shoes </a:t>
            </a:r>
            <a:r>
              <a:rPr lang="en-GB" sz="2200" b="1" dirty="0"/>
              <a:t>complement</a:t>
            </a:r>
            <a:r>
              <a:rPr lang="en-GB" sz="2200" dirty="0"/>
              <a:t> her dress.</a:t>
            </a:r>
          </a:p>
        </p:txBody>
      </p:sp>
    </p:spTree>
    <p:extLst>
      <p:ext uri="{BB962C8B-B14F-4D97-AF65-F5344CB8AC3E}">
        <p14:creationId xmlns:p14="http://schemas.microsoft.com/office/powerpoint/2010/main" val="33036283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0084B75-ADB3-3B54-0C81-CB589ECEC098}"/>
              </a:ext>
            </a:extLst>
          </p:cNvPr>
          <p:cNvGraphicFramePr>
            <a:graphicFrameLocks noGrp="1"/>
          </p:cNvGraphicFramePr>
          <p:nvPr>
            <p:extLst>
              <p:ext uri="{D42A27DB-BD31-4B8C-83A1-F6EECF244321}">
                <p14:modId xmlns:p14="http://schemas.microsoft.com/office/powerpoint/2010/main" val="1428795706"/>
              </p:ext>
            </p:extLst>
          </p:nvPr>
        </p:nvGraphicFramePr>
        <p:xfrm>
          <a:off x="820284" y="413657"/>
          <a:ext cx="5058001" cy="3851361"/>
        </p:xfrm>
        <a:graphic>
          <a:graphicData uri="http://schemas.openxmlformats.org/drawingml/2006/table">
            <a:tbl>
              <a:tblPr/>
              <a:tblGrid>
                <a:gridCol w="1633895">
                  <a:extLst>
                    <a:ext uri="{9D8B030D-6E8A-4147-A177-3AD203B41FA5}">
                      <a16:colId xmlns:a16="http://schemas.microsoft.com/office/drawing/2014/main" val="82035640"/>
                    </a:ext>
                  </a:extLst>
                </a:gridCol>
                <a:gridCol w="3424106">
                  <a:extLst>
                    <a:ext uri="{9D8B030D-6E8A-4147-A177-3AD203B41FA5}">
                      <a16:colId xmlns:a16="http://schemas.microsoft.com/office/drawing/2014/main" val="1941392931"/>
                    </a:ext>
                  </a:extLst>
                </a:gridCol>
              </a:tblGrid>
              <a:tr h="427929">
                <a:tc>
                  <a:txBody>
                    <a:bodyPr/>
                    <a:lstStyle/>
                    <a:p>
                      <a:pPr>
                        <a:buNone/>
                      </a:pPr>
                      <a:r>
                        <a:rPr lang="en-GB" sz="2200"/>
                        <a:t>very angry</a:t>
                      </a:r>
                    </a:p>
                  </a:txBody>
                  <a:tcPr anchor="ctr">
                    <a:lnL>
                      <a:noFill/>
                    </a:lnL>
                    <a:lnR>
                      <a:noFill/>
                    </a:lnR>
                    <a:lnT>
                      <a:noFill/>
                    </a:lnT>
                    <a:lnB>
                      <a:noFill/>
                    </a:lnB>
                    <a:solidFill>
                      <a:schemeClr val="accent3"/>
                    </a:solidFill>
                  </a:tcPr>
                </a:tc>
                <a:tc>
                  <a:txBody>
                    <a:bodyPr/>
                    <a:lstStyle/>
                    <a:p>
                      <a:pPr>
                        <a:buNone/>
                      </a:pPr>
                      <a:r>
                        <a:rPr lang="en-GB" sz="2200" b="1" dirty="0"/>
                        <a:t>furious</a:t>
                      </a:r>
                      <a:r>
                        <a:rPr lang="en-GB" sz="2200" dirty="0"/>
                        <a:t>, enraged</a:t>
                      </a:r>
                    </a:p>
                  </a:txBody>
                  <a:tcPr anchor="ctr">
                    <a:lnL>
                      <a:noFill/>
                    </a:lnL>
                    <a:lnR>
                      <a:noFill/>
                    </a:lnR>
                    <a:lnT>
                      <a:noFill/>
                    </a:lnT>
                    <a:lnB>
                      <a:noFill/>
                    </a:lnB>
                    <a:solidFill>
                      <a:schemeClr val="accent3"/>
                    </a:solidFill>
                  </a:tcPr>
                </a:tc>
                <a:extLst>
                  <a:ext uri="{0D108BD9-81ED-4DB2-BD59-A6C34878D82A}">
                    <a16:rowId xmlns:a16="http://schemas.microsoft.com/office/drawing/2014/main" val="1409896897"/>
                  </a:ext>
                </a:extLst>
              </a:tr>
              <a:tr h="427929">
                <a:tc>
                  <a:txBody>
                    <a:bodyPr/>
                    <a:lstStyle/>
                    <a:p>
                      <a:pPr>
                        <a:buNone/>
                      </a:pPr>
                      <a:r>
                        <a:rPr lang="en-GB" sz="2200" dirty="0"/>
                        <a:t>very happy</a:t>
                      </a:r>
                    </a:p>
                  </a:txBody>
                  <a:tcPr anchor="ctr">
                    <a:lnL>
                      <a:noFill/>
                    </a:lnL>
                    <a:lnR>
                      <a:noFill/>
                    </a:lnR>
                    <a:lnT>
                      <a:noFill/>
                    </a:lnT>
                    <a:lnB>
                      <a:noFill/>
                    </a:lnB>
                    <a:solidFill>
                      <a:schemeClr val="accent3"/>
                    </a:solidFill>
                  </a:tcPr>
                </a:tc>
                <a:tc>
                  <a:txBody>
                    <a:bodyPr/>
                    <a:lstStyle/>
                    <a:p>
                      <a:pPr>
                        <a:buNone/>
                      </a:pPr>
                      <a:r>
                        <a:rPr lang="en-GB" sz="2200" b="1"/>
                        <a:t>ecstatic</a:t>
                      </a:r>
                      <a:r>
                        <a:rPr lang="en-GB" sz="2200"/>
                        <a:t>, delighted</a:t>
                      </a:r>
                    </a:p>
                  </a:txBody>
                  <a:tcPr anchor="ctr">
                    <a:lnL>
                      <a:noFill/>
                    </a:lnL>
                    <a:lnR>
                      <a:noFill/>
                    </a:lnR>
                    <a:lnT>
                      <a:noFill/>
                    </a:lnT>
                    <a:lnB>
                      <a:noFill/>
                    </a:lnB>
                    <a:solidFill>
                      <a:schemeClr val="accent3"/>
                    </a:solidFill>
                  </a:tcPr>
                </a:tc>
                <a:extLst>
                  <a:ext uri="{0D108BD9-81ED-4DB2-BD59-A6C34878D82A}">
                    <a16:rowId xmlns:a16="http://schemas.microsoft.com/office/drawing/2014/main" val="1846666533"/>
                  </a:ext>
                </a:extLst>
              </a:tr>
              <a:tr h="427929">
                <a:tc>
                  <a:txBody>
                    <a:bodyPr/>
                    <a:lstStyle/>
                    <a:p>
                      <a:pPr>
                        <a:buNone/>
                      </a:pPr>
                      <a:r>
                        <a:rPr lang="en-GB" sz="2200"/>
                        <a:t>very sad</a:t>
                      </a:r>
                    </a:p>
                  </a:txBody>
                  <a:tcPr anchor="ctr">
                    <a:lnL>
                      <a:noFill/>
                    </a:lnL>
                    <a:lnR>
                      <a:noFill/>
                    </a:lnR>
                    <a:lnT>
                      <a:noFill/>
                    </a:lnT>
                    <a:lnB>
                      <a:noFill/>
                    </a:lnB>
                    <a:solidFill>
                      <a:schemeClr val="accent3"/>
                    </a:solidFill>
                  </a:tcPr>
                </a:tc>
                <a:tc>
                  <a:txBody>
                    <a:bodyPr/>
                    <a:lstStyle/>
                    <a:p>
                      <a:pPr>
                        <a:buNone/>
                      </a:pPr>
                      <a:r>
                        <a:rPr lang="en-GB" sz="2200" b="1" dirty="0"/>
                        <a:t>devastated</a:t>
                      </a:r>
                      <a:r>
                        <a:rPr lang="en-GB" sz="2200" dirty="0"/>
                        <a:t>, miserable</a:t>
                      </a:r>
                    </a:p>
                  </a:txBody>
                  <a:tcPr anchor="ctr">
                    <a:lnL>
                      <a:noFill/>
                    </a:lnL>
                    <a:lnR>
                      <a:noFill/>
                    </a:lnR>
                    <a:lnT>
                      <a:noFill/>
                    </a:lnT>
                    <a:lnB>
                      <a:noFill/>
                    </a:lnB>
                    <a:solidFill>
                      <a:schemeClr val="accent3"/>
                    </a:solidFill>
                  </a:tcPr>
                </a:tc>
                <a:extLst>
                  <a:ext uri="{0D108BD9-81ED-4DB2-BD59-A6C34878D82A}">
                    <a16:rowId xmlns:a16="http://schemas.microsoft.com/office/drawing/2014/main" val="2810565721"/>
                  </a:ext>
                </a:extLst>
              </a:tr>
              <a:tr h="427929">
                <a:tc>
                  <a:txBody>
                    <a:bodyPr/>
                    <a:lstStyle/>
                    <a:p>
                      <a:pPr>
                        <a:buNone/>
                      </a:pPr>
                      <a:r>
                        <a:rPr lang="en-GB" sz="2200"/>
                        <a:t>very scared</a:t>
                      </a:r>
                    </a:p>
                  </a:txBody>
                  <a:tcPr anchor="ctr">
                    <a:lnL>
                      <a:noFill/>
                    </a:lnL>
                    <a:lnR>
                      <a:noFill/>
                    </a:lnR>
                    <a:lnT>
                      <a:noFill/>
                    </a:lnT>
                    <a:lnB>
                      <a:noFill/>
                    </a:lnB>
                    <a:solidFill>
                      <a:schemeClr val="accent3"/>
                    </a:solidFill>
                  </a:tcPr>
                </a:tc>
                <a:tc>
                  <a:txBody>
                    <a:bodyPr/>
                    <a:lstStyle/>
                    <a:p>
                      <a:pPr>
                        <a:buNone/>
                      </a:pPr>
                      <a:r>
                        <a:rPr lang="en-GB" sz="2200" b="1" dirty="0"/>
                        <a:t>terrified</a:t>
                      </a:r>
                      <a:r>
                        <a:rPr lang="en-GB" sz="2200" dirty="0"/>
                        <a:t>, petrified</a:t>
                      </a:r>
                    </a:p>
                  </a:txBody>
                  <a:tcPr anchor="ctr">
                    <a:lnL>
                      <a:noFill/>
                    </a:lnL>
                    <a:lnR>
                      <a:noFill/>
                    </a:lnR>
                    <a:lnT>
                      <a:noFill/>
                    </a:lnT>
                    <a:lnB>
                      <a:noFill/>
                    </a:lnB>
                    <a:solidFill>
                      <a:schemeClr val="accent3"/>
                    </a:solidFill>
                  </a:tcPr>
                </a:tc>
                <a:extLst>
                  <a:ext uri="{0D108BD9-81ED-4DB2-BD59-A6C34878D82A}">
                    <a16:rowId xmlns:a16="http://schemas.microsoft.com/office/drawing/2014/main" val="911630605"/>
                  </a:ext>
                </a:extLst>
              </a:tr>
              <a:tr h="427929">
                <a:tc>
                  <a:txBody>
                    <a:bodyPr/>
                    <a:lstStyle/>
                    <a:p>
                      <a:pPr>
                        <a:buNone/>
                      </a:pPr>
                      <a:r>
                        <a:rPr lang="en-GB" sz="2200" dirty="0"/>
                        <a:t>very tired</a:t>
                      </a:r>
                    </a:p>
                  </a:txBody>
                  <a:tcPr anchor="ctr">
                    <a:lnL>
                      <a:noFill/>
                    </a:lnL>
                    <a:lnR>
                      <a:noFill/>
                    </a:lnR>
                    <a:lnT>
                      <a:noFill/>
                    </a:lnT>
                    <a:lnB>
                      <a:noFill/>
                    </a:lnB>
                    <a:solidFill>
                      <a:schemeClr val="accent3"/>
                    </a:solidFill>
                  </a:tcPr>
                </a:tc>
                <a:tc>
                  <a:txBody>
                    <a:bodyPr/>
                    <a:lstStyle/>
                    <a:p>
                      <a:pPr>
                        <a:buNone/>
                      </a:pPr>
                      <a:r>
                        <a:rPr lang="en-GB" sz="2200" b="1" dirty="0"/>
                        <a:t>exhausted</a:t>
                      </a:r>
                      <a:r>
                        <a:rPr lang="en-GB" sz="2200" dirty="0"/>
                        <a:t>, drained</a:t>
                      </a:r>
                    </a:p>
                  </a:txBody>
                  <a:tcPr anchor="ctr">
                    <a:lnL>
                      <a:noFill/>
                    </a:lnL>
                    <a:lnR>
                      <a:noFill/>
                    </a:lnR>
                    <a:lnT>
                      <a:noFill/>
                    </a:lnT>
                    <a:lnB>
                      <a:noFill/>
                    </a:lnB>
                    <a:solidFill>
                      <a:schemeClr val="accent3"/>
                    </a:solidFill>
                  </a:tcPr>
                </a:tc>
                <a:extLst>
                  <a:ext uri="{0D108BD9-81ED-4DB2-BD59-A6C34878D82A}">
                    <a16:rowId xmlns:a16="http://schemas.microsoft.com/office/drawing/2014/main" val="286993671"/>
                  </a:ext>
                </a:extLst>
              </a:tr>
              <a:tr h="427929">
                <a:tc>
                  <a:txBody>
                    <a:bodyPr/>
                    <a:lstStyle/>
                    <a:p>
                      <a:pPr>
                        <a:buNone/>
                      </a:pPr>
                      <a:r>
                        <a:rPr lang="en-GB" sz="2200" dirty="0"/>
                        <a:t>very hungry</a:t>
                      </a:r>
                    </a:p>
                  </a:txBody>
                  <a:tcPr anchor="ctr">
                    <a:lnL>
                      <a:noFill/>
                    </a:lnL>
                    <a:lnR>
                      <a:noFill/>
                    </a:lnR>
                    <a:lnT>
                      <a:noFill/>
                    </a:lnT>
                    <a:lnB>
                      <a:noFill/>
                    </a:lnB>
                    <a:solidFill>
                      <a:schemeClr val="accent3"/>
                    </a:solidFill>
                  </a:tcPr>
                </a:tc>
                <a:tc>
                  <a:txBody>
                    <a:bodyPr/>
                    <a:lstStyle/>
                    <a:p>
                      <a:pPr>
                        <a:buNone/>
                      </a:pPr>
                      <a:r>
                        <a:rPr lang="en-GB" sz="2200" b="1" dirty="0"/>
                        <a:t>starving</a:t>
                      </a:r>
                      <a:r>
                        <a:rPr lang="en-GB" sz="2200" dirty="0"/>
                        <a:t>, famished</a:t>
                      </a:r>
                    </a:p>
                  </a:txBody>
                  <a:tcPr anchor="ctr">
                    <a:lnL>
                      <a:noFill/>
                    </a:lnL>
                    <a:lnR>
                      <a:noFill/>
                    </a:lnR>
                    <a:lnT>
                      <a:noFill/>
                    </a:lnT>
                    <a:lnB>
                      <a:noFill/>
                    </a:lnB>
                    <a:solidFill>
                      <a:schemeClr val="accent3"/>
                    </a:solidFill>
                  </a:tcPr>
                </a:tc>
                <a:extLst>
                  <a:ext uri="{0D108BD9-81ED-4DB2-BD59-A6C34878D82A}">
                    <a16:rowId xmlns:a16="http://schemas.microsoft.com/office/drawing/2014/main" val="693170080"/>
                  </a:ext>
                </a:extLst>
              </a:tr>
              <a:tr h="427929">
                <a:tc>
                  <a:txBody>
                    <a:bodyPr/>
                    <a:lstStyle/>
                    <a:p>
                      <a:pPr>
                        <a:buNone/>
                      </a:pPr>
                      <a:r>
                        <a:rPr lang="en-GB" sz="2200"/>
                        <a:t>very thirsty</a:t>
                      </a:r>
                    </a:p>
                  </a:txBody>
                  <a:tcPr anchor="ctr">
                    <a:lnL>
                      <a:noFill/>
                    </a:lnL>
                    <a:lnR>
                      <a:noFill/>
                    </a:lnR>
                    <a:lnT>
                      <a:noFill/>
                    </a:lnT>
                    <a:lnB>
                      <a:noFill/>
                    </a:lnB>
                    <a:solidFill>
                      <a:schemeClr val="accent3"/>
                    </a:solidFill>
                  </a:tcPr>
                </a:tc>
                <a:tc>
                  <a:txBody>
                    <a:bodyPr/>
                    <a:lstStyle/>
                    <a:p>
                      <a:pPr>
                        <a:buNone/>
                      </a:pPr>
                      <a:r>
                        <a:rPr lang="en-GB" sz="2200" b="1"/>
                        <a:t>parched</a:t>
                      </a:r>
                      <a:r>
                        <a:rPr lang="en-GB" sz="2200"/>
                        <a:t>, dehydrated</a:t>
                      </a:r>
                    </a:p>
                  </a:txBody>
                  <a:tcPr anchor="ctr">
                    <a:lnL>
                      <a:noFill/>
                    </a:lnL>
                    <a:lnR>
                      <a:noFill/>
                    </a:lnR>
                    <a:lnT>
                      <a:noFill/>
                    </a:lnT>
                    <a:lnB>
                      <a:noFill/>
                    </a:lnB>
                    <a:solidFill>
                      <a:schemeClr val="accent3"/>
                    </a:solidFill>
                  </a:tcPr>
                </a:tc>
                <a:extLst>
                  <a:ext uri="{0D108BD9-81ED-4DB2-BD59-A6C34878D82A}">
                    <a16:rowId xmlns:a16="http://schemas.microsoft.com/office/drawing/2014/main" val="2781180698"/>
                  </a:ext>
                </a:extLst>
              </a:tr>
              <a:tr h="427929">
                <a:tc>
                  <a:txBody>
                    <a:bodyPr/>
                    <a:lstStyle/>
                    <a:p>
                      <a:pPr>
                        <a:buNone/>
                      </a:pPr>
                      <a:r>
                        <a:rPr lang="en-GB" sz="2200"/>
                        <a:t>very cold</a:t>
                      </a:r>
                    </a:p>
                  </a:txBody>
                  <a:tcPr anchor="ctr">
                    <a:lnL>
                      <a:noFill/>
                    </a:lnL>
                    <a:lnR>
                      <a:noFill/>
                    </a:lnR>
                    <a:lnT>
                      <a:noFill/>
                    </a:lnT>
                    <a:lnB>
                      <a:noFill/>
                    </a:lnB>
                    <a:solidFill>
                      <a:schemeClr val="accent3"/>
                    </a:solidFill>
                  </a:tcPr>
                </a:tc>
                <a:tc>
                  <a:txBody>
                    <a:bodyPr/>
                    <a:lstStyle/>
                    <a:p>
                      <a:pPr>
                        <a:buNone/>
                      </a:pPr>
                      <a:r>
                        <a:rPr lang="en-GB" sz="2200" b="1"/>
                        <a:t>freezing</a:t>
                      </a:r>
                      <a:r>
                        <a:rPr lang="en-GB" sz="2200"/>
                        <a:t>, frigid</a:t>
                      </a:r>
                    </a:p>
                  </a:txBody>
                  <a:tcPr anchor="ctr">
                    <a:lnL>
                      <a:noFill/>
                    </a:lnL>
                    <a:lnR>
                      <a:noFill/>
                    </a:lnR>
                    <a:lnT>
                      <a:noFill/>
                    </a:lnT>
                    <a:lnB>
                      <a:noFill/>
                    </a:lnB>
                    <a:solidFill>
                      <a:schemeClr val="accent3"/>
                    </a:solidFill>
                  </a:tcPr>
                </a:tc>
                <a:extLst>
                  <a:ext uri="{0D108BD9-81ED-4DB2-BD59-A6C34878D82A}">
                    <a16:rowId xmlns:a16="http://schemas.microsoft.com/office/drawing/2014/main" val="3963189789"/>
                  </a:ext>
                </a:extLst>
              </a:tr>
              <a:tr h="427929">
                <a:tc>
                  <a:txBody>
                    <a:bodyPr/>
                    <a:lstStyle/>
                    <a:p>
                      <a:pPr>
                        <a:buNone/>
                      </a:pPr>
                      <a:r>
                        <a:rPr lang="en-GB" sz="2200" dirty="0"/>
                        <a:t>very hot</a:t>
                      </a:r>
                    </a:p>
                  </a:txBody>
                  <a:tcPr anchor="ctr">
                    <a:lnL>
                      <a:noFill/>
                    </a:lnL>
                    <a:lnR>
                      <a:noFill/>
                    </a:lnR>
                    <a:lnT>
                      <a:noFill/>
                    </a:lnT>
                    <a:lnB>
                      <a:noFill/>
                    </a:lnB>
                    <a:solidFill>
                      <a:schemeClr val="accent3"/>
                    </a:solidFill>
                  </a:tcPr>
                </a:tc>
                <a:tc>
                  <a:txBody>
                    <a:bodyPr/>
                    <a:lstStyle/>
                    <a:p>
                      <a:pPr>
                        <a:buNone/>
                      </a:pPr>
                      <a:r>
                        <a:rPr lang="en-GB" sz="2200" b="1" dirty="0"/>
                        <a:t>scorching</a:t>
                      </a:r>
                      <a:r>
                        <a:rPr lang="en-GB" sz="2200" dirty="0"/>
                        <a:t>, sweltering</a:t>
                      </a:r>
                    </a:p>
                  </a:txBody>
                  <a:tcPr anchor="ctr">
                    <a:lnL>
                      <a:noFill/>
                    </a:lnL>
                    <a:lnR>
                      <a:noFill/>
                    </a:lnR>
                    <a:lnT>
                      <a:noFill/>
                    </a:lnT>
                    <a:lnB>
                      <a:noFill/>
                    </a:lnB>
                    <a:solidFill>
                      <a:schemeClr val="accent3"/>
                    </a:solidFill>
                  </a:tcPr>
                </a:tc>
                <a:extLst>
                  <a:ext uri="{0D108BD9-81ED-4DB2-BD59-A6C34878D82A}">
                    <a16:rowId xmlns:a16="http://schemas.microsoft.com/office/drawing/2014/main" val="2038764423"/>
                  </a:ext>
                </a:extLst>
              </a:tr>
            </a:tbl>
          </a:graphicData>
        </a:graphic>
      </p:graphicFrame>
      <p:sp>
        <p:nvSpPr>
          <p:cNvPr id="20" name="TextBox 19">
            <a:extLst>
              <a:ext uri="{FF2B5EF4-FFF2-40B4-BE49-F238E27FC236}">
                <a16:creationId xmlns:a16="http://schemas.microsoft.com/office/drawing/2014/main" id="{D4C401D9-181F-DBAF-C07D-CE9EF6EECB16}"/>
              </a:ext>
            </a:extLst>
          </p:cNvPr>
          <p:cNvSpPr txBox="1"/>
          <p:nvPr/>
        </p:nvSpPr>
        <p:spPr>
          <a:xfrm>
            <a:off x="8262257" y="1382485"/>
            <a:ext cx="184731" cy="369332"/>
          </a:xfrm>
          <a:prstGeom prst="rect">
            <a:avLst/>
          </a:prstGeom>
          <a:noFill/>
        </p:spPr>
        <p:txBody>
          <a:bodyPr wrap="square" rtlCol="0">
            <a:spAutoFit/>
          </a:bodyPr>
          <a:lstStyle/>
          <a:p>
            <a:endParaRPr lang="en-GB"/>
          </a:p>
        </p:txBody>
      </p:sp>
      <p:sp>
        <p:nvSpPr>
          <p:cNvPr id="48" name="TextBox 47">
            <a:extLst>
              <a:ext uri="{FF2B5EF4-FFF2-40B4-BE49-F238E27FC236}">
                <a16:creationId xmlns:a16="http://schemas.microsoft.com/office/drawing/2014/main" id="{E82520BD-3C95-2954-B262-9333DDB83D86}"/>
              </a:ext>
            </a:extLst>
          </p:cNvPr>
          <p:cNvSpPr txBox="1"/>
          <p:nvPr/>
        </p:nvSpPr>
        <p:spPr>
          <a:xfrm>
            <a:off x="6788831" y="2797629"/>
            <a:ext cx="4412569" cy="3570514"/>
          </a:xfrm>
          <a:prstGeom prst="rect">
            <a:avLst/>
          </a:prstGeom>
          <a:solidFill>
            <a:schemeClr val="accent3"/>
          </a:solidFill>
        </p:spPr>
        <p:txBody>
          <a:bodyPr wrap="square">
            <a:spAutoFit/>
          </a:bodyPr>
          <a:lstStyle/>
          <a:p>
            <a:pPr lvl="0"/>
            <a:r>
              <a:rPr lang="en-GB" sz="2200" dirty="0"/>
              <a:t>very surprised → </a:t>
            </a:r>
            <a:r>
              <a:rPr lang="en-GB" sz="2200" b="1" dirty="0"/>
              <a:t>astonished</a:t>
            </a:r>
            <a:r>
              <a:rPr lang="en-GB" sz="2200" dirty="0"/>
              <a:t> </a:t>
            </a:r>
          </a:p>
          <a:p>
            <a:pPr lvl="0"/>
            <a:r>
              <a:rPr lang="en-GB" sz="2200" dirty="0"/>
              <a:t>very worried → </a:t>
            </a:r>
            <a:r>
              <a:rPr lang="en-GB" sz="2200" b="1" dirty="0"/>
              <a:t>anxious</a:t>
            </a:r>
            <a:r>
              <a:rPr lang="en-GB" sz="2200" dirty="0"/>
              <a:t> </a:t>
            </a:r>
          </a:p>
          <a:p>
            <a:pPr lvl="0"/>
            <a:r>
              <a:rPr lang="en-GB" sz="2200" dirty="0"/>
              <a:t>very careful → </a:t>
            </a:r>
            <a:r>
              <a:rPr lang="en-GB" sz="2200" b="1" dirty="0"/>
              <a:t>meticulous</a:t>
            </a:r>
            <a:r>
              <a:rPr lang="en-GB" sz="2200" dirty="0"/>
              <a:t> </a:t>
            </a:r>
          </a:p>
          <a:p>
            <a:pPr lvl="0"/>
            <a:r>
              <a:rPr lang="en-GB" sz="2200" dirty="0"/>
              <a:t>very messy → </a:t>
            </a:r>
            <a:r>
              <a:rPr lang="en-GB" sz="2200" b="1" dirty="0"/>
              <a:t>chaotic</a:t>
            </a:r>
            <a:r>
              <a:rPr lang="en-GB" sz="2200" dirty="0"/>
              <a:t> </a:t>
            </a:r>
          </a:p>
          <a:p>
            <a:pPr lvl="0"/>
            <a:r>
              <a:rPr lang="en-GB" sz="2200" dirty="0"/>
              <a:t>very busy → </a:t>
            </a:r>
            <a:r>
              <a:rPr lang="en-GB" sz="2200" b="1" dirty="0"/>
              <a:t>swamped</a:t>
            </a:r>
            <a:r>
              <a:rPr lang="en-GB" sz="2200" dirty="0"/>
              <a:t> </a:t>
            </a:r>
          </a:p>
          <a:p>
            <a:pPr lvl="0"/>
            <a:r>
              <a:rPr lang="en-GB" sz="2200" dirty="0"/>
              <a:t>very confused → </a:t>
            </a:r>
            <a:r>
              <a:rPr lang="en-GB" sz="2200" b="1" dirty="0"/>
              <a:t>bewildered</a:t>
            </a:r>
            <a:r>
              <a:rPr lang="en-GB" sz="2200" dirty="0"/>
              <a:t> </a:t>
            </a:r>
          </a:p>
          <a:p>
            <a:pPr lvl="0"/>
            <a:r>
              <a:rPr lang="en-GB" sz="2200" dirty="0"/>
              <a:t>very strong → </a:t>
            </a:r>
            <a:r>
              <a:rPr lang="en-GB" sz="2200" b="1" dirty="0"/>
              <a:t>powerful</a:t>
            </a:r>
            <a:r>
              <a:rPr lang="en-GB" sz="2200" dirty="0"/>
              <a:t> </a:t>
            </a:r>
          </a:p>
          <a:p>
            <a:pPr lvl="0"/>
            <a:r>
              <a:rPr lang="en-GB" sz="2200" dirty="0"/>
              <a:t>very weak → </a:t>
            </a:r>
            <a:r>
              <a:rPr lang="en-GB" sz="2200" b="1" dirty="0"/>
              <a:t>feeble</a:t>
            </a:r>
            <a:r>
              <a:rPr lang="en-GB" sz="2200" dirty="0"/>
              <a:t> </a:t>
            </a:r>
          </a:p>
          <a:p>
            <a:pPr lvl="0"/>
            <a:r>
              <a:rPr lang="en-GB" sz="2200" dirty="0"/>
              <a:t>very bright → </a:t>
            </a:r>
            <a:r>
              <a:rPr lang="en-GB" sz="2200" b="1" dirty="0"/>
              <a:t>dazzling</a:t>
            </a:r>
            <a:r>
              <a:rPr lang="en-GB" sz="2200" dirty="0"/>
              <a:t> </a:t>
            </a:r>
          </a:p>
          <a:p>
            <a:pPr lvl="0"/>
            <a:r>
              <a:rPr lang="en-GB" sz="2200" dirty="0"/>
              <a:t>very dark → </a:t>
            </a:r>
            <a:r>
              <a:rPr lang="en-GB" sz="2200" b="1" dirty="0"/>
              <a:t>pitch-black</a:t>
            </a:r>
            <a:endParaRPr lang="en-GB" sz="2200" dirty="0"/>
          </a:p>
        </p:txBody>
      </p:sp>
    </p:spTree>
    <p:extLst>
      <p:ext uri="{BB962C8B-B14F-4D97-AF65-F5344CB8AC3E}">
        <p14:creationId xmlns:p14="http://schemas.microsoft.com/office/powerpoint/2010/main" val="10765016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89FE8A-52BF-BF06-72AD-DDE6073A5BC1}"/>
              </a:ext>
            </a:extLst>
          </p:cNvPr>
          <p:cNvSpPr txBox="1"/>
          <p:nvPr/>
        </p:nvSpPr>
        <p:spPr>
          <a:xfrm>
            <a:off x="877956" y="629180"/>
            <a:ext cx="10646229" cy="5078313"/>
          </a:xfrm>
          <a:prstGeom prst="rect">
            <a:avLst/>
          </a:prstGeom>
          <a:noFill/>
        </p:spPr>
        <p:txBody>
          <a:bodyPr wrap="square">
            <a:spAutoFit/>
          </a:bodyPr>
          <a:lstStyle/>
          <a:p>
            <a:pPr marL="228600" indent="-228600">
              <a:buAutoNum type="arabicPeriod"/>
            </a:pPr>
            <a:r>
              <a:rPr lang="en-GB" b="1" i="0" dirty="0">
                <a:solidFill>
                  <a:srgbClr val="212529"/>
                </a:solidFill>
                <a:effectLst/>
              </a:rPr>
              <a:t>(A) There were / (B) no less than fifty persons / (C) present in the room / (D) No error</a:t>
            </a:r>
          </a:p>
          <a:p>
            <a:pPr marL="342900" indent="-342900">
              <a:buAutoNum type="arabicPeriod"/>
            </a:pPr>
            <a:endParaRPr lang="en-GB" b="1" dirty="0">
              <a:solidFill>
                <a:srgbClr val="212529"/>
              </a:solidFill>
            </a:endParaRPr>
          </a:p>
          <a:p>
            <a:r>
              <a:rPr lang="en-GB" b="1" dirty="0">
                <a:solidFill>
                  <a:srgbClr val="212529"/>
                </a:solidFill>
              </a:rPr>
              <a:t>2. </a:t>
            </a:r>
            <a:r>
              <a:rPr lang="en-GB" b="1" dirty="0"/>
              <a:t>(A) Few remarks / (B) that he made were / (C) offensive to my friend / (D) No error</a:t>
            </a:r>
          </a:p>
          <a:p>
            <a:endParaRPr lang="en-GB" b="1" dirty="0"/>
          </a:p>
          <a:p>
            <a:r>
              <a:rPr lang="en-GB" b="1" dirty="0"/>
              <a:t>3. Before the alarm had stopped (A)/ ringing (B)/ Nisha had telephoned (C)/ the police (D)/ No error (E).</a:t>
            </a:r>
          </a:p>
          <a:p>
            <a:endParaRPr lang="en-GB" b="1" dirty="0"/>
          </a:p>
          <a:p>
            <a:r>
              <a:rPr lang="en-GB" b="1" dirty="0"/>
              <a:t>4. The teacher of English(A)/ gave him a home work (B)/ to complete that (C)/ by night positively(D)/ No error (E).</a:t>
            </a:r>
          </a:p>
          <a:p>
            <a:endParaRPr lang="en-GB" b="1" dirty="0"/>
          </a:p>
          <a:p>
            <a:r>
              <a:rPr lang="en-GB" b="1" dirty="0"/>
              <a:t>5. The board of directors (A)/ want the facilities (B)/ of car and accommodation (C)/ for itself (D)/ No error (E).</a:t>
            </a:r>
          </a:p>
          <a:p>
            <a:endParaRPr lang="en-GB" b="1" dirty="0"/>
          </a:p>
          <a:p>
            <a:r>
              <a:rPr lang="en-GB" b="1" dirty="0"/>
              <a:t>6. Every teacher (A)/  for this school is determined to do their best (B)/ for the benefit of all (C)/ No error (D).</a:t>
            </a:r>
          </a:p>
          <a:p>
            <a:endParaRPr lang="en-GB" b="1" dirty="0"/>
          </a:p>
          <a:p>
            <a:r>
              <a:rPr lang="en-GB" b="1" dirty="0"/>
              <a:t>7. The officer(A)/ as well as the (B)/ clerks absented themselves(C)/ from the office (D)/ No error (E).</a:t>
            </a:r>
          </a:p>
          <a:p>
            <a:endParaRPr lang="en-GB" b="1" dirty="0"/>
          </a:p>
          <a:p>
            <a:r>
              <a:rPr lang="en-GB" b="1" dirty="0"/>
              <a:t>8. Can we rely (A)/on this agency (B)/for the last news (C)/of the day (D)/ No error (E).</a:t>
            </a:r>
          </a:p>
        </p:txBody>
      </p:sp>
    </p:spTree>
    <p:extLst>
      <p:ext uri="{BB962C8B-B14F-4D97-AF65-F5344CB8AC3E}">
        <p14:creationId xmlns:p14="http://schemas.microsoft.com/office/powerpoint/2010/main" val="7866067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1F36FD5-272D-8DFF-267C-DE0A43D3CF2D}"/>
              </a:ext>
            </a:extLst>
          </p:cNvPr>
          <p:cNvGrpSpPr/>
          <p:nvPr/>
        </p:nvGrpSpPr>
        <p:grpSpPr>
          <a:xfrm>
            <a:off x="506945" y="233422"/>
            <a:ext cx="11204599" cy="6391155"/>
            <a:chOff x="-1560564" y="-168943"/>
            <a:chExt cx="11204599" cy="6391155"/>
          </a:xfrm>
        </p:grpSpPr>
        <p:pic>
          <p:nvPicPr>
            <p:cNvPr id="7" name="Picture 6">
              <a:extLst>
                <a:ext uri="{FF2B5EF4-FFF2-40B4-BE49-F238E27FC236}">
                  <a16:creationId xmlns:a16="http://schemas.microsoft.com/office/drawing/2014/main" id="{F7510F7C-BBFF-A64B-6CEE-EA02B0CDE6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7064" y="-168943"/>
              <a:ext cx="5446971" cy="6266231"/>
            </a:xfrm>
            <a:prstGeom prst="rect">
              <a:avLst/>
            </a:prstGeom>
          </p:spPr>
        </p:pic>
        <p:pic>
          <p:nvPicPr>
            <p:cNvPr id="9" name="Picture 8">
              <a:extLst>
                <a:ext uri="{FF2B5EF4-FFF2-40B4-BE49-F238E27FC236}">
                  <a16:creationId xmlns:a16="http://schemas.microsoft.com/office/drawing/2014/main" id="{2D9CCC82-8FEB-34F4-6087-5567BA6E91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0564" y="-168942"/>
              <a:ext cx="5420484" cy="6391154"/>
            </a:xfrm>
            <a:prstGeom prst="rect">
              <a:avLst/>
            </a:prstGeom>
          </p:spPr>
        </p:pic>
      </p:grpSp>
    </p:spTree>
    <p:extLst>
      <p:ext uri="{BB962C8B-B14F-4D97-AF65-F5344CB8AC3E}">
        <p14:creationId xmlns:p14="http://schemas.microsoft.com/office/powerpoint/2010/main" val="35906212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4D792E-D4BF-5307-8600-01A3BDDE0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8227" y="0"/>
            <a:ext cx="5560374" cy="6623222"/>
          </a:xfrm>
          <a:prstGeom prst="rect">
            <a:avLst/>
          </a:prstGeom>
        </p:spPr>
      </p:pic>
      <p:pic>
        <p:nvPicPr>
          <p:cNvPr id="5" name="Picture 4">
            <a:extLst>
              <a:ext uri="{FF2B5EF4-FFF2-40B4-BE49-F238E27FC236}">
                <a16:creationId xmlns:a16="http://schemas.microsoft.com/office/drawing/2014/main" id="{43524FB6-47E9-158A-C337-30565987F5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830" y="128643"/>
            <a:ext cx="5342647" cy="6365935"/>
          </a:xfrm>
          <a:prstGeom prst="rect">
            <a:avLst/>
          </a:prstGeom>
        </p:spPr>
      </p:pic>
    </p:spTree>
    <p:extLst>
      <p:ext uri="{BB962C8B-B14F-4D97-AF65-F5344CB8AC3E}">
        <p14:creationId xmlns:p14="http://schemas.microsoft.com/office/powerpoint/2010/main" val="9234878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136F5F-B8B7-E356-CA59-B5A63FFB81F9}"/>
              </a:ext>
            </a:extLst>
          </p:cNvPr>
          <p:cNvSpPr txBox="1"/>
          <p:nvPr/>
        </p:nvSpPr>
        <p:spPr>
          <a:xfrm>
            <a:off x="587829" y="274290"/>
            <a:ext cx="11016342" cy="6309420"/>
          </a:xfrm>
          <a:prstGeom prst="rect">
            <a:avLst/>
          </a:prstGeom>
          <a:noFill/>
        </p:spPr>
        <p:txBody>
          <a:bodyPr wrap="square">
            <a:spAutoFit/>
          </a:bodyPr>
          <a:lstStyle/>
          <a:p>
            <a:pPr indent="0" algn="l" fontAlgn="base">
              <a:buNone/>
            </a:pPr>
            <a:r>
              <a:rPr lang="en-GB" sz="2000" b="0" i="0" dirty="0">
                <a:solidFill>
                  <a:srgbClr val="C00000"/>
                </a:solidFill>
                <a:effectLst/>
              </a:rPr>
              <a:t>1</a:t>
            </a:r>
            <a:r>
              <a:rPr lang="en-GB" sz="2400" b="0" i="0" dirty="0">
                <a:solidFill>
                  <a:srgbClr val="C00000"/>
                </a:solidFill>
                <a:effectLst/>
              </a:rPr>
              <a:t>.  According to me, ..  / As per me, ...</a:t>
            </a:r>
          </a:p>
          <a:p>
            <a:pPr indent="0" algn="l" fontAlgn="base">
              <a:buNone/>
            </a:pPr>
            <a:r>
              <a:rPr lang="en-GB" sz="2000" b="0" i="0" dirty="0">
                <a:effectLst/>
              </a:rPr>
              <a:t>Correct:</a:t>
            </a:r>
          </a:p>
          <a:p>
            <a:pPr marL="742950" marR="0" lvl="1" indent="-285750" algn="l" fontAlgn="base">
              <a:buFont typeface="Arial" panose="020B0604020202020204" pitchFamily="34" charset="0"/>
              <a:buChar char="•"/>
            </a:pPr>
            <a:r>
              <a:rPr lang="en-GB" sz="2000" b="0" i="1" dirty="0">
                <a:effectLst/>
              </a:rPr>
              <a:t>In my opinion,</a:t>
            </a:r>
            <a:endParaRPr lang="en-GB" sz="2000" b="0" i="0" dirty="0">
              <a:effectLst/>
            </a:endParaRPr>
          </a:p>
          <a:p>
            <a:pPr marL="742950" marR="0" lvl="1" indent="-285750" algn="l" fontAlgn="base">
              <a:buFont typeface="Arial" panose="020B0604020202020204" pitchFamily="34" charset="0"/>
              <a:buChar char="•"/>
            </a:pPr>
            <a:r>
              <a:rPr lang="en-GB" sz="2000" b="0" i="1" dirty="0">
                <a:effectLst/>
              </a:rPr>
              <a:t>I think, ...</a:t>
            </a:r>
            <a:endParaRPr lang="en-GB" sz="2000" b="0" i="0" dirty="0">
              <a:effectLst/>
            </a:endParaRPr>
          </a:p>
          <a:p>
            <a:pPr indent="0" algn="l" fontAlgn="base">
              <a:buNone/>
            </a:pPr>
            <a:r>
              <a:rPr lang="en-GB" sz="2000" b="0" i="0" dirty="0">
                <a:effectLst/>
              </a:rPr>
              <a:t>The phrase "According to" or "As per" is used to refer to a </a:t>
            </a:r>
            <a:r>
              <a:rPr lang="en-GB" sz="2000" b="1" i="0" dirty="0">
                <a:effectLst/>
              </a:rPr>
              <a:t>third person </a:t>
            </a:r>
            <a:r>
              <a:rPr lang="en-GB" sz="2000" b="0" i="0" dirty="0">
                <a:effectLst/>
              </a:rPr>
              <a:t>(someone who isn't you), who is often an </a:t>
            </a:r>
            <a:r>
              <a:rPr lang="en-GB" sz="2000" b="1" i="0" dirty="0">
                <a:effectLst/>
              </a:rPr>
              <a:t>expert</a:t>
            </a:r>
            <a:r>
              <a:rPr lang="en-GB" sz="2000" b="0" i="0" dirty="0">
                <a:effectLst/>
              </a:rPr>
              <a:t> on the subject. For example, "</a:t>
            </a:r>
            <a:r>
              <a:rPr lang="en-GB" sz="2000" b="0" i="1" dirty="0">
                <a:effectLst/>
              </a:rPr>
              <a:t>According to Newton, there are three laws of motion</a:t>
            </a:r>
            <a:r>
              <a:rPr lang="en-GB" sz="2000" b="0" i="0" dirty="0">
                <a:effectLst/>
              </a:rPr>
              <a:t>."  If you say 'According to me', then you are citing yourself as an expert (and you probably aren't an expert).</a:t>
            </a:r>
          </a:p>
          <a:p>
            <a:pPr indent="0" algn="l" fontAlgn="base">
              <a:buNone/>
            </a:pPr>
            <a:endParaRPr lang="en-GB" sz="2400" b="0" i="0" dirty="0">
              <a:effectLst/>
            </a:endParaRPr>
          </a:p>
          <a:p>
            <a:pPr indent="0" algn="l" fontAlgn="base">
              <a:buNone/>
            </a:pPr>
            <a:r>
              <a:rPr lang="en-GB" sz="2400" dirty="0">
                <a:solidFill>
                  <a:srgbClr val="C00000"/>
                </a:solidFill>
              </a:rPr>
              <a:t>2.  </a:t>
            </a:r>
            <a:r>
              <a:rPr lang="en-US" sz="2400" dirty="0">
                <a:solidFill>
                  <a:srgbClr val="C00000"/>
                </a:solidFill>
              </a:rPr>
              <a:t>Students must cope up with stress.</a:t>
            </a:r>
          </a:p>
          <a:p>
            <a:pPr indent="0" algn="l" fontAlgn="base">
              <a:buNone/>
            </a:pPr>
            <a:r>
              <a:rPr lang="en-US" sz="2400" dirty="0"/>
              <a:t>Correct: Students must cope with stress.  The preposition "up" here is not necessary.  To cope up is not a phrasal verb.</a:t>
            </a:r>
          </a:p>
          <a:p>
            <a:pPr indent="0" algn="l" fontAlgn="base">
              <a:buNone/>
            </a:pPr>
            <a:endParaRPr lang="en-US" sz="2000" b="0" i="0" dirty="0">
              <a:effectLst/>
            </a:endParaRPr>
          </a:p>
          <a:p>
            <a:pPr fontAlgn="base"/>
            <a:r>
              <a:rPr lang="en-US" sz="2000" dirty="0">
                <a:solidFill>
                  <a:srgbClr val="C00000"/>
                </a:solidFill>
              </a:rPr>
              <a:t>3. </a:t>
            </a:r>
            <a:r>
              <a:rPr lang="en-GB" sz="2400" dirty="0">
                <a:solidFill>
                  <a:srgbClr val="C00000"/>
                </a:solidFill>
              </a:rPr>
              <a:t>Although I was hungry, but I didn't stop studying.</a:t>
            </a:r>
            <a:endParaRPr lang="en-GB" sz="2000" dirty="0">
              <a:solidFill>
                <a:srgbClr val="C00000"/>
              </a:solidFill>
            </a:endParaRPr>
          </a:p>
          <a:p>
            <a:pPr fontAlgn="base"/>
            <a:r>
              <a:rPr lang="en-GB" sz="2000" dirty="0"/>
              <a:t>Correct:</a:t>
            </a:r>
          </a:p>
          <a:p>
            <a:pPr lvl="2" fontAlgn="base"/>
            <a:r>
              <a:rPr lang="en-GB" sz="2000" i="1" dirty="0"/>
              <a:t>Although I was hungry, I didn't stop studying.</a:t>
            </a:r>
            <a:endParaRPr lang="en-GB" sz="2000" dirty="0"/>
          </a:p>
          <a:p>
            <a:pPr lvl="2" fontAlgn="base"/>
            <a:r>
              <a:rPr lang="en-GB" sz="2000" i="1" dirty="0"/>
              <a:t>I was hungry, but I didn't stop studying.</a:t>
            </a:r>
            <a:endParaRPr lang="en-GB" sz="2000" dirty="0"/>
          </a:p>
          <a:p>
            <a:pPr fontAlgn="base"/>
            <a:r>
              <a:rPr lang="en-GB" sz="2000" dirty="0"/>
              <a:t>The words </a:t>
            </a:r>
            <a:r>
              <a:rPr lang="en-GB" sz="2000" i="1" dirty="0"/>
              <a:t>although</a:t>
            </a:r>
            <a:r>
              <a:rPr lang="en-GB" sz="2000" dirty="0"/>
              <a:t> and </a:t>
            </a:r>
            <a:r>
              <a:rPr lang="en-GB" sz="2000" i="1" dirty="0"/>
              <a:t>but</a:t>
            </a:r>
            <a:r>
              <a:rPr lang="en-GB" sz="2000" dirty="0"/>
              <a:t> have the same function. You should only use </a:t>
            </a:r>
            <a:r>
              <a:rPr lang="en-GB" sz="2000" u="sng" dirty="0"/>
              <a:t>one</a:t>
            </a:r>
            <a:r>
              <a:rPr lang="en-GB" sz="2000" dirty="0"/>
              <a:t> of these words in a sentence to present contrasting ideas, not both of them. </a:t>
            </a:r>
          </a:p>
          <a:p>
            <a:pPr indent="0" algn="l" fontAlgn="base">
              <a:buNone/>
            </a:pPr>
            <a:endParaRPr lang="en-GB" sz="2000" b="0" i="0" dirty="0">
              <a:effectLst/>
            </a:endParaRPr>
          </a:p>
        </p:txBody>
      </p:sp>
    </p:spTree>
    <p:extLst>
      <p:ext uri="{BB962C8B-B14F-4D97-AF65-F5344CB8AC3E}">
        <p14:creationId xmlns:p14="http://schemas.microsoft.com/office/powerpoint/2010/main" val="25409068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209562-E478-597B-4461-9C5B6C78CA51}"/>
              </a:ext>
            </a:extLst>
          </p:cNvPr>
          <p:cNvSpPr txBox="1"/>
          <p:nvPr/>
        </p:nvSpPr>
        <p:spPr>
          <a:xfrm>
            <a:off x="738317" y="415452"/>
            <a:ext cx="10679326" cy="6124754"/>
          </a:xfrm>
          <a:prstGeom prst="rect">
            <a:avLst/>
          </a:prstGeom>
          <a:noFill/>
        </p:spPr>
        <p:txBody>
          <a:bodyPr wrap="square">
            <a:spAutoFit/>
          </a:bodyPr>
          <a:lstStyle/>
          <a:p>
            <a:pPr lvl="1"/>
            <a:r>
              <a:rPr lang="en-GB" sz="2400" b="1" i="0" dirty="0">
                <a:solidFill>
                  <a:srgbClr val="C00000"/>
                </a:solidFill>
                <a:effectLst/>
                <a:latin typeface="Times New Roman" panose="02020603050405020304" pitchFamily="18" charset="0"/>
                <a:cs typeface="Times New Roman" panose="02020603050405020304" pitchFamily="18" charset="0"/>
              </a:rPr>
              <a:t>Subject-verb agreement</a:t>
            </a:r>
          </a:p>
          <a:p>
            <a:pPr marL="914400" lvl="1" indent="-457200">
              <a:buFontTx/>
              <a:buAutoNum type="arabicPeriod"/>
            </a:pPr>
            <a:endParaRPr lang="en-GB" sz="2400" b="1" i="0" dirty="0">
              <a:solidFill>
                <a:srgbClr val="222222"/>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400" dirty="0"/>
              <a:t>She go to college every day.</a:t>
            </a:r>
          </a:p>
          <a:p>
            <a:pPr marL="342900" indent="-342900">
              <a:buFont typeface="Arial" panose="020B0604020202020204" pitchFamily="34" charset="0"/>
              <a:buChar char="•"/>
            </a:pPr>
            <a:r>
              <a:rPr lang="en-GB" sz="2400" dirty="0"/>
              <a:t>He play cricket</a:t>
            </a:r>
            <a:endParaRPr lang="en-GB" sz="2400" b="1" dirty="0">
              <a:solidFill>
                <a:srgbClr val="222222"/>
              </a:solidFill>
              <a:latin typeface="Work Sans" pitchFamily="2" charset="0"/>
            </a:endParaRPr>
          </a:p>
          <a:p>
            <a:pPr marL="342900" indent="-342900">
              <a:buFont typeface="Arial" panose="020B0604020202020204" pitchFamily="34" charset="0"/>
              <a:buChar char="•"/>
            </a:pPr>
            <a:r>
              <a:rPr lang="en-GB" sz="2400" dirty="0"/>
              <a:t>✖ </a:t>
            </a:r>
            <a:r>
              <a:rPr lang="en-GB" sz="2400" i="1" dirty="0"/>
              <a:t>The results of the experiment shows significant improvement.</a:t>
            </a:r>
          </a:p>
          <a:p>
            <a:pPr marL="342900" indent="-342900">
              <a:buFont typeface="Arial" panose="020B0604020202020204" pitchFamily="34" charset="0"/>
              <a:buChar char="•"/>
            </a:pPr>
            <a:r>
              <a:rPr lang="en-GB" sz="2400" dirty="0"/>
              <a:t>The list of items are on the table</a:t>
            </a:r>
          </a:p>
          <a:p>
            <a:pPr marL="342900" indent="-342900">
              <a:buFont typeface="Arial" panose="020B0604020202020204" pitchFamily="34" charset="0"/>
              <a:buChar char="•"/>
            </a:pPr>
            <a:r>
              <a:rPr lang="en-GB" sz="2400" dirty="0"/>
              <a:t>The quality of these products are poor</a:t>
            </a:r>
          </a:p>
          <a:p>
            <a:pPr marL="914400" lvl="1" indent="-457200">
              <a:buFontTx/>
              <a:buAutoNum type="arabicPeriod"/>
            </a:pPr>
            <a:endParaRPr lang="en-GB" sz="2200" b="1" i="0" dirty="0">
              <a:solidFill>
                <a:srgbClr val="222222"/>
              </a:solidFill>
              <a:effectLst/>
              <a:latin typeface="Times New Roman" panose="02020603050405020304" pitchFamily="18" charset="0"/>
              <a:cs typeface="Times New Roman" panose="02020603050405020304" pitchFamily="18" charset="0"/>
            </a:endParaRPr>
          </a:p>
          <a:p>
            <a:pPr lvl="1"/>
            <a:r>
              <a:rPr lang="en-GB" sz="2400" b="1" dirty="0">
                <a:solidFill>
                  <a:srgbClr val="C00000"/>
                </a:solidFill>
              </a:rPr>
              <a:t>Redundant phrasing and wordiness</a:t>
            </a:r>
            <a:endParaRPr lang="en-GB" sz="1950" b="1" i="0" dirty="0">
              <a:solidFill>
                <a:srgbClr val="C00000"/>
              </a:solidFill>
              <a:effectLst/>
              <a:latin typeface="Work Sans" pitchFamily="2" charset="0"/>
            </a:endParaRPr>
          </a:p>
          <a:p>
            <a:endParaRPr lang="en-GB" b="1" dirty="0"/>
          </a:p>
          <a:p>
            <a:pPr marL="285750" indent="-285750">
              <a:buFont typeface="Arial" panose="020B0604020202020204" pitchFamily="34" charset="0"/>
              <a:buChar char="•"/>
            </a:pPr>
            <a:r>
              <a:rPr lang="en-GB" sz="2000" i="1" dirty="0"/>
              <a:t>In the event that the experiment fails, we will repeat it again.</a:t>
            </a:r>
          </a:p>
          <a:p>
            <a:pPr marL="285750" indent="-285750">
              <a:buFont typeface="Arial" panose="020B0604020202020204" pitchFamily="34" charset="0"/>
              <a:buChar char="•"/>
            </a:pPr>
            <a:r>
              <a:rPr lang="en-GB" sz="2000" dirty="0"/>
              <a:t>In my personal opinion</a:t>
            </a:r>
          </a:p>
          <a:p>
            <a:pPr marL="285750" indent="-285750">
              <a:buFont typeface="Arial" panose="020B0604020202020204" pitchFamily="34" charset="0"/>
              <a:buChar char="•"/>
            </a:pPr>
            <a:r>
              <a:rPr lang="en-GB" sz="2000" dirty="0"/>
              <a:t>Due to the fact that – because </a:t>
            </a:r>
          </a:p>
          <a:p>
            <a:pPr marL="285750" indent="-285750">
              <a:buFont typeface="Arial" panose="020B0604020202020204" pitchFamily="34" charset="0"/>
              <a:buChar char="•"/>
            </a:pPr>
            <a:r>
              <a:rPr lang="en-GB" sz="2000" dirty="0"/>
              <a:t>I have told you again and again</a:t>
            </a:r>
          </a:p>
          <a:p>
            <a:pPr marL="285750" indent="-285750">
              <a:buFont typeface="Arial" panose="020B0604020202020204" pitchFamily="34" charset="0"/>
              <a:buChar char="•"/>
            </a:pPr>
            <a:endParaRPr lang="en-GB" sz="2000" dirty="0"/>
          </a:p>
          <a:p>
            <a:r>
              <a:rPr lang="en-GB" sz="2000" dirty="0"/>
              <a:t>Redundancy = using a word or phrase whose meaning is already contained in another word or phrase, without adding useful meaning.</a:t>
            </a:r>
            <a:endParaRPr lang="en-GB" sz="2000" b="1" dirty="0"/>
          </a:p>
          <a:p>
            <a:endParaRPr lang="en-GB" sz="2000" b="1" i="0" dirty="0">
              <a:solidFill>
                <a:srgbClr val="222222"/>
              </a:solidFill>
              <a:effectLst/>
              <a:latin typeface="Work Sans" pitchFamily="2" charset="0"/>
            </a:endParaRPr>
          </a:p>
        </p:txBody>
      </p:sp>
    </p:spTree>
    <p:extLst>
      <p:ext uri="{BB962C8B-B14F-4D97-AF65-F5344CB8AC3E}">
        <p14:creationId xmlns:p14="http://schemas.microsoft.com/office/powerpoint/2010/main" val="33995538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DF8E6E-ED6E-E9FE-CF4B-5A98E629BA95}"/>
              </a:ext>
            </a:extLst>
          </p:cNvPr>
          <p:cNvSpPr txBox="1"/>
          <p:nvPr/>
        </p:nvSpPr>
        <p:spPr>
          <a:xfrm>
            <a:off x="953059" y="547263"/>
            <a:ext cx="10285882" cy="3285515"/>
          </a:xfrm>
          <a:prstGeom prst="rect">
            <a:avLst/>
          </a:prstGeom>
          <a:noFill/>
        </p:spPr>
        <p:txBody>
          <a:bodyPr wrap="square">
            <a:spAutoFit/>
          </a:bodyPr>
          <a:lstStyle/>
          <a:p>
            <a:pPr marL="0" marR="0" indent="0" algn="l">
              <a:buNone/>
            </a:pPr>
            <a:r>
              <a:rPr lang="en-GB" sz="2400" b="1" i="0" dirty="0">
                <a:solidFill>
                  <a:srgbClr val="C00000"/>
                </a:solidFill>
                <a:effectLst/>
                <a:latin typeface="Times New Roman" panose="02020603050405020304" pitchFamily="18" charset="0"/>
                <a:cs typeface="Times New Roman" panose="02020603050405020304" pitchFamily="18" charset="0"/>
              </a:rPr>
              <a:t>Improper use of prepositions</a:t>
            </a:r>
          </a:p>
          <a:p>
            <a:pPr marL="0" marR="0" indent="0" algn="l">
              <a:buNone/>
            </a:pPr>
            <a:endParaRPr lang="en-GB" sz="2000" b="1" dirty="0">
              <a:solidFill>
                <a:srgbClr val="222222"/>
              </a:solidFill>
              <a:latin typeface="Work Sans" pitchFamily="2" charset="0"/>
            </a:endParaRPr>
          </a:p>
          <a:p>
            <a:r>
              <a:rPr lang="en-GB" sz="2400" dirty="0"/>
              <a:t>✖ </a:t>
            </a:r>
            <a:r>
              <a:rPr lang="en-GB" sz="2400" i="1" dirty="0"/>
              <a:t>The results were consistent to previous studies.</a:t>
            </a:r>
            <a:endParaRPr lang="en-GB" sz="2400" dirty="0"/>
          </a:p>
          <a:p>
            <a:r>
              <a:rPr lang="en-GB" sz="2400" dirty="0"/>
              <a:t>✔ </a:t>
            </a:r>
            <a:r>
              <a:rPr lang="en-GB" sz="2400" i="1" dirty="0"/>
              <a:t>The results were consistent with previous studies.</a:t>
            </a:r>
          </a:p>
          <a:p>
            <a:endParaRPr lang="en-GB" sz="2400" i="1" dirty="0"/>
          </a:p>
          <a:p>
            <a:pPr marL="285750" indent="-285750">
              <a:buFont typeface="Arial" panose="020B0604020202020204" pitchFamily="34" charset="0"/>
              <a:buChar char="•"/>
            </a:pPr>
            <a:r>
              <a:rPr lang="en-GB" sz="2400" i="1" dirty="0"/>
              <a:t>“I’m </a:t>
            </a:r>
            <a:r>
              <a:rPr lang="en-GB" sz="2400" b="1" i="1" dirty="0"/>
              <a:t>in</a:t>
            </a:r>
            <a:r>
              <a:rPr lang="en-GB" sz="2400" i="1" dirty="0"/>
              <a:t> the restaurant”</a:t>
            </a:r>
            <a:r>
              <a:rPr lang="en-GB" sz="2400" dirty="0"/>
              <a:t> when you mean, </a:t>
            </a:r>
            <a:r>
              <a:rPr lang="en-GB" sz="2400" i="1" dirty="0"/>
              <a:t>“I’m </a:t>
            </a:r>
            <a:r>
              <a:rPr lang="en-GB" sz="2400" b="1" i="1" dirty="0"/>
              <a:t>at</a:t>
            </a:r>
            <a:r>
              <a:rPr lang="en-GB" sz="2400" i="1" dirty="0"/>
              <a:t> the restaurant.”</a:t>
            </a:r>
          </a:p>
          <a:p>
            <a:pPr marL="285750" indent="-285750">
              <a:buFont typeface="Arial" panose="020B0604020202020204" pitchFamily="34" charset="0"/>
              <a:buChar char="•"/>
            </a:pPr>
            <a:r>
              <a:rPr lang="en-GB" sz="2400" dirty="0"/>
              <a:t>He is good </a:t>
            </a:r>
            <a:r>
              <a:rPr lang="en-GB" sz="2400" b="1" dirty="0"/>
              <a:t>in</a:t>
            </a:r>
            <a:r>
              <a:rPr lang="en-GB" sz="2400" dirty="0"/>
              <a:t> mathematics.</a:t>
            </a:r>
          </a:p>
          <a:p>
            <a:pPr marL="285750" indent="-285750">
              <a:buFont typeface="Arial" panose="020B0604020202020204" pitchFamily="34" charset="0"/>
              <a:buChar char="•"/>
            </a:pPr>
            <a:r>
              <a:rPr lang="en-GB" sz="2400" dirty="0"/>
              <a:t>She is senior </a:t>
            </a:r>
            <a:r>
              <a:rPr lang="en-GB" sz="2400" b="1" dirty="0"/>
              <a:t>than</a:t>
            </a:r>
            <a:r>
              <a:rPr lang="en-GB" sz="2400" dirty="0"/>
              <a:t> me.</a:t>
            </a:r>
          </a:p>
          <a:p>
            <a:pPr marL="0" marR="0" indent="0" algn="l">
              <a:buNone/>
            </a:pPr>
            <a:endParaRPr lang="en-GB" sz="1950" b="1" i="0" dirty="0">
              <a:solidFill>
                <a:srgbClr val="222222"/>
              </a:solidFill>
              <a:effectLst/>
              <a:latin typeface="Work Sans" pitchFamily="2" charset="0"/>
            </a:endParaRPr>
          </a:p>
        </p:txBody>
      </p:sp>
      <p:sp>
        <p:nvSpPr>
          <p:cNvPr id="4" name="TextBox 3">
            <a:extLst>
              <a:ext uri="{FF2B5EF4-FFF2-40B4-BE49-F238E27FC236}">
                <a16:creationId xmlns:a16="http://schemas.microsoft.com/office/drawing/2014/main" id="{DC9D0617-2A6B-4FBC-9C77-4F28662536AE}"/>
              </a:ext>
            </a:extLst>
          </p:cNvPr>
          <p:cNvSpPr txBox="1"/>
          <p:nvPr/>
        </p:nvSpPr>
        <p:spPr>
          <a:xfrm>
            <a:off x="1085139" y="4201852"/>
            <a:ext cx="4788123" cy="1877437"/>
          </a:xfrm>
          <a:prstGeom prst="rect">
            <a:avLst/>
          </a:prstGeom>
          <a:noFill/>
        </p:spPr>
        <p:txBody>
          <a:bodyPr wrap="square">
            <a:spAutoFit/>
          </a:bodyPr>
          <a:lstStyle/>
          <a:p>
            <a:r>
              <a:rPr lang="en-US" sz="2400" b="1" dirty="0">
                <a:solidFill>
                  <a:srgbClr val="C00000"/>
                </a:solidFill>
              </a:rPr>
              <a:t>I and Me</a:t>
            </a:r>
          </a:p>
          <a:p>
            <a:endParaRPr lang="en-US" sz="2000" dirty="0"/>
          </a:p>
          <a:p>
            <a:pPr marL="285750" indent="-285750">
              <a:buFont typeface="Arial" panose="020B0604020202020204" pitchFamily="34" charset="0"/>
              <a:buChar char="•"/>
            </a:pPr>
            <a:r>
              <a:rPr lang="en-US" sz="2400" dirty="0"/>
              <a:t>They’re nothing like Billy and me.</a:t>
            </a:r>
          </a:p>
          <a:p>
            <a:pPr marL="285750" indent="-285750">
              <a:buFont typeface="Arial" panose="020B0604020202020204" pitchFamily="34" charset="0"/>
              <a:buChar char="•"/>
            </a:pPr>
            <a:r>
              <a:rPr lang="en-GB" sz="2400" dirty="0"/>
              <a:t>She chose </a:t>
            </a:r>
            <a:r>
              <a:rPr lang="en-GB" sz="2400" b="1" dirty="0"/>
              <a:t>Lily and</a:t>
            </a:r>
            <a:r>
              <a:rPr lang="en-GB" sz="2400" dirty="0"/>
              <a:t> me </a:t>
            </a:r>
          </a:p>
          <a:p>
            <a:pPr marL="285750" indent="-285750">
              <a:buFont typeface="Arial" panose="020B0604020202020204" pitchFamily="34" charset="0"/>
              <a:buChar char="•"/>
            </a:pPr>
            <a:r>
              <a:rPr lang="en-GB" sz="2400" b="1" dirty="0"/>
              <a:t>Lily and</a:t>
            </a:r>
            <a:r>
              <a:rPr lang="en-GB" sz="2400" dirty="0"/>
              <a:t> I went to the store</a:t>
            </a:r>
          </a:p>
        </p:txBody>
      </p:sp>
      <p:sp>
        <p:nvSpPr>
          <p:cNvPr id="5" name="TextBox 4">
            <a:extLst>
              <a:ext uri="{FF2B5EF4-FFF2-40B4-BE49-F238E27FC236}">
                <a16:creationId xmlns:a16="http://schemas.microsoft.com/office/drawing/2014/main" id="{D98E9943-8889-8179-9FA4-5A1518DD247C}"/>
              </a:ext>
            </a:extLst>
          </p:cNvPr>
          <p:cNvSpPr txBox="1"/>
          <p:nvPr/>
        </p:nvSpPr>
        <p:spPr>
          <a:xfrm>
            <a:off x="7009605" y="4686776"/>
            <a:ext cx="4890658" cy="1200329"/>
          </a:xfrm>
          <a:prstGeom prst="rect">
            <a:avLst/>
          </a:prstGeom>
          <a:noFill/>
        </p:spPr>
        <p:txBody>
          <a:bodyPr wrap="square">
            <a:spAutoFit/>
          </a:bodyPr>
          <a:lstStyle/>
          <a:p>
            <a:r>
              <a:rPr lang="en-GB" sz="2400" dirty="0"/>
              <a:t>He has </a:t>
            </a:r>
            <a:r>
              <a:rPr lang="en-GB" sz="2400" u="none" strike="noStrike" dirty="0">
                <a:effectLst/>
              </a:rPr>
              <a:t>little</a:t>
            </a:r>
            <a:r>
              <a:rPr lang="en-GB" sz="2400" dirty="0"/>
              <a:t> money.</a:t>
            </a:r>
          </a:p>
          <a:p>
            <a:r>
              <a:rPr lang="en-GB" sz="2400" dirty="0"/>
              <a:t>He has a little money</a:t>
            </a:r>
          </a:p>
          <a:p>
            <a:r>
              <a:rPr lang="en-GB" sz="2400" dirty="0"/>
              <a:t>I spent the little money I had</a:t>
            </a:r>
          </a:p>
        </p:txBody>
      </p:sp>
    </p:spTree>
    <p:extLst>
      <p:ext uri="{BB962C8B-B14F-4D97-AF65-F5344CB8AC3E}">
        <p14:creationId xmlns:p14="http://schemas.microsoft.com/office/powerpoint/2010/main" val="32547541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113D795-426B-DA68-4DA7-D9EEEAF13702}"/>
              </a:ext>
            </a:extLst>
          </p:cNvPr>
          <p:cNvGraphicFramePr>
            <a:graphicFrameLocks noGrp="1"/>
          </p:cNvGraphicFramePr>
          <p:nvPr>
            <p:extLst>
              <p:ext uri="{D42A27DB-BD31-4B8C-83A1-F6EECF244321}">
                <p14:modId xmlns:p14="http://schemas.microsoft.com/office/powerpoint/2010/main" val="3062699488"/>
              </p:ext>
            </p:extLst>
          </p:nvPr>
        </p:nvGraphicFramePr>
        <p:xfrm>
          <a:off x="719607" y="860535"/>
          <a:ext cx="11067759" cy="5705889"/>
        </p:xfrm>
        <a:graphic>
          <a:graphicData uri="http://schemas.openxmlformats.org/drawingml/2006/table">
            <a:tbl>
              <a:tblPr>
                <a:tableStyleId>{5C22544A-7EE6-4342-B048-85BDC9FD1C3A}</a:tableStyleId>
              </a:tblPr>
              <a:tblGrid>
                <a:gridCol w="3689253">
                  <a:extLst>
                    <a:ext uri="{9D8B030D-6E8A-4147-A177-3AD203B41FA5}">
                      <a16:colId xmlns:a16="http://schemas.microsoft.com/office/drawing/2014/main" val="2752309609"/>
                    </a:ext>
                  </a:extLst>
                </a:gridCol>
                <a:gridCol w="3689253">
                  <a:extLst>
                    <a:ext uri="{9D8B030D-6E8A-4147-A177-3AD203B41FA5}">
                      <a16:colId xmlns:a16="http://schemas.microsoft.com/office/drawing/2014/main" val="3840651240"/>
                    </a:ext>
                  </a:extLst>
                </a:gridCol>
                <a:gridCol w="3689253">
                  <a:extLst>
                    <a:ext uri="{9D8B030D-6E8A-4147-A177-3AD203B41FA5}">
                      <a16:colId xmlns:a16="http://schemas.microsoft.com/office/drawing/2014/main" val="3682865768"/>
                    </a:ext>
                  </a:extLst>
                </a:gridCol>
              </a:tblGrid>
              <a:tr h="829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effectLst/>
                        </a:rPr>
                        <a:t>I am going to the Mumbai.</a:t>
                      </a:r>
                      <a:endParaRPr lang="en-GB" sz="2000" b="0" i="0" dirty="0">
                        <a:solidFill>
                          <a:srgbClr val="000000"/>
                        </a:solidFill>
                        <a:effectLst/>
                        <a:latin typeface="Arial" panose="020B0604020202020204" pitchFamily="34" charset="0"/>
                      </a:endParaRPr>
                    </a:p>
                    <a:p>
                      <a:pPr marL="0" marR="0" algn="l">
                        <a:buNone/>
                      </a:pPr>
                      <a:endParaRPr lang="en-GB" sz="2000" b="0" i="0" dirty="0">
                        <a:solidFill>
                          <a:srgbClr val="000000"/>
                        </a:solidFill>
                        <a:effectLst/>
                        <a:latin typeface="Arial" panose="020B0604020202020204" pitchFamily="34" charset="0"/>
                      </a:endParaRPr>
                    </a:p>
                  </a:txBody>
                  <a:tcPr marT="9144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effectLst/>
                        </a:rPr>
                        <a:t>I am going to Mumbai.</a:t>
                      </a:r>
                      <a:endParaRPr lang="en-GB" sz="2000" b="0" i="0" dirty="0">
                        <a:solidFill>
                          <a:srgbClr val="000000"/>
                        </a:solidFill>
                        <a:effectLst/>
                        <a:latin typeface="Arial" panose="020B0604020202020204" pitchFamily="34" charset="0"/>
                      </a:endParaRPr>
                    </a:p>
                    <a:p>
                      <a:pPr marL="0" marR="0" algn="l">
                        <a:buNone/>
                      </a:pPr>
                      <a:endParaRPr lang="en-GB" sz="2000" b="0" i="0" dirty="0">
                        <a:solidFill>
                          <a:srgbClr val="000000"/>
                        </a:solidFill>
                        <a:effectLst/>
                        <a:latin typeface="Arial" panose="020B0604020202020204" pitchFamily="34" charset="0"/>
                      </a:endParaRPr>
                    </a:p>
                  </a:txBody>
                  <a:tcPr marT="91440" marB="914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effectLst/>
                        </a:rPr>
                        <a:t>Never use “the” before names of cities or people.</a:t>
                      </a:r>
                      <a:endParaRPr lang="en-GB" sz="2000" b="0" i="0" dirty="0">
                        <a:solidFill>
                          <a:srgbClr val="000000"/>
                        </a:solidFill>
                        <a:effectLst/>
                        <a:latin typeface="Arial" panose="020B0604020202020204" pitchFamily="34" charset="0"/>
                      </a:endParaRPr>
                    </a:p>
                    <a:p>
                      <a:endParaRPr lang="en-GB" sz="2000" dirty="0"/>
                    </a:p>
                  </a:txBody>
                  <a:tcPr/>
                </a:tc>
                <a:extLst>
                  <a:ext uri="{0D108BD9-81ED-4DB2-BD59-A6C34878D82A}">
                    <a16:rowId xmlns:a16="http://schemas.microsoft.com/office/drawing/2014/main" val="3392776237"/>
                  </a:ext>
                </a:extLst>
              </a:tr>
              <a:tr h="1382367">
                <a:tc>
                  <a:txBody>
                    <a:bodyPr/>
                    <a:lstStyle/>
                    <a:p>
                      <a:pPr marL="0" marR="0" algn="l">
                        <a:buNone/>
                      </a:pPr>
                      <a:r>
                        <a:rPr lang="en-GB" sz="2000" dirty="0">
                          <a:effectLst/>
                        </a:rPr>
                        <a:t>It is an unique opportunity.</a:t>
                      </a:r>
                      <a:endParaRPr lang="en-GB" sz="2000" b="0" i="0" dirty="0">
                        <a:solidFill>
                          <a:srgbClr val="000000"/>
                        </a:solidFill>
                        <a:effectLst/>
                        <a:latin typeface="Arial" panose="020B0604020202020204" pitchFamily="34" charset="0"/>
                      </a:endParaRPr>
                    </a:p>
                  </a:txBody>
                  <a:tcPr marT="91440" marB="91440" anchor="ctr"/>
                </a:tc>
                <a:tc>
                  <a:txBody>
                    <a:bodyPr/>
                    <a:lstStyle/>
                    <a:p>
                      <a:pPr marL="0" marR="0" algn="l">
                        <a:buNone/>
                      </a:pPr>
                      <a:r>
                        <a:rPr lang="en-GB" sz="2000" dirty="0">
                          <a:effectLst/>
                        </a:rPr>
                        <a:t>It is a unique opportunity.</a:t>
                      </a:r>
                      <a:endParaRPr lang="en-GB" sz="2000" b="0" i="0" dirty="0">
                        <a:solidFill>
                          <a:srgbClr val="000000"/>
                        </a:solidFill>
                        <a:effectLst/>
                        <a:latin typeface="Arial" panose="020B0604020202020204" pitchFamily="34" charset="0"/>
                      </a:endParaRPr>
                    </a:p>
                  </a:txBody>
                  <a:tcPr marT="91440" marB="91440" anchor="ctr"/>
                </a:tc>
                <a:tc>
                  <a:txBody>
                    <a:bodyPr/>
                    <a:lstStyle/>
                    <a:p>
                      <a:pPr marL="0" marR="0" algn="l">
                        <a:buNone/>
                      </a:pPr>
                      <a:r>
                        <a:rPr lang="en-GB" sz="2000">
                          <a:effectLst/>
                        </a:rPr>
                        <a:t>Though it starts with ‘U’, the sound is ‘Yoo’ (consonant sound), so use “a”.</a:t>
                      </a:r>
                      <a:endParaRPr lang="en-GB" sz="2000" b="0" i="0">
                        <a:solidFill>
                          <a:srgbClr val="000000"/>
                        </a:solidFill>
                        <a:effectLst/>
                        <a:latin typeface="Arial" panose="020B0604020202020204" pitchFamily="34" charset="0"/>
                      </a:endParaRPr>
                    </a:p>
                  </a:txBody>
                  <a:tcPr marT="91440" marB="91440" anchor="ctr"/>
                </a:tc>
                <a:extLst>
                  <a:ext uri="{0D108BD9-81ED-4DB2-BD59-A6C34878D82A}">
                    <a16:rowId xmlns:a16="http://schemas.microsoft.com/office/drawing/2014/main" val="2384118454"/>
                  </a:ext>
                </a:extLst>
              </a:tr>
              <a:tr h="1105894">
                <a:tc>
                  <a:txBody>
                    <a:bodyPr/>
                    <a:lstStyle/>
                    <a:p>
                      <a:pPr marL="0" marR="0" algn="l">
                        <a:buNone/>
                      </a:pPr>
                      <a:r>
                        <a:rPr lang="en-GB" sz="2000" dirty="0">
                          <a:effectLst/>
                        </a:rPr>
                        <a:t>He is a honest man.</a:t>
                      </a:r>
                      <a:endParaRPr lang="en-GB" sz="2000" b="0" i="0" dirty="0">
                        <a:solidFill>
                          <a:srgbClr val="000000"/>
                        </a:solidFill>
                        <a:effectLst/>
                        <a:latin typeface="Arial" panose="020B0604020202020204" pitchFamily="34" charset="0"/>
                      </a:endParaRPr>
                    </a:p>
                  </a:txBody>
                  <a:tcPr marT="91440" marB="91440" anchor="ctr"/>
                </a:tc>
                <a:tc>
                  <a:txBody>
                    <a:bodyPr/>
                    <a:lstStyle/>
                    <a:p>
                      <a:pPr marL="0" marR="0" algn="l">
                        <a:buNone/>
                      </a:pPr>
                      <a:r>
                        <a:rPr lang="en-GB" sz="2000" dirty="0">
                          <a:effectLst/>
                        </a:rPr>
                        <a:t>He is an honest man.</a:t>
                      </a:r>
                      <a:endParaRPr lang="en-GB" sz="2000" b="0" i="0" dirty="0">
                        <a:solidFill>
                          <a:srgbClr val="000000"/>
                        </a:solidFill>
                        <a:effectLst/>
                        <a:latin typeface="Arial" panose="020B0604020202020204" pitchFamily="34" charset="0"/>
                      </a:endParaRPr>
                    </a:p>
                  </a:txBody>
                  <a:tcPr marT="91440" marB="91440" anchor="ctr"/>
                </a:tc>
                <a:tc>
                  <a:txBody>
                    <a:bodyPr/>
                    <a:lstStyle/>
                    <a:p>
                      <a:pPr marL="0" marR="0" algn="l">
                        <a:buNone/>
                      </a:pPr>
                      <a:r>
                        <a:rPr lang="en-GB" sz="2000" dirty="0">
                          <a:effectLst/>
                        </a:rPr>
                        <a:t>‘H’ is silent; the word begins with a vowel sound.</a:t>
                      </a:r>
                      <a:endParaRPr lang="en-GB" sz="2000" b="0" i="0" dirty="0">
                        <a:solidFill>
                          <a:srgbClr val="000000"/>
                        </a:solidFill>
                        <a:effectLst/>
                        <a:latin typeface="Arial" panose="020B0604020202020204" pitchFamily="34" charset="0"/>
                      </a:endParaRPr>
                    </a:p>
                  </a:txBody>
                  <a:tcPr marT="91440" marB="91440" anchor="ctr"/>
                </a:tc>
                <a:extLst>
                  <a:ext uri="{0D108BD9-81ED-4DB2-BD59-A6C34878D82A}">
                    <a16:rowId xmlns:a16="http://schemas.microsoft.com/office/drawing/2014/main" val="3344771334"/>
                  </a:ext>
                </a:extLst>
              </a:tr>
              <a:tr h="1105894">
                <a:tc>
                  <a:txBody>
                    <a:bodyPr/>
                    <a:lstStyle/>
                    <a:p>
                      <a:pPr marL="0" marR="0" algn="l">
                        <a:buNone/>
                      </a:pPr>
                      <a:r>
                        <a:rPr lang="en-GB" sz="2000">
                          <a:effectLst/>
                        </a:rPr>
                        <a:t>We need to buy a furniture.</a:t>
                      </a:r>
                      <a:endParaRPr lang="en-GB" sz="2000" b="0" i="0">
                        <a:solidFill>
                          <a:srgbClr val="000000"/>
                        </a:solidFill>
                        <a:effectLst/>
                        <a:latin typeface="Arial" panose="020B0604020202020204" pitchFamily="34" charset="0"/>
                      </a:endParaRPr>
                    </a:p>
                  </a:txBody>
                  <a:tcPr marT="91440" marB="91440" anchor="ctr"/>
                </a:tc>
                <a:tc>
                  <a:txBody>
                    <a:bodyPr/>
                    <a:lstStyle/>
                    <a:p>
                      <a:pPr marL="0" marR="0" algn="l">
                        <a:buNone/>
                      </a:pPr>
                      <a:r>
                        <a:rPr lang="en-GB" sz="2000" dirty="0">
                          <a:effectLst/>
                        </a:rPr>
                        <a:t>We need to buy furniture.</a:t>
                      </a:r>
                      <a:endParaRPr lang="en-GB" sz="2000" b="0" i="0" dirty="0">
                        <a:solidFill>
                          <a:srgbClr val="000000"/>
                        </a:solidFill>
                        <a:effectLst/>
                        <a:latin typeface="Arial" panose="020B0604020202020204" pitchFamily="34" charset="0"/>
                      </a:endParaRPr>
                    </a:p>
                  </a:txBody>
                  <a:tcPr marT="91440" marB="91440" anchor="ctr"/>
                </a:tc>
                <a:tc>
                  <a:txBody>
                    <a:bodyPr/>
                    <a:lstStyle/>
                    <a:p>
                      <a:pPr marL="0" marR="0" algn="l">
                        <a:buNone/>
                      </a:pPr>
                      <a:r>
                        <a:rPr lang="en-GB" sz="2000" dirty="0">
                          <a:effectLst/>
                        </a:rPr>
                        <a:t>Furniture is uncountable; you cannot use “a” before it.</a:t>
                      </a:r>
                      <a:endParaRPr lang="en-GB" sz="2000" b="0" i="0" dirty="0">
                        <a:solidFill>
                          <a:srgbClr val="000000"/>
                        </a:solidFill>
                        <a:effectLst/>
                        <a:latin typeface="Arial" panose="020B0604020202020204" pitchFamily="34" charset="0"/>
                      </a:endParaRPr>
                    </a:p>
                  </a:txBody>
                  <a:tcPr marT="91440" marB="91440" anchor="ctr"/>
                </a:tc>
                <a:extLst>
                  <a:ext uri="{0D108BD9-81ED-4DB2-BD59-A6C34878D82A}">
                    <a16:rowId xmlns:a16="http://schemas.microsoft.com/office/drawing/2014/main" val="631318903"/>
                  </a:ext>
                </a:extLst>
              </a:tr>
              <a:tr h="1105894">
                <a:tc>
                  <a:txBody>
                    <a:bodyPr/>
                    <a:lstStyle/>
                    <a:p>
                      <a:pPr marL="0" marR="0" algn="l">
                        <a:buNone/>
                      </a:pPr>
                      <a:r>
                        <a:rPr lang="en-GB" sz="2000" dirty="0">
                          <a:effectLst/>
                        </a:rPr>
                        <a:t>She is best girl in class.</a:t>
                      </a:r>
                      <a:endParaRPr lang="en-GB" sz="2000" b="0" i="0" dirty="0">
                        <a:solidFill>
                          <a:srgbClr val="000000"/>
                        </a:solidFill>
                        <a:effectLst/>
                        <a:latin typeface="Arial" panose="020B0604020202020204" pitchFamily="34" charset="0"/>
                      </a:endParaRPr>
                    </a:p>
                  </a:txBody>
                  <a:tcPr marT="91440" marB="91440" anchor="ctr"/>
                </a:tc>
                <a:tc>
                  <a:txBody>
                    <a:bodyPr/>
                    <a:lstStyle/>
                    <a:p>
                      <a:pPr marL="0" marR="0" algn="l">
                        <a:buNone/>
                      </a:pPr>
                      <a:r>
                        <a:rPr lang="en-GB" sz="2000" dirty="0">
                          <a:effectLst/>
                        </a:rPr>
                        <a:t>She is the best girl in class.</a:t>
                      </a:r>
                      <a:endParaRPr lang="en-GB" sz="2000" b="0" i="0" dirty="0">
                        <a:solidFill>
                          <a:srgbClr val="000000"/>
                        </a:solidFill>
                        <a:effectLst/>
                        <a:latin typeface="Arial" panose="020B0604020202020204" pitchFamily="34" charset="0"/>
                      </a:endParaRPr>
                    </a:p>
                  </a:txBody>
                  <a:tcPr marT="91440" marB="91440" anchor="ctr"/>
                </a:tc>
                <a:tc>
                  <a:txBody>
                    <a:bodyPr/>
                    <a:lstStyle/>
                    <a:p>
                      <a:pPr marL="0" marR="0" algn="l">
                        <a:buNone/>
                      </a:pPr>
                      <a:r>
                        <a:rPr lang="en-GB" sz="2000" dirty="0">
                          <a:effectLst/>
                        </a:rPr>
                        <a:t>Always use “the” with superlative adjectives (best, tallest, highest).</a:t>
                      </a:r>
                      <a:endParaRPr lang="en-GB" sz="2000" b="0" i="0" dirty="0">
                        <a:solidFill>
                          <a:srgbClr val="000000"/>
                        </a:solidFill>
                        <a:effectLst/>
                        <a:latin typeface="Arial" panose="020B0604020202020204" pitchFamily="34" charset="0"/>
                      </a:endParaRPr>
                    </a:p>
                  </a:txBody>
                  <a:tcPr marT="91440" marB="91440" anchor="ctr"/>
                </a:tc>
                <a:extLst>
                  <a:ext uri="{0D108BD9-81ED-4DB2-BD59-A6C34878D82A}">
                    <a16:rowId xmlns:a16="http://schemas.microsoft.com/office/drawing/2014/main" val="1874530785"/>
                  </a:ext>
                </a:extLst>
              </a:tr>
            </a:tbl>
          </a:graphicData>
        </a:graphic>
      </p:graphicFrame>
      <p:sp>
        <p:nvSpPr>
          <p:cNvPr id="4" name="TextBox 3">
            <a:extLst>
              <a:ext uri="{FF2B5EF4-FFF2-40B4-BE49-F238E27FC236}">
                <a16:creationId xmlns:a16="http://schemas.microsoft.com/office/drawing/2014/main" id="{E76E19ED-90F0-FA0A-A6F9-D32626635CC1}"/>
              </a:ext>
            </a:extLst>
          </p:cNvPr>
          <p:cNvSpPr txBox="1"/>
          <p:nvPr/>
        </p:nvSpPr>
        <p:spPr>
          <a:xfrm>
            <a:off x="719607" y="291576"/>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Improper use of Articles</a:t>
            </a:r>
          </a:p>
        </p:txBody>
      </p:sp>
    </p:spTree>
    <p:extLst>
      <p:ext uri="{BB962C8B-B14F-4D97-AF65-F5344CB8AC3E}">
        <p14:creationId xmlns:p14="http://schemas.microsoft.com/office/powerpoint/2010/main" val="27102686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90877B-F534-4578-041F-213EC3A66561}"/>
              </a:ext>
            </a:extLst>
          </p:cNvPr>
          <p:cNvSpPr txBox="1"/>
          <p:nvPr/>
        </p:nvSpPr>
        <p:spPr>
          <a:xfrm>
            <a:off x="861391" y="1120676"/>
            <a:ext cx="10469217" cy="4616648"/>
          </a:xfrm>
          <a:prstGeom prst="rect">
            <a:avLst/>
          </a:prstGeom>
          <a:noFill/>
        </p:spPr>
        <p:txBody>
          <a:bodyPr wrap="square">
            <a:spAutoFit/>
          </a:bodyPr>
          <a:lstStyle/>
          <a:p>
            <a:pPr marR="0" lvl="0" algn="l" fontAlgn="base"/>
            <a:r>
              <a:rPr lang="en-GB" sz="2400" b="1" i="0" dirty="0">
                <a:solidFill>
                  <a:srgbClr val="FF0000"/>
                </a:solidFill>
                <a:effectLst/>
              </a:rPr>
              <a:t>Question formation</a:t>
            </a:r>
          </a:p>
          <a:p>
            <a:pPr marL="0" marR="0" lvl="0" indent="-342900" algn="l" fontAlgn="base">
              <a:buFont typeface="+mj-lt"/>
              <a:buAutoNum type="arabicPeriod" startAt="26"/>
            </a:pPr>
            <a:endParaRPr lang="en-GB" sz="2000" b="1" dirty="0">
              <a:solidFill>
                <a:srgbClr val="FF0000"/>
              </a:solidFill>
            </a:endParaRPr>
          </a:p>
          <a:p>
            <a:pPr marR="0" lvl="0" algn="l" fontAlgn="base"/>
            <a:r>
              <a:rPr lang="en-GB" sz="2000" b="1" i="0" dirty="0">
                <a:solidFill>
                  <a:srgbClr val="FF0000"/>
                </a:solidFill>
                <a:effectLst/>
              </a:rPr>
              <a:t>	</a:t>
            </a:r>
            <a:r>
              <a:rPr lang="en-GB" sz="2000" b="1" i="0" dirty="0">
                <a:effectLst/>
              </a:rPr>
              <a:t>Incorrect</a:t>
            </a:r>
            <a:r>
              <a:rPr lang="en-GB" sz="2000" b="1" i="0" dirty="0">
                <a:solidFill>
                  <a:srgbClr val="000000"/>
                </a:solidFill>
                <a:effectLst/>
              </a:rPr>
              <a:t>:</a:t>
            </a:r>
            <a:r>
              <a:rPr lang="en-GB" sz="2000" b="0" i="0" dirty="0">
                <a:solidFill>
                  <a:srgbClr val="000000"/>
                </a:solidFill>
                <a:effectLst/>
              </a:rPr>
              <a:t> You are coming tomorrow? -&gt; </a:t>
            </a:r>
            <a:r>
              <a:rPr lang="en-GB" sz="2000" b="1" i="0" dirty="0">
                <a:solidFill>
                  <a:srgbClr val="008000"/>
                </a:solidFill>
                <a:effectLst/>
              </a:rPr>
              <a:t>Correct</a:t>
            </a:r>
            <a:r>
              <a:rPr lang="en-GB" sz="2000" b="1" i="0" dirty="0">
                <a:solidFill>
                  <a:srgbClr val="000000"/>
                </a:solidFill>
                <a:effectLst/>
              </a:rPr>
              <a:t>:</a:t>
            </a:r>
            <a:r>
              <a:rPr lang="en-GB" sz="2000" b="0" i="0" dirty="0">
                <a:solidFill>
                  <a:srgbClr val="000000"/>
                </a:solidFill>
                <a:effectLst/>
              </a:rPr>
              <a:t> </a:t>
            </a:r>
            <a:r>
              <a:rPr lang="en-GB" sz="2000" b="1" i="0" dirty="0">
                <a:solidFill>
                  <a:srgbClr val="000000"/>
                </a:solidFill>
                <a:effectLst/>
              </a:rPr>
              <a:t>Are you</a:t>
            </a:r>
            <a:r>
              <a:rPr lang="en-GB" sz="2000" b="0" i="0" dirty="0">
                <a:solidFill>
                  <a:srgbClr val="000000"/>
                </a:solidFill>
                <a:effectLst/>
              </a:rPr>
              <a:t> coming tomorrow?</a:t>
            </a:r>
          </a:p>
          <a:p>
            <a:pPr marR="0" lvl="0" algn="l" fontAlgn="base"/>
            <a:r>
              <a:rPr lang="en-GB" sz="2000" b="1" i="0" dirty="0">
                <a:solidFill>
                  <a:srgbClr val="FF0000"/>
                </a:solidFill>
                <a:effectLst/>
              </a:rPr>
              <a:t>	</a:t>
            </a:r>
            <a:r>
              <a:rPr lang="en-GB" sz="2000" b="1" i="0" dirty="0">
                <a:effectLst/>
              </a:rPr>
              <a:t>Incorrect</a:t>
            </a:r>
            <a:r>
              <a:rPr lang="en-GB" sz="2000" b="1" i="0" dirty="0">
                <a:solidFill>
                  <a:srgbClr val="000000"/>
                </a:solidFill>
                <a:effectLst/>
              </a:rPr>
              <a:t>:</a:t>
            </a:r>
            <a:r>
              <a:rPr lang="en-GB" sz="2000" b="0" i="0" dirty="0">
                <a:solidFill>
                  <a:srgbClr val="000000"/>
                </a:solidFill>
                <a:effectLst/>
              </a:rPr>
              <a:t> Why you are late? -&gt; </a:t>
            </a:r>
            <a:r>
              <a:rPr lang="en-GB" sz="2000" b="1" i="0" dirty="0">
                <a:solidFill>
                  <a:srgbClr val="008000"/>
                </a:solidFill>
                <a:effectLst/>
              </a:rPr>
              <a:t>Correct</a:t>
            </a:r>
            <a:r>
              <a:rPr lang="en-GB" sz="2000" b="1" i="0" dirty="0">
                <a:solidFill>
                  <a:srgbClr val="000000"/>
                </a:solidFill>
                <a:effectLst/>
              </a:rPr>
              <a:t>:</a:t>
            </a:r>
            <a:r>
              <a:rPr lang="en-GB" sz="2000" b="0" i="0" dirty="0">
                <a:solidFill>
                  <a:srgbClr val="000000"/>
                </a:solidFill>
                <a:effectLst/>
              </a:rPr>
              <a:t> Why </a:t>
            </a:r>
            <a:r>
              <a:rPr lang="en-GB" sz="2000" b="1" i="0" dirty="0">
                <a:solidFill>
                  <a:srgbClr val="000000"/>
                </a:solidFill>
                <a:effectLst/>
              </a:rPr>
              <a:t>are you</a:t>
            </a:r>
            <a:r>
              <a:rPr lang="en-GB" sz="2000" b="0" i="0" dirty="0">
                <a:solidFill>
                  <a:srgbClr val="000000"/>
                </a:solidFill>
                <a:effectLst/>
              </a:rPr>
              <a:t> late?</a:t>
            </a:r>
          </a:p>
          <a:p>
            <a:pPr marR="0" lvl="0" algn="l" fontAlgn="base"/>
            <a:r>
              <a:rPr lang="en-GB" sz="2000" b="1" i="0" dirty="0">
                <a:solidFill>
                  <a:srgbClr val="FF0000"/>
                </a:solidFill>
                <a:effectLst/>
              </a:rPr>
              <a:t>	</a:t>
            </a:r>
            <a:r>
              <a:rPr lang="en-GB" sz="2000" b="1" i="0" dirty="0">
                <a:effectLst/>
              </a:rPr>
              <a:t>Incorrect</a:t>
            </a:r>
            <a:r>
              <a:rPr lang="en-GB" sz="2000" b="1" i="0" dirty="0">
                <a:solidFill>
                  <a:srgbClr val="000000"/>
                </a:solidFill>
                <a:effectLst/>
              </a:rPr>
              <a:t>:</a:t>
            </a:r>
            <a:r>
              <a:rPr lang="en-GB" sz="2000" b="0" i="0" dirty="0">
                <a:solidFill>
                  <a:srgbClr val="000000"/>
                </a:solidFill>
                <a:effectLst/>
              </a:rPr>
              <a:t> Where I can find a taxi? -&gt; </a:t>
            </a:r>
            <a:r>
              <a:rPr lang="en-GB" sz="2000" b="1" i="0" dirty="0">
                <a:solidFill>
                  <a:srgbClr val="008000"/>
                </a:solidFill>
                <a:effectLst/>
              </a:rPr>
              <a:t>Correct</a:t>
            </a:r>
            <a:r>
              <a:rPr lang="en-GB" sz="2000" b="1" i="0" dirty="0">
                <a:solidFill>
                  <a:srgbClr val="000000"/>
                </a:solidFill>
                <a:effectLst/>
              </a:rPr>
              <a:t>:</a:t>
            </a:r>
            <a:r>
              <a:rPr lang="en-GB" sz="2000" b="0" i="0" dirty="0">
                <a:solidFill>
                  <a:srgbClr val="000000"/>
                </a:solidFill>
                <a:effectLst/>
              </a:rPr>
              <a:t> Where </a:t>
            </a:r>
            <a:r>
              <a:rPr lang="en-GB" sz="2000" b="1" i="0" dirty="0">
                <a:solidFill>
                  <a:srgbClr val="000000"/>
                </a:solidFill>
                <a:effectLst/>
              </a:rPr>
              <a:t>can I</a:t>
            </a:r>
            <a:r>
              <a:rPr lang="en-GB" sz="2000" b="0" i="0" dirty="0">
                <a:solidFill>
                  <a:srgbClr val="000000"/>
                </a:solidFill>
                <a:effectLst/>
              </a:rPr>
              <a:t> find a taxi?</a:t>
            </a:r>
          </a:p>
          <a:p>
            <a:pPr marR="0" lvl="0" algn="l" fontAlgn="base"/>
            <a:r>
              <a:rPr lang="en-GB" sz="2000" b="1" i="0" dirty="0">
                <a:solidFill>
                  <a:srgbClr val="FF0000"/>
                </a:solidFill>
                <a:effectLst/>
              </a:rPr>
              <a:t>	</a:t>
            </a:r>
            <a:r>
              <a:rPr lang="en-GB" sz="2000" b="1" i="0" dirty="0">
                <a:effectLst/>
              </a:rPr>
              <a:t>Incorrect</a:t>
            </a:r>
            <a:r>
              <a:rPr lang="en-GB" sz="2000" b="1" i="0" dirty="0">
                <a:solidFill>
                  <a:srgbClr val="000000"/>
                </a:solidFill>
                <a:effectLst/>
              </a:rPr>
              <a:t>:</a:t>
            </a:r>
            <a:r>
              <a:rPr lang="en-GB" sz="2000" b="0" i="0" dirty="0">
                <a:solidFill>
                  <a:srgbClr val="000000"/>
                </a:solidFill>
                <a:effectLst/>
              </a:rPr>
              <a:t> What he is doing? -&gt; </a:t>
            </a:r>
            <a:r>
              <a:rPr lang="en-GB" sz="2000" b="1" i="0" dirty="0">
                <a:solidFill>
                  <a:srgbClr val="008000"/>
                </a:solidFill>
                <a:effectLst/>
              </a:rPr>
              <a:t>Correct</a:t>
            </a:r>
            <a:r>
              <a:rPr lang="en-GB" sz="2000" b="1" i="0" dirty="0">
                <a:solidFill>
                  <a:srgbClr val="000000"/>
                </a:solidFill>
                <a:effectLst/>
              </a:rPr>
              <a:t>:</a:t>
            </a:r>
            <a:r>
              <a:rPr lang="en-GB" sz="2000" b="0" i="0" dirty="0">
                <a:solidFill>
                  <a:srgbClr val="000000"/>
                </a:solidFill>
                <a:effectLst/>
              </a:rPr>
              <a:t> What </a:t>
            </a:r>
            <a:r>
              <a:rPr lang="en-GB" sz="2000" b="1" i="0" dirty="0">
                <a:solidFill>
                  <a:srgbClr val="000000"/>
                </a:solidFill>
                <a:effectLst/>
              </a:rPr>
              <a:t>is he</a:t>
            </a:r>
            <a:r>
              <a:rPr lang="en-GB" sz="2000" b="0" i="0" dirty="0">
                <a:solidFill>
                  <a:srgbClr val="000000"/>
                </a:solidFill>
                <a:effectLst/>
              </a:rPr>
              <a:t> doing?</a:t>
            </a:r>
          </a:p>
          <a:p>
            <a:pPr marR="0" lvl="0" algn="l" fontAlgn="base"/>
            <a:endParaRPr lang="en-GB" sz="2000" dirty="0">
              <a:solidFill>
                <a:srgbClr val="000000"/>
              </a:solidFill>
            </a:endParaRPr>
          </a:p>
          <a:p>
            <a:pPr fontAlgn="base"/>
            <a:r>
              <a:rPr lang="en-GB" sz="2400" b="1" dirty="0">
                <a:solidFill>
                  <a:srgbClr val="FF0000"/>
                </a:solidFill>
              </a:rPr>
              <a:t>The “Only” Obsession</a:t>
            </a:r>
          </a:p>
          <a:p>
            <a:pPr fontAlgn="base"/>
            <a:endParaRPr lang="en-GB" sz="2400" b="1" dirty="0">
              <a:solidFill>
                <a:srgbClr val="FF0000"/>
              </a:solidFill>
            </a:endParaRPr>
          </a:p>
          <a:p>
            <a:pPr lvl="0" fontAlgn="base"/>
            <a:r>
              <a:rPr lang="en-GB" sz="2000" b="1" dirty="0"/>
              <a:t>	Incorrect:</a:t>
            </a:r>
            <a:r>
              <a:rPr lang="en-GB" sz="2000" dirty="0"/>
              <a:t> I live here only. -&gt; </a:t>
            </a:r>
            <a:r>
              <a:rPr lang="en-GB" sz="2000" b="1" dirty="0"/>
              <a:t>Correct:</a:t>
            </a:r>
            <a:r>
              <a:rPr lang="en-GB" sz="2000" dirty="0"/>
              <a:t> I live </a:t>
            </a:r>
            <a:r>
              <a:rPr lang="en-GB" sz="2000" b="1" dirty="0"/>
              <a:t>right here</a:t>
            </a:r>
            <a:r>
              <a:rPr lang="en-GB" sz="2000" dirty="0"/>
              <a:t>.</a:t>
            </a:r>
          </a:p>
          <a:p>
            <a:pPr lvl="0" fontAlgn="base"/>
            <a:r>
              <a:rPr lang="en-GB" sz="2000" b="1" dirty="0"/>
              <a:t>	Incorrect:</a:t>
            </a:r>
            <a:r>
              <a:rPr lang="en-GB" sz="2000" dirty="0"/>
              <a:t> I will do it today only. -&gt; </a:t>
            </a:r>
            <a:r>
              <a:rPr lang="en-GB" sz="2000" b="1" dirty="0"/>
              <a:t>Correct:</a:t>
            </a:r>
            <a:r>
              <a:rPr lang="en-GB" sz="2000" dirty="0"/>
              <a:t> I will do it </a:t>
            </a:r>
            <a:r>
              <a:rPr lang="en-GB" sz="2000" b="1" dirty="0"/>
              <a:t>today</a:t>
            </a:r>
            <a:r>
              <a:rPr lang="en-GB" sz="2000" dirty="0"/>
              <a:t>.</a:t>
            </a:r>
          </a:p>
          <a:p>
            <a:pPr lvl="0" fontAlgn="base"/>
            <a:r>
              <a:rPr lang="en-GB" sz="2000" b="1" dirty="0"/>
              <a:t>	Incorrect:</a:t>
            </a:r>
            <a:r>
              <a:rPr lang="en-GB" sz="2000" dirty="0"/>
              <a:t> That only I was saying! -&gt; </a:t>
            </a:r>
            <a:r>
              <a:rPr lang="en-GB" sz="2000" b="1" dirty="0"/>
              <a:t>Correct:</a:t>
            </a:r>
            <a:r>
              <a:rPr lang="en-GB" sz="2000" dirty="0"/>
              <a:t> </a:t>
            </a:r>
            <a:r>
              <a:rPr lang="en-GB" sz="2000" b="1" dirty="0"/>
              <a:t>That is exactly</a:t>
            </a:r>
            <a:r>
              <a:rPr lang="en-GB" sz="2000" dirty="0"/>
              <a:t> what I was saying.</a:t>
            </a:r>
          </a:p>
          <a:p>
            <a:pPr fontAlgn="base"/>
            <a:endParaRPr lang="en-GB" sz="2400" b="1" dirty="0">
              <a:solidFill>
                <a:srgbClr val="FF0000"/>
              </a:solidFill>
            </a:endParaRPr>
          </a:p>
          <a:p>
            <a:pPr marR="0" lvl="0" algn="l" fontAlgn="base"/>
            <a:endParaRPr lang="en-GB" sz="2000" b="0" i="0" dirty="0">
              <a:solidFill>
                <a:srgbClr val="000000"/>
              </a:solidFill>
              <a:effectLst/>
            </a:endParaRPr>
          </a:p>
        </p:txBody>
      </p:sp>
    </p:spTree>
    <p:extLst>
      <p:ext uri="{BB962C8B-B14F-4D97-AF65-F5344CB8AC3E}">
        <p14:creationId xmlns:p14="http://schemas.microsoft.com/office/powerpoint/2010/main" val="31357278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2C561F-A12C-C763-4284-D743C87F45EE}"/>
              </a:ext>
            </a:extLst>
          </p:cNvPr>
          <p:cNvSpPr txBox="1"/>
          <p:nvPr/>
        </p:nvSpPr>
        <p:spPr>
          <a:xfrm>
            <a:off x="1232144" y="138137"/>
            <a:ext cx="11136969" cy="5601533"/>
          </a:xfrm>
          <a:prstGeom prst="rect">
            <a:avLst/>
          </a:prstGeom>
          <a:noFill/>
        </p:spPr>
        <p:txBody>
          <a:bodyPr wrap="square">
            <a:spAutoFit/>
          </a:bodyPr>
          <a:lstStyle/>
          <a:p>
            <a:r>
              <a:rPr lang="en-US" sz="2000" dirty="0"/>
              <a:t>Error: "I will take all the books accept this one."</a:t>
            </a:r>
          </a:p>
          <a:p>
            <a:r>
              <a:rPr lang="en-US" sz="2000" dirty="0"/>
              <a:t>Correction: "I will take all the books except this one."</a:t>
            </a:r>
          </a:p>
          <a:p>
            <a:endParaRPr lang="en-US" sz="2000" dirty="0"/>
          </a:p>
          <a:p>
            <a:pPr marL="285750" indent="-285750">
              <a:buFont typeface="Arial" panose="020B0604020202020204" pitchFamily="34" charset="0"/>
              <a:buChar char="•"/>
            </a:pPr>
            <a:r>
              <a:rPr lang="en-US" sz="2000" dirty="0"/>
              <a:t>"Out of station" (to be out of town or away from home) - Indian English</a:t>
            </a:r>
          </a:p>
          <a:p>
            <a:r>
              <a:rPr lang="en-US" sz="2000" dirty="0"/>
              <a:t>Correction: "Out of town" or "away from home" - Standard English</a:t>
            </a:r>
          </a:p>
          <a:p>
            <a:endParaRPr lang="en-US" sz="2000" dirty="0"/>
          </a:p>
          <a:p>
            <a:pPr marL="285750" indent="-285750">
              <a:buFont typeface="Arial" panose="020B0604020202020204" pitchFamily="34" charset="0"/>
              <a:buChar char="•"/>
            </a:pPr>
            <a:r>
              <a:rPr lang="en-US" sz="2000" dirty="0"/>
              <a:t>"Do the needful" (a phrase used to request someone to do what is necessary) - Indian English</a:t>
            </a:r>
          </a:p>
          <a:p>
            <a:r>
              <a:rPr lang="en-US" sz="2000" dirty="0"/>
              <a:t>Correction: "Please do what is necessary" or "Please take care of it" - Standard English</a:t>
            </a:r>
          </a:p>
          <a:p>
            <a:endParaRPr lang="en-US" sz="2000" dirty="0"/>
          </a:p>
          <a:p>
            <a:pPr marL="285750" indent="-285750">
              <a:buFont typeface="Arial" panose="020B0604020202020204" pitchFamily="34" charset="0"/>
              <a:buChar char="•"/>
            </a:pPr>
            <a:r>
              <a:rPr lang="en-US" sz="2000" dirty="0"/>
              <a:t>"Preferential voting" (to vote for a candidate in a specific order of preference) - Indian English</a:t>
            </a:r>
          </a:p>
          <a:p>
            <a:r>
              <a:rPr lang="en-US" sz="2000" dirty="0"/>
              <a:t>Correction: "Ranked voting" - Standard English</a:t>
            </a:r>
          </a:p>
          <a:p>
            <a:endParaRPr lang="en-US" sz="2000" dirty="0"/>
          </a:p>
          <a:p>
            <a:pPr marL="285750" indent="-285750">
              <a:buFont typeface="Arial" panose="020B0604020202020204" pitchFamily="34" charset="0"/>
              <a:buChar char="•"/>
            </a:pPr>
            <a:r>
              <a:rPr lang="en-US" sz="2000" dirty="0"/>
              <a:t>"Pass out" (used to mean "graduate") - Indian English</a:t>
            </a:r>
          </a:p>
          <a:p>
            <a:r>
              <a:rPr lang="en-US" sz="2000" dirty="0"/>
              <a:t>Correction: "Graduate" - Standard English</a:t>
            </a:r>
          </a:p>
          <a:p>
            <a:endParaRPr lang="en-US" sz="2000" dirty="0"/>
          </a:p>
          <a:p>
            <a:pPr marL="285750" indent="-285750">
              <a:buFont typeface="Arial" panose="020B0604020202020204" pitchFamily="34" charset="0"/>
              <a:buChar char="•"/>
            </a:pPr>
            <a:r>
              <a:rPr lang="en-US" sz="2000" dirty="0"/>
              <a:t>"One minute, I will come" (used to mean "Wait a moment, I will come") - Indian English</a:t>
            </a:r>
          </a:p>
          <a:p>
            <a:r>
              <a:rPr lang="en-US" sz="2000" dirty="0"/>
              <a:t>Correction: "Wait a moment, I will come" - Standard English</a:t>
            </a:r>
          </a:p>
          <a:p>
            <a:endParaRPr lang="en-US" dirty="0"/>
          </a:p>
        </p:txBody>
      </p:sp>
    </p:spTree>
    <p:extLst>
      <p:ext uri="{BB962C8B-B14F-4D97-AF65-F5344CB8AC3E}">
        <p14:creationId xmlns:p14="http://schemas.microsoft.com/office/powerpoint/2010/main" val="20809529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3C4170-F611-6B4B-5C91-E2D64D1DA7F7}"/>
              </a:ext>
            </a:extLst>
          </p:cNvPr>
          <p:cNvSpPr txBox="1"/>
          <p:nvPr/>
        </p:nvSpPr>
        <p:spPr>
          <a:xfrm>
            <a:off x="1265391" y="6445344"/>
            <a:ext cx="6096000" cy="646331"/>
          </a:xfrm>
          <a:prstGeom prst="rect">
            <a:avLst/>
          </a:prstGeom>
          <a:noFill/>
        </p:spPr>
        <p:txBody>
          <a:bodyPr wrap="square">
            <a:spAutoFit/>
          </a:bodyPr>
          <a:lstStyle/>
          <a:p>
            <a:r>
              <a:rPr lang="en-GB" dirty="0">
                <a:hlinkClick r:id="rId3"/>
              </a:rPr>
              <a:t>https://youtu.be/HyqSi6zNKKs</a:t>
            </a:r>
            <a:endParaRPr lang="en-GB" dirty="0"/>
          </a:p>
          <a:p>
            <a:endParaRPr lang="en-GB" dirty="0"/>
          </a:p>
        </p:txBody>
      </p:sp>
      <p:pic>
        <p:nvPicPr>
          <p:cNvPr id="4" name="Picture 3">
            <a:extLst>
              <a:ext uri="{FF2B5EF4-FFF2-40B4-BE49-F238E27FC236}">
                <a16:creationId xmlns:a16="http://schemas.microsoft.com/office/drawing/2014/main" id="{5943B6D7-CF79-EDC6-A771-A26FED92E9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5511" y="-1"/>
            <a:ext cx="6433775" cy="6445345"/>
          </a:xfrm>
          <a:prstGeom prst="rect">
            <a:avLst/>
          </a:prstGeom>
        </p:spPr>
      </p:pic>
    </p:spTree>
    <p:extLst>
      <p:ext uri="{BB962C8B-B14F-4D97-AF65-F5344CB8AC3E}">
        <p14:creationId xmlns:p14="http://schemas.microsoft.com/office/powerpoint/2010/main" val="32235446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5406AC2-774D-DD57-74EA-A81787F9FD86}"/>
              </a:ext>
            </a:extLst>
          </p:cNvPr>
          <p:cNvGraphicFramePr>
            <a:graphicFrameLocks noGrp="1"/>
          </p:cNvGraphicFramePr>
          <p:nvPr>
            <p:extLst>
              <p:ext uri="{D42A27DB-BD31-4B8C-83A1-F6EECF244321}">
                <p14:modId xmlns:p14="http://schemas.microsoft.com/office/powerpoint/2010/main" val="430694748"/>
              </p:ext>
            </p:extLst>
          </p:nvPr>
        </p:nvGraphicFramePr>
        <p:xfrm>
          <a:off x="1127519" y="337515"/>
          <a:ext cx="9965024" cy="6182970"/>
        </p:xfrm>
        <a:graphic>
          <a:graphicData uri="http://schemas.openxmlformats.org/drawingml/2006/table">
            <a:tbl>
              <a:tblPr/>
              <a:tblGrid>
                <a:gridCol w="4982512">
                  <a:extLst>
                    <a:ext uri="{9D8B030D-6E8A-4147-A177-3AD203B41FA5}">
                      <a16:colId xmlns:a16="http://schemas.microsoft.com/office/drawing/2014/main" val="1762379384"/>
                    </a:ext>
                  </a:extLst>
                </a:gridCol>
                <a:gridCol w="4982512">
                  <a:extLst>
                    <a:ext uri="{9D8B030D-6E8A-4147-A177-3AD203B41FA5}">
                      <a16:colId xmlns:a16="http://schemas.microsoft.com/office/drawing/2014/main" val="2199514955"/>
                    </a:ext>
                  </a:extLst>
                </a:gridCol>
              </a:tblGrid>
              <a:tr h="273544">
                <a:tc>
                  <a:txBody>
                    <a:bodyPr/>
                    <a:lstStyle/>
                    <a:p>
                      <a:pPr>
                        <a:buNone/>
                      </a:pPr>
                      <a:r>
                        <a:rPr lang="en-GB" sz="2400"/>
                        <a:t>Please do the needful.</a:t>
                      </a:r>
                    </a:p>
                  </a:txBody>
                  <a:tcPr marL="46439" marR="46439" marT="23219" marB="23219" anchor="ctr">
                    <a:lnL>
                      <a:noFill/>
                    </a:lnL>
                    <a:lnR>
                      <a:noFill/>
                    </a:lnR>
                    <a:lnT>
                      <a:noFill/>
                    </a:lnT>
                    <a:lnB>
                      <a:noFill/>
                    </a:lnB>
                    <a:noFill/>
                  </a:tcPr>
                </a:tc>
                <a:tc>
                  <a:txBody>
                    <a:bodyPr/>
                    <a:lstStyle/>
                    <a:p>
                      <a:pPr>
                        <a:buNone/>
                      </a:pPr>
                      <a:r>
                        <a:rPr lang="en-GB" sz="2400" dirty="0"/>
                        <a:t>Please take the necessary action.</a:t>
                      </a:r>
                    </a:p>
                  </a:txBody>
                  <a:tcPr marL="46439" marR="46439" marT="23219" marB="23219" anchor="ctr">
                    <a:lnL>
                      <a:noFill/>
                    </a:lnL>
                    <a:lnR>
                      <a:noFill/>
                    </a:lnR>
                    <a:lnT>
                      <a:noFill/>
                    </a:lnT>
                    <a:lnB>
                      <a:noFill/>
                    </a:lnB>
                    <a:noFill/>
                  </a:tcPr>
                </a:tc>
                <a:extLst>
                  <a:ext uri="{0D108BD9-81ED-4DB2-BD59-A6C34878D82A}">
                    <a16:rowId xmlns:a16="http://schemas.microsoft.com/office/drawing/2014/main" val="3547164641"/>
                  </a:ext>
                </a:extLst>
              </a:tr>
              <a:tr h="273544">
                <a:tc>
                  <a:txBody>
                    <a:bodyPr/>
                    <a:lstStyle/>
                    <a:p>
                      <a:pPr>
                        <a:buNone/>
                      </a:pPr>
                      <a:r>
                        <a:rPr lang="en-GB" sz="2400"/>
                        <a:t>Revert back to me.</a:t>
                      </a:r>
                    </a:p>
                  </a:txBody>
                  <a:tcPr marL="46439" marR="46439" marT="23219" marB="23219" anchor="ctr">
                    <a:lnL>
                      <a:noFill/>
                    </a:lnL>
                    <a:lnR>
                      <a:noFill/>
                    </a:lnR>
                    <a:lnT>
                      <a:noFill/>
                    </a:lnT>
                    <a:lnB>
                      <a:noFill/>
                    </a:lnB>
                    <a:noFill/>
                  </a:tcPr>
                </a:tc>
                <a:tc>
                  <a:txBody>
                    <a:bodyPr/>
                    <a:lstStyle/>
                    <a:p>
                      <a:pPr>
                        <a:buNone/>
                      </a:pPr>
                      <a:r>
                        <a:rPr lang="en-GB" sz="2400"/>
                        <a:t>Please get back to me.</a:t>
                      </a:r>
                    </a:p>
                  </a:txBody>
                  <a:tcPr marL="46439" marR="46439" marT="23219" marB="23219" anchor="ctr">
                    <a:lnL>
                      <a:noFill/>
                    </a:lnL>
                    <a:lnR>
                      <a:noFill/>
                    </a:lnR>
                    <a:lnT>
                      <a:noFill/>
                    </a:lnT>
                    <a:lnB>
                      <a:noFill/>
                    </a:lnB>
                    <a:noFill/>
                  </a:tcPr>
                </a:tc>
                <a:extLst>
                  <a:ext uri="{0D108BD9-81ED-4DB2-BD59-A6C34878D82A}">
                    <a16:rowId xmlns:a16="http://schemas.microsoft.com/office/drawing/2014/main" val="3729680678"/>
                  </a:ext>
                </a:extLst>
              </a:tr>
              <a:tr h="273544">
                <a:tc>
                  <a:txBody>
                    <a:bodyPr/>
                    <a:lstStyle/>
                    <a:p>
                      <a:pPr>
                        <a:buNone/>
                      </a:pPr>
                      <a:r>
                        <a:rPr lang="en-GB" sz="2400" dirty="0"/>
                        <a:t>I will revert.</a:t>
                      </a:r>
                    </a:p>
                  </a:txBody>
                  <a:tcPr marL="46439" marR="46439" marT="23219" marB="23219" anchor="ctr">
                    <a:lnL>
                      <a:noFill/>
                    </a:lnL>
                    <a:lnR>
                      <a:noFill/>
                    </a:lnR>
                    <a:lnT>
                      <a:noFill/>
                    </a:lnT>
                    <a:lnB>
                      <a:noFill/>
                    </a:lnB>
                    <a:noFill/>
                  </a:tcPr>
                </a:tc>
                <a:tc>
                  <a:txBody>
                    <a:bodyPr/>
                    <a:lstStyle/>
                    <a:p>
                      <a:pPr>
                        <a:buNone/>
                      </a:pPr>
                      <a:r>
                        <a:rPr lang="en-GB" sz="2400"/>
                        <a:t>I will get back to you.</a:t>
                      </a:r>
                    </a:p>
                  </a:txBody>
                  <a:tcPr marL="46439" marR="46439" marT="23219" marB="23219" anchor="ctr">
                    <a:lnL>
                      <a:noFill/>
                    </a:lnL>
                    <a:lnR>
                      <a:noFill/>
                    </a:lnR>
                    <a:lnT>
                      <a:noFill/>
                    </a:lnT>
                    <a:lnB>
                      <a:noFill/>
                    </a:lnB>
                    <a:noFill/>
                  </a:tcPr>
                </a:tc>
                <a:extLst>
                  <a:ext uri="{0D108BD9-81ED-4DB2-BD59-A6C34878D82A}">
                    <a16:rowId xmlns:a16="http://schemas.microsoft.com/office/drawing/2014/main" val="1882213882"/>
                  </a:ext>
                </a:extLst>
              </a:tr>
              <a:tr h="273544">
                <a:tc>
                  <a:txBody>
                    <a:bodyPr/>
                    <a:lstStyle/>
                    <a:p>
                      <a:pPr>
                        <a:buNone/>
                      </a:pPr>
                      <a:r>
                        <a:rPr lang="en-GB" sz="2400"/>
                        <a:t>Kindly do one thing.</a:t>
                      </a:r>
                    </a:p>
                  </a:txBody>
                  <a:tcPr marL="46439" marR="46439" marT="23219" marB="23219" anchor="ctr">
                    <a:lnL>
                      <a:noFill/>
                    </a:lnL>
                    <a:lnR>
                      <a:noFill/>
                    </a:lnR>
                    <a:lnT>
                      <a:noFill/>
                    </a:lnT>
                    <a:lnB>
                      <a:noFill/>
                    </a:lnB>
                    <a:noFill/>
                  </a:tcPr>
                </a:tc>
                <a:tc>
                  <a:txBody>
                    <a:bodyPr/>
                    <a:lstStyle/>
                    <a:p>
                      <a:pPr>
                        <a:buNone/>
                      </a:pPr>
                      <a:r>
                        <a:rPr lang="en-GB" sz="2400"/>
                        <a:t>Could you please…?</a:t>
                      </a:r>
                    </a:p>
                  </a:txBody>
                  <a:tcPr marL="46439" marR="46439" marT="23219" marB="23219" anchor="ctr">
                    <a:lnL>
                      <a:noFill/>
                    </a:lnL>
                    <a:lnR>
                      <a:noFill/>
                    </a:lnR>
                    <a:lnT>
                      <a:noFill/>
                    </a:lnT>
                    <a:lnB>
                      <a:noFill/>
                    </a:lnB>
                    <a:noFill/>
                  </a:tcPr>
                </a:tc>
                <a:extLst>
                  <a:ext uri="{0D108BD9-81ED-4DB2-BD59-A6C34878D82A}">
                    <a16:rowId xmlns:a16="http://schemas.microsoft.com/office/drawing/2014/main" val="769680166"/>
                  </a:ext>
                </a:extLst>
              </a:tr>
              <a:tr h="273544">
                <a:tc>
                  <a:txBody>
                    <a:bodyPr/>
                    <a:lstStyle/>
                    <a:p>
                      <a:pPr>
                        <a:buNone/>
                      </a:pPr>
                      <a:r>
                        <a:rPr lang="en-GB" sz="2400" dirty="0"/>
                        <a:t>Discuss about the issue.</a:t>
                      </a:r>
                    </a:p>
                  </a:txBody>
                  <a:tcPr marL="46439" marR="46439" marT="23219" marB="23219" anchor="ctr">
                    <a:lnL>
                      <a:noFill/>
                    </a:lnL>
                    <a:lnR>
                      <a:noFill/>
                    </a:lnR>
                    <a:lnT>
                      <a:noFill/>
                    </a:lnT>
                    <a:lnB>
                      <a:noFill/>
                    </a:lnB>
                    <a:noFill/>
                  </a:tcPr>
                </a:tc>
                <a:tc>
                  <a:txBody>
                    <a:bodyPr/>
                    <a:lstStyle/>
                    <a:p>
                      <a:pPr>
                        <a:buNone/>
                      </a:pPr>
                      <a:r>
                        <a:rPr lang="en-GB" sz="2400"/>
                        <a:t>Discuss the issue.</a:t>
                      </a:r>
                    </a:p>
                  </a:txBody>
                  <a:tcPr marL="46439" marR="46439" marT="23219" marB="23219" anchor="ctr">
                    <a:lnL>
                      <a:noFill/>
                    </a:lnL>
                    <a:lnR>
                      <a:noFill/>
                    </a:lnR>
                    <a:lnT>
                      <a:noFill/>
                    </a:lnT>
                    <a:lnB>
                      <a:noFill/>
                    </a:lnB>
                    <a:noFill/>
                  </a:tcPr>
                </a:tc>
                <a:extLst>
                  <a:ext uri="{0D108BD9-81ED-4DB2-BD59-A6C34878D82A}">
                    <a16:rowId xmlns:a16="http://schemas.microsoft.com/office/drawing/2014/main" val="470815693"/>
                  </a:ext>
                </a:extLst>
              </a:tr>
              <a:tr h="273544">
                <a:tc>
                  <a:txBody>
                    <a:bodyPr/>
                    <a:lstStyle/>
                    <a:p>
                      <a:pPr>
                        <a:buNone/>
                      </a:pPr>
                      <a:r>
                        <a:rPr lang="en-GB" sz="2400" dirty="0"/>
                        <a:t>Order for two laptops.</a:t>
                      </a:r>
                    </a:p>
                  </a:txBody>
                  <a:tcPr marL="46439" marR="46439" marT="23219" marB="23219" anchor="ctr">
                    <a:lnL>
                      <a:noFill/>
                    </a:lnL>
                    <a:lnR>
                      <a:noFill/>
                    </a:lnR>
                    <a:lnT>
                      <a:noFill/>
                    </a:lnT>
                    <a:lnB>
                      <a:noFill/>
                    </a:lnB>
                    <a:noFill/>
                  </a:tcPr>
                </a:tc>
                <a:tc>
                  <a:txBody>
                    <a:bodyPr/>
                    <a:lstStyle/>
                    <a:p>
                      <a:pPr>
                        <a:buNone/>
                      </a:pPr>
                      <a:r>
                        <a:rPr lang="en-GB" sz="2400"/>
                        <a:t>Order two laptops.</a:t>
                      </a:r>
                    </a:p>
                  </a:txBody>
                  <a:tcPr marL="46439" marR="46439" marT="23219" marB="23219" anchor="ctr">
                    <a:lnL>
                      <a:noFill/>
                    </a:lnL>
                    <a:lnR>
                      <a:noFill/>
                    </a:lnR>
                    <a:lnT>
                      <a:noFill/>
                    </a:lnT>
                    <a:lnB>
                      <a:noFill/>
                    </a:lnB>
                    <a:noFill/>
                  </a:tcPr>
                </a:tc>
                <a:extLst>
                  <a:ext uri="{0D108BD9-81ED-4DB2-BD59-A6C34878D82A}">
                    <a16:rowId xmlns:a16="http://schemas.microsoft.com/office/drawing/2014/main" val="3094886308"/>
                  </a:ext>
                </a:extLst>
              </a:tr>
              <a:tr h="273544">
                <a:tc>
                  <a:txBody>
                    <a:bodyPr/>
                    <a:lstStyle/>
                    <a:p>
                      <a:pPr>
                        <a:buNone/>
                      </a:pPr>
                      <a:r>
                        <a:rPr lang="en-GB" sz="2400" dirty="0"/>
                        <a:t>Passed out from college.</a:t>
                      </a:r>
                    </a:p>
                  </a:txBody>
                  <a:tcPr marL="46439" marR="46439" marT="23219" marB="23219" anchor="ctr">
                    <a:lnL>
                      <a:noFill/>
                    </a:lnL>
                    <a:lnR>
                      <a:noFill/>
                    </a:lnR>
                    <a:lnT>
                      <a:noFill/>
                    </a:lnT>
                    <a:lnB>
                      <a:noFill/>
                    </a:lnB>
                    <a:noFill/>
                  </a:tcPr>
                </a:tc>
                <a:tc>
                  <a:txBody>
                    <a:bodyPr/>
                    <a:lstStyle/>
                    <a:p>
                      <a:pPr>
                        <a:buNone/>
                      </a:pPr>
                      <a:r>
                        <a:rPr lang="en-GB" sz="2400"/>
                        <a:t>Graduated from college.</a:t>
                      </a:r>
                    </a:p>
                  </a:txBody>
                  <a:tcPr marL="46439" marR="46439" marT="23219" marB="23219" anchor="ctr">
                    <a:lnL>
                      <a:noFill/>
                    </a:lnL>
                    <a:lnR>
                      <a:noFill/>
                    </a:lnR>
                    <a:lnT>
                      <a:noFill/>
                    </a:lnT>
                    <a:lnB>
                      <a:noFill/>
                    </a:lnB>
                    <a:noFill/>
                  </a:tcPr>
                </a:tc>
                <a:extLst>
                  <a:ext uri="{0D108BD9-81ED-4DB2-BD59-A6C34878D82A}">
                    <a16:rowId xmlns:a16="http://schemas.microsoft.com/office/drawing/2014/main" val="1045247654"/>
                  </a:ext>
                </a:extLst>
              </a:tr>
              <a:tr h="273544">
                <a:tc>
                  <a:txBody>
                    <a:bodyPr/>
                    <a:lstStyle/>
                    <a:p>
                      <a:pPr>
                        <a:buNone/>
                      </a:pPr>
                      <a:r>
                        <a:rPr lang="en-GB" sz="2400" dirty="0"/>
                        <a:t>Myself Rahul.</a:t>
                      </a:r>
                    </a:p>
                  </a:txBody>
                  <a:tcPr marL="46439" marR="46439" marT="23219" marB="23219" anchor="ctr">
                    <a:lnL>
                      <a:noFill/>
                    </a:lnL>
                    <a:lnR>
                      <a:noFill/>
                    </a:lnR>
                    <a:lnT>
                      <a:noFill/>
                    </a:lnT>
                    <a:lnB>
                      <a:noFill/>
                    </a:lnB>
                    <a:noFill/>
                  </a:tcPr>
                </a:tc>
                <a:tc>
                  <a:txBody>
                    <a:bodyPr/>
                    <a:lstStyle/>
                    <a:p>
                      <a:pPr>
                        <a:buNone/>
                      </a:pPr>
                      <a:r>
                        <a:rPr lang="en-GB" sz="2400"/>
                        <a:t>I am Rahul. / My name is Rahul.</a:t>
                      </a:r>
                    </a:p>
                  </a:txBody>
                  <a:tcPr marL="46439" marR="46439" marT="23219" marB="23219" anchor="ctr">
                    <a:lnL>
                      <a:noFill/>
                    </a:lnL>
                    <a:lnR>
                      <a:noFill/>
                    </a:lnR>
                    <a:lnT>
                      <a:noFill/>
                    </a:lnT>
                    <a:lnB>
                      <a:noFill/>
                    </a:lnB>
                    <a:noFill/>
                  </a:tcPr>
                </a:tc>
                <a:extLst>
                  <a:ext uri="{0D108BD9-81ED-4DB2-BD59-A6C34878D82A}">
                    <a16:rowId xmlns:a16="http://schemas.microsoft.com/office/drawing/2014/main" val="38700451"/>
                  </a:ext>
                </a:extLst>
              </a:tr>
              <a:tr h="273544">
                <a:tc>
                  <a:txBody>
                    <a:bodyPr/>
                    <a:lstStyle/>
                    <a:p>
                      <a:pPr>
                        <a:buNone/>
                      </a:pPr>
                      <a:r>
                        <a:rPr lang="en-GB" sz="2400"/>
                        <a:t>I am having two years of experience.</a:t>
                      </a:r>
                    </a:p>
                  </a:txBody>
                  <a:tcPr marL="46439" marR="46439" marT="23219" marB="23219" anchor="ctr">
                    <a:lnL>
                      <a:noFill/>
                    </a:lnL>
                    <a:lnR>
                      <a:noFill/>
                    </a:lnR>
                    <a:lnT>
                      <a:noFill/>
                    </a:lnT>
                    <a:lnB>
                      <a:noFill/>
                    </a:lnB>
                    <a:noFill/>
                  </a:tcPr>
                </a:tc>
                <a:tc>
                  <a:txBody>
                    <a:bodyPr/>
                    <a:lstStyle/>
                    <a:p>
                      <a:pPr>
                        <a:buNone/>
                      </a:pPr>
                      <a:r>
                        <a:rPr lang="en-GB" sz="2400" dirty="0"/>
                        <a:t>I have two years of experience.</a:t>
                      </a:r>
                    </a:p>
                  </a:txBody>
                  <a:tcPr marL="46439" marR="46439" marT="23219" marB="23219" anchor="ctr">
                    <a:lnL>
                      <a:noFill/>
                    </a:lnL>
                    <a:lnR>
                      <a:noFill/>
                    </a:lnR>
                    <a:lnT>
                      <a:noFill/>
                    </a:lnT>
                    <a:lnB>
                      <a:noFill/>
                    </a:lnB>
                    <a:noFill/>
                  </a:tcPr>
                </a:tc>
                <a:extLst>
                  <a:ext uri="{0D108BD9-81ED-4DB2-BD59-A6C34878D82A}">
                    <a16:rowId xmlns:a16="http://schemas.microsoft.com/office/drawing/2014/main" val="4107234893"/>
                  </a:ext>
                </a:extLst>
              </a:tr>
              <a:tr h="273544">
                <a:tc>
                  <a:txBody>
                    <a:bodyPr/>
                    <a:lstStyle/>
                    <a:p>
                      <a:pPr>
                        <a:buNone/>
                      </a:pPr>
                      <a:r>
                        <a:rPr lang="en-GB" sz="2400" dirty="0"/>
                        <a:t>I am working here since 2023.</a:t>
                      </a:r>
                    </a:p>
                  </a:txBody>
                  <a:tcPr marL="46439" marR="46439" marT="23219" marB="23219" anchor="ctr">
                    <a:lnL>
                      <a:noFill/>
                    </a:lnL>
                    <a:lnR>
                      <a:noFill/>
                    </a:lnR>
                    <a:lnT>
                      <a:noFill/>
                    </a:lnT>
                    <a:lnB>
                      <a:noFill/>
                    </a:lnB>
                    <a:noFill/>
                  </a:tcPr>
                </a:tc>
                <a:tc>
                  <a:txBody>
                    <a:bodyPr/>
                    <a:lstStyle/>
                    <a:p>
                      <a:pPr>
                        <a:buNone/>
                      </a:pPr>
                      <a:r>
                        <a:rPr lang="en-GB" sz="2400" dirty="0"/>
                        <a:t>I have been working here since 2023.</a:t>
                      </a:r>
                    </a:p>
                  </a:txBody>
                  <a:tcPr marL="46439" marR="46439" marT="23219" marB="23219" anchor="ctr">
                    <a:lnL>
                      <a:noFill/>
                    </a:lnL>
                    <a:lnR>
                      <a:noFill/>
                    </a:lnR>
                    <a:lnT>
                      <a:noFill/>
                    </a:lnT>
                    <a:lnB>
                      <a:noFill/>
                    </a:lnB>
                    <a:noFill/>
                  </a:tcPr>
                </a:tc>
                <a:extLst>
                  <a:ext uri="{0D108BD9-81ED-4DB2-BD59-A6C34878D82A}">
                    <a16:rowId xmlns:a16="http://schemas.microsoft.com/office/drawing/2014/main" val="3867889752"/>
                  </a:ext>
                </a:extLst>
              </a:tr>
              <a:tr h="273544">
                <a:tc>
                  <a:txBody>
                    <a:bodyPr/>
                    <a:lstStyle/>
                    <a:p>
                      <a:pPr>
                        <a:buNone/>
                      </a:pPr>
                      <a:r>
                        <a:rPr lang="en-GB" sz="2400" dirty="0"/>
                        <a:t>What is your good name?</a:t>
                      </a:r>
                    </a:p>
                  </a:txBody>
                  <a:tcPr marL="46439" marR="46439" marT="23219" marB="23219" anchor="ctr">
                    <a:lnL>
                      <a:noFill/>
                    </a:lnL>
                    <a:lnR>
                      <a:noFill/>
                    </a:lnR>
                    <a:lnT>
                      <a:noFill/>
                    </a:lnT>
                    <a:lnB>
                      <a:noFill/>
                    </a:lnB>
                    <a:noFill/>
                  </a:tcPr>
                </a:tc>
                <a:tc>
                  <a:txBody>
                    <a:bodyPr/>
                    <a:lstStyle/>
                    <a:p>
                      <a:pPr>
                        <a:buNone/>
                      </a:pPr>
                      <a:r>
                        <a:rPr lang="en-GB" sz="2400"/>
                        <a:t>What is your name?</a:t>
                      </a:r>
                    </a:p>
                  </a:txBody>
                  <a:tcPr marL="46439" marR="46439" marT="23219" marB="23219" anchor="ctr">
                    <a:lnL>
                      <a:noFill/>
                    </a:lnL>
                    <a:lnR>
                      <a:noFill/>
                    </a:lnR>
                    <a:lnT>
                      <a:noFill/>
                    </a:lnT>
                    <a:lnB>
                      <a:noFill/>
                    </a:lnB>
                    <a:noFill/>
                  </a:tcPr>
                </a:tc>
                <a:extLst>
                  <a:ext uri="{0D108BD9-81ED-4DB2-BD59-A6C34878D82A}">
                    <a16:rowId xmlns:a16="http://schemas.microsoft.com/office/drawing/2014/main" val="2712933729"/>
                  </a:ext>
                </a:extLst>
              </a:tr>
              <a:tr h="273544">
                <a:tc>
                  <a:txBody>
                    <a:bodyPr/>
                    <a:lstStyle/>
                    <a:p>
                      <a:pPr>
                        <a:buNone/>
                      </a:pPr>
                      <a:r>
                        <a:rPr lang="en-GB" sz="2400" dirty="0"/>
                        <a:t>Where do you stay?</a:t>
                      </a:r>
                    </a:p>
                  </a:txBody>
                  <a:tcPr marL="46439" marR="46439" marT="23219" marB="23219" anchor="ctr">
                    <a:lnL>
                      <a:noFill/>
                    </a:lnL>
                    <a:lnR>
                      <a:noFill/>
                    </a:lnR>
                    <a:lnT>
                      <a:noFill/>
                    </a:lnT>
                    <a:lnB>
                      <a:noFill/>
                    </a:lnB>
                    <a:noFill/>
                  </a:tcPr>
                </a:tc>
                <a:tc>
                  <a:txBody>
                    <a:bodyPr/>
                    <a:lstStyle/>
                    <a:p>
                      <a:pPr>
                        <a:buNone/>
                      </a:pPr>
                      <a:r>
                        <a:rPr lang="en-GB" sz="2400"/>
                        <a:t>Where do you live?</a:t>
                      </a:r>
                    </a:p>
                  </a:txBody>
                  <a:tcPr marL="46439" marR="46439" marT="23219" marB="23219" anchor="ctr">
                    <a:lnL>
                      <a:noFill/>
                    </a:lnL>
                    <a:lnR>
                      <a:noFill/>
                    </a:lnR>
                    <a:lnT>
                      <a:noFill/>
                    </a:lnT>
                    <a:lnB>
                      <a:noFill/>
                    </a:lnB>
                    <a:noFill/>
                  </a:tcPr>
                </a:tc>
                <a:extLst>
                  <a:ext uri="{0D108BD9-81ED-4DB2-BD59-A6C34878D82A}">
                    <a16:rowId xmlns:a16="http://schemas.microsoft.com/office/drawing/2014/main" val="3755440532"/>
                  </a:ext>
                </a:extLst>
              </a:tr>
              <a:tr h="273544">
                <a:tc>
                  <a:txBody>
                    <a:bodyPr/>
                    <a:lstStyle/>
                    <a:p>
                      <a:pPr>
                        <a:buNone/>
                      </a:pPr>
                      <a:r>
                        <a:rPr lang="en-GB" sz="2400"/>
                        <a:t>I have a doubt.</a:t>
                      </a:r>
                    </a:p>
                  </a:txBody>
                  <a:tcPr marL="46439" marR="46439" marT="23219" marB="23219" anchor="ctr">
                    <a:lnL>
                      <a:noFill/>
                    </a:lnL>
                    <a:lnR>
                      <a:noFill/>
                    </a:lnR>
                    <a:lnT>
                      <a:noFill/>
                    </a:lnT>
                    <a:lnB>
                      <a:noFill/>
                    </a:lnB>
                    <a:noFill/>
                  </a:tcPr>
                </a:tc>
                <a:tc>
                  <a:txBody>
                    <a:bodyPr/>
                    <a:lstStyle/>
                    <a:p>
                      <a:pPr>
                        <a:buNone/>
                      </a:pPr>
                      <a:r>
                        <a:rPr lang="en-GB" sz="2400"/>
                        <a:t>I have a question.</a:t>
                      </a:r>
                    </a:p>
                  </a:txBody>
                  <a:tcPr marL="46439" marR="46439" marT="23219" marB="23219" anchor="ctr">
                    <a:lnL>
                      <a:noFill/>
                    </a:lnL>
                    <a:lnR>
                      <a:noFill/>
                    </a:lnR>
                    <a:lnT>
                      <a:noFill/>
                    </a:lnT>
                    <a:lnB>
                      <a:noFill/>
                    </a:lnB>
                    <a:noFill/>
                  </a:tcPr>
                </a:tc>
                <a:extLst>
                  <a:ext uri="{0D108BD9-81ED-4DB2-BD59-A6C34878D82A}">
                    <a16:rowId xmlns:a16="http://schemas.microsoft.com/office/drawing/2014/main" val="3926317489"/>
                  </a:ext>
                </a:extLst>
              </a:tr>
              <a:tr h="273544">
                <a:tc>
                  <a:txBody>
                    <a:bodyPr/>
                    <a:lstStyle/>
                    <a:p>
                      <a:pPr>
                        <a:buNone/>
                      </a:pPr>
                      <a:r>
                        <a:rPr lang="en-GB" sz="2400"/>
                        <a:t>Today morning</a:t>
                      </a:r>
                    </a:p>
                  </a:txBody>
                  <a:tcPr marL="46439" marR="46439" marT="23219" marB="23219" anchor="ctr">
                    <a:lnL>
                      <a:noFill/>
                    </a:lnL>
                    <a:lnR>
                      <a:noFill/>
                    </a:lnR>
                    <a:lnT>
                      <a:noFill/>
                    </a:lnT>
                    <a:lnB>
                      <a:noFill/>
                    </a:lnB>
                    <a:noFill/>
                  </a:tcPr>
                </a:tc>
                <a:tc>
                  <a:txBody>
                    <a:bodyPr/>
                    <a:lstStyle/>
                    <a:p>
                      <a:pPr>
                        <a:buNone/>
                      </a:pPr>
                      <a:r>
                        <a:rPr lang="en-GB" sz="2400"/>
                        <a:t>This morning</a:t>
                      </a:r>
                    </a:p>
                  </a:txBody>
                  <a:tcPr marL="46439" marR="46439" marT="23219" marB="23219" anchor="ctr">
                    <a:lnL>
                      <a:noFill/>
                    </a:lnL>
                    <a:lnR>
                      <a:noFill/>
                    </a:lnR>
                    <a:lnT>
                      <a:noFill/>
                    </a:lnT>
                    <a:lnB>
                      <a:noFill/>
                    </a:lnB>
                    <a:noFill/>
                  </a:tcPr>
                </a:tc>
                <a:extLst>
                  <a:ext uri="{0D108BD9-81ED-4DB2-BD59-A6C34878D82A}">
                    <a16:rowId xmlns:a16="http://schemas.microsoft.com/office/drawing/2014/main" val="2452545231"/>
                  </a:ext>
                </a:extLst>
              </a:tr>
              <a:tr h="273544">
                <a:tc>
                  <a:txBody>
                    <a:bodyPr/>
                    <a:lstStyle/>
                    <a:p>
                      <a:pPr>
                        <a:buNone/>
                      </a:pPr>
                      <a:r>
                        <a:rPr lang="en-GB" sz="2400" dirty="0"/>
                        <a:t>Today itself</a:t>
                      </a:r>
                    </a:p>
                  </a:txBody>
                  <a:tcPr marL="46439" marR="46439" marT="23219" marB="23219" anchor="ctr">
                    <a:lnL>
                      <a:noFill/>
                    </a:lnL>
                    <a:lnR>
                      <a:noFill/>
                    </a:lnR>
                    <a:lnT>
                      <a:noFill/>
                    </a:lnT>
                    <a:lnB>
                      <a:noFill/>
                    </a:lnB>
                    <a:noFill/>
                  </a:tcPr>
                </a:tc>
                <a:tc>
                  <a:txBody>
                    <a:bodyPr/>
                    <a:lstStyle/>
                    <a:p>
                      <a:pPr>
                        <a:buNone/>
                      </a:pPr>
                      <a:r>
                        <a:rPr lang="en-GB" sz="2400" dirty="0"/>
                        <a:t>Today / By the end of today</a:t>
                      </a:r>
                    </a:p>
                  </a:txBody>
                  <a:tcPr marL="46439" marR="46439" marT="23219" marB="23219" anchor="ctr">
                    <a:lnL>
                      <a:noFill/>
                    </a:lnL>
                    <a:lnR>
                      <a:noFill/>
                    </a:lnR>
                    <a:lnT>
                      <a:noFill/>
                    </a:lnT>
                    <a:lnB>
                      <a:noFill/>
                    </a:lnB>
                    <a:noFill/>
                  </a:tcPr>
                </a:tc>
                <a:extLst>
                  <a:ext uri="{0D108BD9-81ED-4DB2-BD59-A6C34878D82A}">
                    <a16:rowId xmlns:a16="http://schemas.microsoft.com/office/drawing/2014/main" val="1741573981"/>
                  </a:ext>
                </a:extLst>
              </a:tr>
            </a:tbl>
          </a:graphicData>
        </a:graphic>
      </p:graphicFrame>
    </p:spTree>
    <p:extLst>
      <p:ext uri="{BB962C8B-B14F-4D97-AF65-F5344CB8AC3E}">
        <p14:creationId xmlns:p14="http://schemas.microsoft.com/office/powerpoint/2010/main" val="12722793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D8B4D1-77FF-1FCE-6A2A-6C11D87C2480}"/>
              </a:ext>
            </a:extLst>
          </p:cNvPr>
          <p:cNvSpPr txBox="1"/>
          <p:nvPr/>
        </p:nvSpPr>
        <p:spPr>
          <a:xfrm>
            <a:off x="1835426" y="1444539"/>
            <a:ext cx="8521147" cy="3170099"/>
          </a:xfrm>
          <a:prstGeom prst="rect">
            <a:avLst/>
          </a:prstGeom>
          <a:noFill/>
        </p:spPr>
        <p:txBody>
          <a:bodyPr wrap="square">
            <a:spAutoFit/>
          </a:bodyPr>
          <a:lstStyle/>
          <a:p>
            <a:pPr algn="l"/>
            <a:r>
              <a:rPr lang="en-GB" sz="4000" b="0" i="0" u="none" strike="noStrike" baseline="0" dirty="0">
                <a:solidFill>
                  <a:srgbClr val="C00000"/>
                </a:solidFill>
                <a:latin typeface="Times New Roman" panose="02020603050405020304" pitchFamily="18" charset="0"/>
                <a:cs typeface="Times New Roman" panose="02020603050405020304" pitchFamily="18" charset="0"/>
              </a:rPr>
              <a:t>Interpersonal communication:</a:t>
            </a:r>
          </a:p>
          <a:p>
            <a:pPr algn="l"/>
            <a:endParaRPr lang="en-GB" sz="4000" b="0" i="0" u="none" strike="noStrike" baseline="0" dirty="0">
              <a:solidFill>
                <a:srgbClr val="C00000"/>
              </a:solidFill>
              <a:latin typeface="Times New Roman" panose="02020603050405020304" pitchFamily="18" charset="0"/>
              <a:cs typeface="Times New Roman" panose="02020603050405020304" pitchFamily="18" charset="0"/>
            </a:endParaRPr>
          </a:p>
          <a:p>
            <a:pPr algn="l"/>
            <a:r>
              <a:rPr lang="en-GB" sz="4000" b="0" i="0" u="none" strike="noStrike" baseline="0" dirty="0">
                <a:solidFill>
                  <a:srgbClr val="C00000"/>
                </a:solidFill>
                <a:latin typeface="Times New Roman" panose="02020603050405020304" pitchFamily="18" charset="0"/>
                <a:cs typeface="Times New Roman" panose="02020603050405020304" pitchFamily="18" charset="0"/>
              </a:rPr>
              <a:t> Active listening</a:t>
            </a:r>
          </a:p>
          <a:p>
            <a:pPr algn="l"/>
            <a:r>
              <a:rPr lang="en-GB" sz="4000" b="0" i="0" u="none" strike="noStrike" baseline="0" dirty="0">
                <a:solidFill>
                  <a:srgbClr val="C00000"/>
                </a:solidFill>
                <a:latin typeface="Times New Roman" panose="02020603050405020304" pitchFamily="18" charset="0"/>
                <a:cs typeface="Times New Roman" panose="02020603050405020304" pitchFamily="18" charset="0"/>
              </a:rPr>
              <a:t> Feedback</a:t>
            </a:r>
          </a:p>
          <a:p>
            <a:pPr algn="l"/>
            <a:r>
              <a:rPr lang="en-GB" sz="4000" b="0" i="0" u="none" strike="noStrike" baseline="0" dirty="0">
                <a:solidFill>
                  <a:srgbClr val="C00000"/>
                </a:solidFill>
                <a:latin typeface="Times New Roman" panose="02020603050405020304" pitchFamily="18" charset="0"/>
                <a:cs typeface="Times New Roman" panose="02020603050405020304" pitchFamily="18" charset="0"/>
              </a:rPr>
              <a:t> Empathy</a:t>
            </a:r>
            <a:endParaRPr lang="en-GB" sz="54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84742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A60F574-F490-2115-CA0B-E87D46C81431}"/>
              </a:ext>
            </a:extLst>
          </p:cNvPr>
          <p:cNvSpPr txBox="1"/>
          <p:nvPr/>
        </p:nvSpPr>
        <p:spPr>
          <a:xfrm>
            <a:off x="727710" y="941257"/>
            <a:ext cx="10736580" cy="5016758"/>
          </a:xfrm>
          <a:prstGeom prst="rect">
            <a:avLst/>
          </a:prstGeom>
          <a:noFill/>
        </p:spPr>
        <p:txBody>
          <a:bodyPr wrap="square" rtlCol="0">
            <a:spAutoFit/>
          </a:bodyPr>
          <a:lstStyle/>
          <a:p>
            <a:r>
              <a:rPr lang="en-IN" sz="3200" dirty="0">
                <a:solidFill>
                  <a:srgbClr val="C00000"/>
                </a:solidFill>
              </a:rPr>
              <a:t>Interpersonal Communication</a:t>
            </a:r>
          </a:p>
          <a:p>
            <a:endParaRPr lang="en-IN" sz="3200" dirty="0"/>
          </a:p>
          <a:p>
            <a:pPr marL="285750" indent="-285750">
              <a:buFont typeface="Arial" panose="020B0604020202020204" pitchFamily="34" charset="0"/>
              <a:buChar char="•"/>
            </a:pPr>
            <a:r>
              <a:rPr lang="en-GB" sz="2400" dirty="0"/>
              <a:t>Communication between two or more people in which they interact with and respond to one another.</a:t>
            </a:r>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dirty="0"/>
              <a:t>face-to-face communication in organizations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How much time one </a:t>
            </a:r>
            <a:r>
              <a:rPr lang="en-US" sz="2400" dirty="0" err="1"/>
              <a:t>spents</a:t>
            </a:r>
            <a:r>
              <a:rPr lang="en-US" sz="2400" dirty="0"/>
              <a:t> in conversation, meetings and </a:t>
            </a:r>
            <a:r>
              <a:rPr lang="en-GB" sz="2400" dirty="0"/>
              <a:t>discussion?</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How effective is this major investment in time and energy?</a:t>
            </a:r>
          </a:p>
          <a:p>
            <a:endParaRPr lang="en-US" sz="2400" dirty="0"/>
          </a:p>
          <a:p>
            <a:pPr marL="285750" indent="-285750">
              <a:buFont typeface="Arial" panose="020B0604020202020204" pitchFamily="34" charset="0"/>
              <a:buChar char="•"/>
            </a:pPr>
            <a:endParaRPr lang="en-GB" sz="4000" dirty="0"/>
          </a:p>
        </p:txBody>
      </p:sp>
    </p:spTree>
    <p:extLst>
      <p:ext uri="{BB962C8B-B14F-4D97-AF65-F5344CB8AC3E}">
        <p14:creationId xmlns:p14="http://schemas.microsoft.com/office/powerpoint/2010/main" val="39658090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F3B9336-592A-4092-D385-9F48F56E934F}"/>
              </a:ext>
            </a:extLst>
          </p:cNvPr>
          <p:cNvSpPr txBox="1"/>
          <p:nvPr/>
        </p:nvSpPr>
        <p:spPr>
          <a:xfrm>
            <a:off x="853439" y="1380848"/>
            <a:ext cx="6949440" cy="2092881"/>
          </a:xfrm>
          <a:prstGeom prst="rect">
            <a:avLst/>
          </a:prstGeom>
          <a:noFill/>
        </p:spPr>
        <p:txBody>
          <a:bodyPr wrap="square">
            <a:spAutoFit/>
          </a:bodyPr>
          <a:lstStyle/>
          <a:p>
            <a:pPr marL="285750" indent="-285750" algn="just">
              <a:buFont typeface="Arial" panose="020B0604020202020204" pitchFamily="34" charset="0"/>
              <a:buChar char="•"/>
            </a:pPr>
            <a:r>
              <a:rPr lang="en-US" sz="2200" b="0" i="0" u="none" strike="noStrike" baseline="0" dirty="0"/>
              <a:t>No </a:t>
            </a:r>
            <a:r>
              <a:rPr lang="en-US" sz="2200" b="0" i="1" u="none" strike="noStrike" baseline="0" dirty="0"/>
              <a:t>communication process is complete without listening</a:t>
            </a:r>
            <a:r>
              <a:rPr lang="en-US" sz="2200" b="0" i="0" u="none" strike="noStrike" baseline="0" dirty="0"/>
              <a:t>.</a:t>
            </a:r>
          </a:p>
          <a:p>
            <a:pPr marL="285750" indent="-285750" algn="just">
              <a:buFont typeface="Arial" panose="020B0604020202020204" pitchFamily="34" charset="0"/>
              <a:buChar char="•"/>
            </a:pPr>
            <a:endParaRPr lang="en-US" sz="2200" dirty="0"/>
          </a:p>
          <a:p>
            <a:pPr marL="285750" indent="-285750" algn="just">
              <a:buFont typeface="Arial" panose="020B0604020202020204" pitchFamily="34" charset="0"/>
              <a:buChar char="•"/>
            </a:pPr>
            <a:endParaRPr lang="en-GB" sz="2200" dirty="0"/>
          </a:p>
          <a:p>
            <a:pPr marL="285750" indent="-285750" algn="just">
              <a:buFont typeface="Arial" panose="020B0604020202020204" pitchFamily="34" charset="0"/>
              <a:buChar char="•"/>
            </a:pPr>
            <a:r>
              <a:rPr lang="en-US" sz="2200" dirty="0"/>
              <a:t>Listening is a process of receiving, interpreting, and reacting to a message received from the speaker.</a:t>
            </a:r>
            <a:endParaRPr lang="en-GB" sz="2200" dirty="0"/>
          </a:p>
          <a:p>
            <a:pPr marL="285750" indent="-285750" algn="just">
              <a:buFont typeface="Arial" panose="020B0604020202020204" pitchFamily="34" charset="0"/>
              <a:buChar char="•"/>
            </a:pPr>
            <a:endParaRPr lang="en-GB" sz="2000" dirty="0"/>
          </a:p>
        </p:txBody>
      </p:sp>
      <p:sp>
        <p:nvSpPr>
          <p:cNvPr id="7" name="TextBox 6">
            <a:extLst>
              <a:ext uri="{FF2B5EF4-FFF2-40B4-BE49-F238E27FC236}">
                <a16:creationId xmlns:a16="http://schemas.microsoft.com/office/drawing/2014/main" id="{3E5E2054-90EB-F230-C6BC-51610F575D85}"/>
              </a:ext>
            </a:extLst>
          </p:cNvPr>
          <p:cNvSpPr txBox="1"/>
          <p:nvPr/>
        </p:nvSpPr>
        <p:spPr>
          <a:xfrm>
            <a:off x="8063306" y="565240"/>
            <a:ext cx="3869050" cy="1323439"/>
          </a:xfrm>
          <a:prstGeom prst="rect">
            <a:avLst/>
          </a:prstGeom>
          <a:solidFill>
            <a:schemeClr val="bg2">
              <a:lumMod val="75000"/>
            </a:schemeClr>
          </a:solidFill>
        </p:spPr>
        <p:txBody>
          <a:bodyPr wrap="square">
            <a:spAutoFit/>
          </a:bodyPr>
          <a:lstStyle/>
          <a:p>
            <a:pPr algn="l"/>
            <a:r>
              <a:rPr lang="en-US" sz="2000" b="0" i="0" u="none" strike="noStrike" baseline="0" dirty="0"/>
              <a:t>‘We have two ears and one mouth so that we can listen twice as much as we </a:t>
            </a:r>
            <a:r>
              <a:rPr lang="en-GB" sz="2000" b="0" i="0" u="none" strike="noStrike" baseline="0" dirty="0"/>
              <a:t>speak.’</a:t>
            </a:r>
          </a:p>
          <a:p>
            <a:pPr algn="r"/>
            <a:r>
              <a:rPr lang="en-GB" sz="2000" b="0" i="1" u="none" strike="noStrike" baseline="0" dirty="0"/>
              <a:t>–Epictetus</a:t>
            </a:r>
            <a:endParaRPr lang="en-GB" sz="2000" dirty="0"/>
          </a:p>
        </p:txBody>
      </p:sp>
      <p:sp>
        <p:nvSpPr>
          <p:cNvPr id="9" name="TextBox 8">
            <a:extLst>
              <a:ext uri="{FF2B5EF4-FFF2-40B4-BE49-F238E27FC236}">
                <a16:creationId xmlns:a16="http://schemas.microsoft.com/office/drawing/2014/main" id="{E9B8FEAC-989D-BCDA-D1F7-A08C22B3C5A9}"/>
              </a:ext>
            </a:extLst>
          </p:cNvPr>
          <p:cNvSpPr txBox="1"/>
          <p:nvPr/>
        </p:nvSpPr>
        <p:spPr>
          <a:xfrm>
            <a:off x="853439" y="3570618"/>
            <a:ext cx="10829223" cy="2800767"/>
          </a:xfrm>
          <a:prstGeom prst="rect">
            <a:avLst/>
          </a:prstGeom>
          <a:noFill/>
        </p:spPr>
        <p:txBody>
          <a:bodyPr wrap="square">
            <a:spAutoFit/>
          </a:bodyPr>
          <a:lstStyle/>
          <a:p>
            <a:pPr marL="285750" indent="-285750" algn="just">
              <a:buFont typeface="Arial" panose="020B0604020202020204" pitchFamily="34" charset="0"/>
              <a:buChar char="•"/>
            </a:pPr>
            <a:r>
              <a:rPr lang="en-GB" sz="2200" b="0" i="0" u="none" strike="noStrike" baseline="0" dirty="0"/>
              <a:t>Good listening involves encouraging </a:t>
            </a:r>
            <a:r>
              <a:rPr lang="en-US" sz="2200" b="0" i="0" u="none" strike="noStrike" baseline="0" dirty="0"/>
              <a:t>the other person (the speaker in this case) by being sensitive to the thoughts and emotions hidden in their expressions. We also need to be patient while listening because otherwise we will lose track of what is </a:t>
            </a:r>
            <a:r>
              <a:rPr lang="en-GB" sz="2200" b="0" i="0" u="none" strike="noStrike" baseline="0" dirty="0"/>
              <a:t>being said.</a:t>
            </a:r>
            <a:endParaRPr lang="en-GB" sz="2200" dirty="0"/>
          </a:p>
          <a:p>
            <a:pPr marL="285750" indent="-285750" algn="just">
              <a:buFont typeface="Arial" panose="020B0604020202020204" pitchFamily="34" charset="0"/>
              <a:buChar char="•"/>
            </a:pPr>
            <a:endParaRPr lang="en-GB" sz="2200" dirty="0"/>
          </a:p>
          <a:p>
            <a:pPr marL="285750" indent="-285750" algn="just">
              <a:buFont typeface="Arial" panose="020B0604020202020204" pitchFamily="34" charset="0"/>
              <a:buChar char="•"/>
            </a:pPr>
            <a:r>
              <a:rPr lang="en-US" sz="2200" dirty="0"/>
              <a:t>People believe that a good speaker is essentially a good communicator, but this may not be always true.</a:t>
            </a:r>
          </a:p>
          <a:p>
            <a:pPr algn="just"/>
            <a:endParaRPr lang="en-US" sz="2200" dirty="0"/>
          </a:p>
          <a:p>
            <a:pPr marL="285750" indent="-285750" algn="just">
              <a:buFont typeface="Arial" panose="020B0604020202020204" pitchFamily="34" charset="0"/>
              <a:buChar char="•"/>
            </a:pPr>
            <a:r>
              <a:rPr lang="en-US" sz="2200" dirty="0"/>
              <a:t>Listening takes a lot of energy</a:t>
            </a:r>
            <a:endParaRPr lang="en-GB" sz="2200" dirty="0"/>
          </a:p>
        </p:txBody>
      </p:sp>
      <p:sp>
        <p:nvSpPr>
          <p:cNvPr id="2" name="Rectangle 1">
            <a:extLst>
              <a:ext uri="{FF2B5EF4-FFF2-40B4-BE49-F238E27FC236}">
                <a16:creationId xmlns:a16="http://schemas.microsoft.com/office/drawing/2014/main" id="{D0D5A439-2E09-67A2-A04A-1D7CDDF6C1F4}"/>
              </a:ext>
            </a:extLst>
          </p:cNvPr>
          <p:cNvSpPr/>
          <p:nvPr/>
        </p:nvSpPr>
        <p:spPr>
          <a:xfrm>
            <a:off x="853440" y="242074"/>
            <a:ext cx="3275256" cy="646331"/>
          </a:xfrm>
          <a:prstGeom prst="rect">
            <a:avLst/>
          </a:prstGeom>
          <a:noFill/>
        </p:spPr>
        <p:txBody>
          <a:bodyPr wrap="none" lIns="91440" tIns="45720" rIns="91440" bIns="45720">
            <a:spAutoFit/>
          </a:bodyPr>
          <a:lstStyle/>
          <a:p>
            <a:pPr algn="ctr"/>
            <a:r>
              <a:rPr lang="en-US" sz="3600" b="0" cap="none" spc="0" dirty="0">
                <a:ln w="0"/>
                <a:solidFill>
                  <a:srgbClr val="C00000"/>
                </a:solidFill>
                <a:effectLst>
                  <a:outerShdw blurRad="38100" dist="19050" dir="2700000" algn="tl" rotWithShape="0">
                    <a:schemeClr val="dk1">
                      <a:alpha val="40000"/>
                    </a:schemeClr>
                  </a:outerShdw>
                </a:effectLst>
              </a:rPr>
              <a:t>Active Listening</a:t>
            </a:r>
          </a:p>
        </p:txBody>
      </p:sp>
    </p:spTree>
    <p:extLst>
      <p:ext uri="{BB962C8B-B14F-4D97-AF65-F5344CB8AC3E}">
        <p14:creationId xmlns:p14="http://schemas.microsoft.com/office/powerpoint/2010/main" val="235577179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172B17-A8A9-2570-E98B-3A65E11A7BAF}"/>
              </a:ext>
            </a:extLst>
          </p:cNvPr>
          <p:cNvSpPr txBox="1"/>
          <p:nvPr/>
        </p:nvSpPr>
        <p:spPr>
          <a:xfrm>
            <a:off x="682352" y="843677"/>
            <a:ext cx="11133945" cy="5509200"/>
          </a:xfrm>
          <a:prstGeom prst="rect">
            <a:avLst/>
          </a:prstGeom>
          <a:noFill/>
        </p:spPr>
        <p:txBody>
          <a:bodyPr wrap="square">
            <a:spAutoFit/>
          </a:bodyPr>
          <a:lstStyle/>
          <a:p>
            <a:pPr marL="342900" indent="-342900" algn="just">
              <a:buFont typeface="Arial" panose="020B0604020202020204" pitchFamily="34" charset="0"/>
              <a:buChar char="•"/>
            </a:pPr>
            <a:r>
              <a:rPr lang="en-GB" sz="2200" b="0" u="none" strike="noStrike" baseline="0" dirty="0"/>
              <a:t>Listening training is unavailable</a:t>
            </a:r>
          </a:p>
          <a:p>
            <a:pPr algn="just"/>
            <a:endParaRPr lang="en-GB" sz="2200" dirty="0"/>
          </a:p>
          <a:p>
            <a:pPr marL="342900" indent="-342900" algn="just">
              <a:buFont typeface="Arial" panose="020B0604020202020204" pitchFamily="34" charset="0"/>
              <a:buChar char="•"/>
            </a:pPr>
            <a:r>
              <a:rPr lang="en-US" sz="2200" dirty="0"/>
              <a:t>Speed of thought is more than speed of speech – </a:t>
            </a:r>
            <a:r>
              <a:rPr lang="en-GB" sz="2200" dirty="0"/>
              <a:t>Most </a:t>
            </a:r>
            <a:r>
              <a:rPr lang="en-US" sz="2200" dirty="0"/>
              <a:t>of us speak at the rate of about 125 words per minute. However, we have the mental capacity to understand someone speaking at 400–500 words per minute.</a:t>
            </a:r>
          </a:p>
          <a:p>
            <a:pPr marL="342900" indent="-342900" algn="just">
              <a:buFont typeface="Arial" panose="020B0604020202020204" pitchFamily="34" charset="0"/>
              <a:buChar char="•"/>
            </a:pPr>
            <a:endParaRPr lang="en-US" sz="2200" dirty="0"/>
          </a:p>
          <a:p>
            <a:pPr marL="342900" indent="-342900" algn="just">
              <a:buFont typeface="Arial" panose="020B0604020202020204" pitchFamily="34" charset="0"/>
              <a:buChar char="•"/>
            </a:pPr>
            <a:r>
              <a:rPr lang="en-GB" sz="2200" dirty="0"/>
              <a:t>We are </a:t>
            </a:r>
            <a:r>
              <a:rPr lang="en-GB" sz="2200" b="1" dirty="0"/>
              <a:t>inefficient</a:t>
            </a:r>
            <a:r>
              <a:rPr lang="en-GB" sz="2200" dirty="0"/>
              <a:t> listeners- </a:t>
            </a:r>
            <a:r>
              <a:rPr lang="en-GB" sz="2200" dirty="0" err="1"/>
              <a:t>Im</a:t>
            </a:r>
            <a:r>
              <a:rPr lang="en-US" sz="2200" dirty="0"/>
              <a:t>mediately after listening to a 10-minute oral presentation, the average listener has </a:t>
            </a:r>
            <a:r>
              <a:rPr lang="en-GB" sz="2200" b="1" dirty="0"/>
              <a:t>listeners </a:t>
            </a:r>
            <a:r>
              <a:rPr lang="en-US" sz="2200" dirty="0"/>
              <a:t>heard, understood, and retained 50 per cent of what was said. Within 48 hours, that drops off by another 50 per cent, to a final level of 25 per cent efficiency.</a:t>
            </a:r>
          </a:p>
          <a:p>
            <a:pPr marL="342900" indent="-342900" algn="just">
              <a:buFont typeface="Arial" panose="020B0604020202020204" pitchFamily="34" charset="0"/>
              <a:buChar char="•"/>
            </a:pPr>
            <a:endParaRPr lang="en-US" sz="2200" dirty="0"/>
          </a:p>
          <a:p>
            <a:pPr marL="342900" indent="-342900" algn="just">
              <a:buFont typeface="Arial" panose="020B0604020202020204" pitchFamily="34" charset="0"/>
              <a:buChar char="•"/>
            </a:pPr>
            <a:r>
              <a:rPr lang="en-US" sz="2200" dirty="0"/>
              <a:t>We create unnecessary problems for others and ourselves: misunderstandings, hurt feelings, confused instructions, loss of important information, embarrassment, frustration, and lost opportunities.</a:t>
            </a:r>
            <a:endParaRPr lang="en-GB" sz="2200" dirty="0"/>
          </a:p>
          <a:p>
            <a:pPr algn="just"/>
            <a:endParaRPr lang="en-US" sz="2200" dirty="0"/>
          </a:p>
          <a:p>
            <a:pPr marL="342900" indent="-342900" algn="just">
              <a:buFont typeface="Arial" panose="020B0604020202020204" pitchFamily="34" charset="0"/>
              <a:buChar char="•"/>
            </a:pPr>
            <a:endParaRPr lang="en-GB" sz="2200" dirty="0"/>
          </a:p>
        </p:txBody>
      </p:sp>
    </p:spTree>
    <p:extLst>
      <p:ext uri="{BB962C8B-B14F-4D97-AF65-F5344CB8AC3E}">
        <p14:creationId xmlns:p14="http://schemas.microsoft.com/office/powerpoint/2010/main" val="39843196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76226A-A4C8-7D49-8204-7E926824DF9A}"/>
              </a:ext>
            </a:extLst>
          </p:cNvPr>
          <p:cNvSpPr txBox="1"/>
          <p:nvPr/>
        </p:nvSpPr>
        <p:spPr>
          <a:xfrm>
            <a:off x="935093" y="762803"/>
            <a:ext cx="10405455" cy="1200329"/>
          </a:xfrm>
          <a:prstGeom prst="rect">
            <a:avLst/>
          </a:prstGeom>
          <a:noFill/>
        </p:spPr>
        <p:txBody>
          <a:bodyPr wrap="square">
            <a:spAutoFit/>
          </a:bodyPr>
          <a:lstStyle/>
          <a:p>
            <a:r>
              <a:rPr lang="en-GB" sz="2400" dirty="0"/>
              <a:t>Joe has prepared for a presentation for three days. When he presents, he forgets his points and the class laughs. After class, he says, “I think I'm just terrible at presentations.”</a:t>
            </a:r>
          </a:p>
        </p:txBody>
      </p:sp>
      <p:sp>
        <p:nvSpPr>
          <p:cNvPr id="5" name="TextBox 4">
            <a:extLst>
              <a:ext uri="{FF2B5EF4-FFF2-40B4-BE49-F238E27FC236}">
                <a16:creationId xmlns:a16="http://schemas.microsoft.com/office/drawing/2014/main" id="{97ACBB81-6560-6892-AF6B-38A86DA380D1}"/>
              </a:ext>
            </a:extLst>
          </p:cNvPr>
          <p:cNvSpPr txBox="1"/>
          <p:nvPr/>
        </p:nvSpPr>
        <p:spPr>
          <a:xfrm>
            <a:off x="935093" y="2624137"/>
            <a:ext cx="8129394" cy="2677656"/>
          </a:xfrm>
          <a:prstGeom prst="rect">
            <a:avLst/>
          </a:prstGeom>
          <a:noFill/>
        </p:spPr>
        <p:txBody>
          <a:bodyPr wrap="square">
            <a:spAutoFit/>
          </a:bodyPr>
          <a:lstStyle/>
          <a:p>
            <a:pPr lvl="0"/>
            <a:r>
              <a:rPr lang="en-GB" sz="2400" dirty="0"/>
              <a:t>What would you say ?</a:t>
            </a:r>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r>
              <a:rPr lang="en-GB" sz="2400" dirty="0"/>
              <a:t>“Don't worry, you'll do better next time.” </a:t>
            </a:r>
          </a:p>
          <a:p>
            <a:pPr marL="342900" lvl="0" indent="-342900">
              <a:buFont typeface="Arial" panose="020B0604020202020204" pitchFamily="34" charset="0"/>
              <a:buChar char="•"/>
            </a:pPr>
            <a:r>
              <a:rPr lang="en-GB" sz="2400" dirty="0"/>
              <a:t>“You should practise more.” </a:t>
            </a:r>
          </a:p>
          <a:p>
            <a:pPr marL="342900" lvl="0" indent="-342900">
              <a:buFont typeface="Arial" panose="020B0604020202020204" pitchFamily="34" charset="0"/>
              <a:buChar char="•"/>
            </a:pPr>
            <a:r>
              <a:rPr lang="en-GB" sz="2400" dirty="0"/>
              <a:t>“It's okay, everyone makes mistakes.” </a:t>
            </a:r>
          </a:p>
          <a:p>
            <a:pPr marL="342900" lvl="0" indent="-342900">
              <a:buFont typeface="Arial" panose="020B0604020202020204" pitchFamily="34" charset="0"/>
              <a:buChar char="•"/>
            </a:pPr>
            <a:r>
              <a:rPr lang="en-GB" sz="2400" dirty="0"/>
              <a:t>“I know how you feel.” </a:t>
            </a:r>
          </a:p>
          <a:p>
            <a:pPr marL="342900" lvl="0" indent="-342900">
              <a:buFont typeface="Arial" panose="020B0604020202020204" pitchFamily="34" charset="0"/>
              <a:buChar char="•"/>
            </a:pPr>
            <a:r>
              <a:rPr lang="en-GB" sz="2400" dirty="0"/>
              <a:t>“You shouldn't think negatively.”</a:t>
            </a:r>
          </a:p>
        </p:txBody>
      </p:sp>
    </p:spTree>
    <p:extLst>
      <p:ext uri="{BB962C8B-B14F-4D97-AF65-F5344CB8AC3E}">
        <p14:creationId xmlns:p14="http://schemas.microsoft.com/office/powerpoint/2010/main" val="392470856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F30330-40C9-2A99-4E14-5593ED7C0204}"/>
              </a:ext>
            </a:extLst>
          </p:cNvPr>
          <p:cNvSpPr txBox="1"/>
          <p:nvPr/>
        </p:nvSpPr>
        <p:spPr>
          <a:xfrm>
            <a:off x="903782" y="482433"/>
            <a:ext cx="10384436" cy="2677656"/>
          </a:xfrm>
          <a:prstGeom prst="rect">
            <a:avLst/>
          </a:prstGeom>
          <a:noFill/>
        </p:spPr>
        <p:txBody>
          <a:bodyPr wrap="square">
            <a:spAutoFit/>
          </a:bodyPr>
          <a:lstStyle/>
          <a:p>
            <a:pPr>
              <a:buNone/>
            </a:pPr>
            <a:r>
              <a:rPr lang="en-GB" sz="2400" b="1" dirty="0">
                <a:solidFill>
                  <a:srgbClr val="C00000"/>
                </a:solidFill>
              </a:rPr>
              <a:t>Sympathy</a:t>
            </a:r>
          </a:p>
          <a:p>
            <a:pPr>
              <a:buNone/>
            </a:pPr>
            <a:endParaRPr lang="en-GB" sz="2000" b="1" dirty="0"/>
          </a:p>
          <a:p>
            <a:pPr>
              <a:buNone/>
            </a:pPr>
            <a:r>
              <a:rPr lang="en-GB" sz="2000" b="1" dirty="0"/>
              <a:t>“I feel sorry for you.”</a:t>
            </a:r>
            <a:endParaRPr lang="en-GB" sz="2000" dirty="0"/>
          </a:p>
          <a:p>
            <a:pPr>
              <a:buNone/>
            </a:pPr>
            <a:r>
              <a:rPr lang="en-GB" sz="2000" dirty="0"/>
              <a:t>You recognise someone's difficulty, but remain somewhat outside their experience.</a:t>
            </a:r>
          </a:p>
          <a:p>
            <a:pPr>
              <a:buNone/>
            </a:pPr>
            <a:endParaRPr lang="en-GB" sz="2000" b="1" dirty="0"/>
          </a:p>
          <a:p>
            <a:pPr>
              <a:buNone/>
            </a:pPr>
            <a:r>
              <a:rPr lang="en-GB" sz="2400" b="1" dirty="0">
                <a:solidFill>
                  <a:srgbClr val="C00000"/>
                </a:solidFill>
              </a:rPr>
              <a:t>Empathy</a:t>
            </a:r>
            <a:endParaRPr lang="en-GB" sz="2000" b="1" dirty="0">
              <a:solidFill>
                <a:srgbClr val="C00000"/>
              </a:solidFill>
            </a:endParaRPr>
          </a:p>
          <a:p>
            <a:pPr>
              <a:buNone/>
            </a:pPr>
            <a:endParaRPr lang="en-GB" sz="2000" b="1" dirty="0"/>
          </a:p>
          <a:p>
            <a:pPr>
              <a:buNone/>
            </a:pPr>
            <a:r>
              <a:rPr lang="en-GB" sz="2000" b="1" dirty="0"/>
              <a:t>“I try to understand what this feels like from your point of view.”</a:t>
            </a:r>
            <a:endParaRPr lang="en-GB" sz="2000" dirty="0"/>
          </a:p>
        </p:txBody>
      </p:sp>
      <p:sp>
        <p:nvSpPr>
          <p:cNvPr id="5" name="TextBox 4">
            <a:extLst>
              <a:ext uri="{FF2B5EF4-FFF2-40B4-BE49-F238E27FC236}">
                <a16:creationId xmlns:a16="http://schemas.microsoft.com/office/drawing/2014/main" id="{355E73D6-0134-FDA5-7E7B-5370E3354AA5}"/>
              </a:ext>
            </a:extLst>
          </p:cNvPr>
          <p:cNvSpPr txBox="1"/>
          <p:nvPr/>
        </p:nvSpPr>
        <p:spPr>
          <a:xfrm>
            <a:off x="903782" y="3184600"/>
            <a:ext cx="10639268" cy="3170099"/>
          </a:xfrm>
          <a:prstGeom prst="rect">
            <a:avLst/>
          </a:prstGeom>
          <a:noFill/>
        </p:spPr>
        <p:txBody>
          <a:bodyPr wrap="square">
            <a:spAutoFit/>
          </a:bodyPr>
          <a:lstStyle/>
          <a:p>
            <a:pPr>
              <a:buNone/>
            </a:pPr>
            <a:r>
              <a:rPr lang="en-GB" sz="2000" b="1" dirty="0"/>
              <a:t>	Friend:</a:t>
            </a:r>
            <a:endParaRPr lang="en-GB" sz="2000" dirty="0"/>
          </a:p>
          <a:p>
            <a:pPr>
              <a:buNone/>
            </a:pPr>
            <a:r>
              <a:rPr lang="en-GB" sz="2000" dirty="0"/>
              <a:t>“I didn't get selected for the cricket team.”</a:t>
            </a:r>
          </a:p>
          <a:p>
            <a:pPr>
              <a:buNone/>
            </a:pPr>
            <a:r>
              <a:rPr lang="en-GB" sz="2000" b="1" dirty="0"/>
              <a:t>	Sympathy:</a:t>
            </a:r>
            <a:endParaRPr lang="en-GB" sz="2000" dirty="0"/>
          </a:p>
          <a:p>
            <a:pPr>
              <a:buNone/>
            </a:pPr>
            <a:r>
              <a:rPr lang="en-GB" sz="2000" dirty="0"/>
              <a:t>“Oh, that's really sad. Don't worry.”</a:t>
            </a:r>
          </a:p>
          <a:p>
            <a:pPr>
              <a:buNone/>
            </a:pPr>
            <a:r>
              <a:rPr lang="en-GB" sz="2000" b="1" dirty="0"/>
              <a:t>	Empathy:</a:t>
            </a:r>
            <a:endParaRPr lang="en-GB" sz="2000" dirty="0"/>
          </a:p>
          <a:p>
            <a:pPr>
              <a:buNone/>
            </a:pPr>
            <a:r>
              <a:rPr lang="en-GB" sz="2000" dirty="0"/>
              <a:t>“You were really hoping to make the team. It must be disappointing after putting in so much effort.”</a:t>
            </a:r>
          </a:p>
          <a:p>
            <a:pPr>
              <a:buNone/>
            </a:pPr>
            <a:endParaRPr lang="en-GB" sz="2000" b="1" dirty="0"/>
          </a:p>
          <a:p>
            <a:pPr>
              <a:buNone/>
            </a:pPr>
            <a:r>
              <a:rPr lang="en-GB" sz="2000" b="1" dirty="0"/>
              <a:t>Give students the key distinction:</a:t>
            </a:r>
          </a:p>
          <a:p>
            <a:pPr>
              <a:buNone/>
            </a:pPr>
            <a:r>
              <a:rPr lang="en-GB" sz="2000" b="1" dirty="0"/>
              <a:t>	Sympathy = feeling for someone.</a:t>
            </a:r>
            <a:br>
              <a:rPr lang="en-GB" sz="2000" dirty="0"/>
            </a:br>
            <a:r>
              <a:rPr lang="en-GB" sz="2000" dirty="0"/>
              <a:t>	</a:t>
            </a:r>
            <a:r>
              <a:rPr lang="en-GB" sz="2000" b="1" dirty="0"/>
              <a:t>Empathy = trying to understand someone.</a:t>
            </a:r>
            <a:endParaRPr lang="en-GB" sz="2000" dirty="0"/>
          </a:p>
        </p:txBody>
      </p:sp>
    </p:spTree>
    <p:extLst>
      <p:ext uri="{BB962C8B-B14F-4D97-AF65-F5344CB8AC3E}">
        <p14:creationId xmlns:p14="http://schemas.microsoft.com/office/powerpoint/2010/main" val="9378681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D3DB5F-D4E4-0388-B2DA-A23C94F84A00}"/>
              </a:ext>
            </a:extLst>
          </p:cNvPr>
          <p:cNvSpPr txBox="1"/>
          <p:nvPr/>
        </p:nvSpPr>
        <p:spPr>
          <a:xfrm>
            <a:off x="656444" y="646928"/>
            <a:ext cx="10879112" cy="2739211"/>
          </a:xfrm>
          <a:prstGeom prst="rect">
            <a:avLst/>
          </a:prstGeom>
          <a:noFill/>
        </p:spPr>
        <p:txBody>
          <a:bodyPr wrap="square">
            <a:spAutoFit/>
          </a:bodyPr>
          <a:lstStyle/>
          <a:p>
            <a:r>
              <a:rPr lang="en-GB" sz="2800" dirty="0">
                <a:solidFill>
                  <a:srgbClr val="C00000"/>
                </a:solidFill>
              </a:rPr>
              <a:t>Perspective-taking</a:t>
            </a:r>
          </a:p>
          <a:p>
            <a:endParaRPr lang="en-GB" sz="2400" b="1" dirty="0"/>
          </a:p>
          <a:p>
            <a:r>
              <a:rPr lang="en-GB" sz="2400" b="1" dirty="0"/>
              <a:t>“If I were in this person's situation, what might I be thinking or feeling?”</a:t>
            </a:r>
            <a:endParaRPr lang="en-GB" sz="2400" dirty="0"/>
          </a:p>
          <a:p>
            <a:endParaRPr lang="en-GB" sz="2400" b="1" dirty="0"/>
          </a:p>
          <a:p>
            <a:pPr marL="342900" indent="-342900">
              <a:buFont typeface="Arial" panose="020B0604020202020204" pitchFamily="34" charset="0"/>
              <a:buChar char="•"/>
            </a:pPr>
            <a:r>
              <a:rPr lang="en-GB" sz="2400" b="1" dirty="0"/>
              <a:t>A student comes to class without completing an assignment. The teacher asks why. The student says, “I couldn't finish it.”</a:t>
            </a:r>
            <a:endParaRPr lang="en-GB" sz="2400" dirty="0"/>
          </a:p>
          <a:p>
            <a:endParaRPr lang="en-GB" sz="2400" dirty="0"/>
          </a:p>
        </p:txBody>
      </p:sp>
      <p:sp>
        <p:nvSpPr>
          <p:cNvPr id="5" name="TextBox 4">
            <a:extLst>
              <a:ext uri="{FF2B5EF4-FFF2-40B4-BE49-F238E27FC236}">
                <a16:creationId xmlns:a16="http://schemas.microsoft.com/office/drawing/2014/main" id="{7F7DC8CB-F52B-B1F4-7D8F-93D564DFB877}"/>
              </a:ext>
            </a:extLst>
          </p:cNvPr>
          <p:cNvSpPr txBox="1"/>
          <p:nvPr/>
        </p:nvSpPr>
        <p:spPr>
          <a:xfrm>
            <a:off x="803928" y="3429000"/>
            <a:ext cx="9919741" cy="2677656"/>
          </a:xfrm>
          <a:prstGeom prst="rect">
            <a:avLst/>
          </a:prstGeom>
          <a:noFill/>
        </p:spPr>
        <p:txBody>
          <a:bodyPr wrap="square">
            <a:spAutoFit/>
          </a:bodyPr>
          <a:lstStyle/>
          <a:p>
            <a:endParaRPr lang="en-GB" sz="2400" dirty="0"/>
          </a:p>
          <a:p>
            <a:r>
              <a:rPr lang="en-GB" sz="2400" dirty="0"/>
              <a:t>We often see behaviour, but we don't automatically know the reason behind it.</a:t>
            </a:r>
          </a:p>
          <a:p>
            <a:endParaRPr lang="en-GB" sz="2400" dirty="0"/>
          </a:p>
          <a:p>
            <a:r>
              <a:rPr lang="en-GB" sz="2400" dirty="0"/>
              <a:t>“Empathy requires us to pause before making an assumption about another person's behaviour.”</a:t>
            </a:r>
          </a:p>
          <a:p>
            <a:endParaRPr lang="en-GB" sz="2400" dirty="0"/>
          </a:p>
          <a:p>
            <a:r>
              <a:rPr lang="en-GB" sz="2400" dirty="0"/>
              <a:t>Behaviour ≠ complete story</a:t>
            </a:r>
          </a:p>
        </p:txBody>
      </p:sp>
    </p:spTree>
    <p:extLst>
      <p:ext uri="{BB962C8B-B14F-4D97-AF65-F5344CB8AC3E}">
        <p14:creationId xmlns:p14="http://schemas.microsoft.com/office/powerpoint/2010/main" val="355301170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3405E2-686A-6135-21FE-738C3F3BB881}"/>
              </a:ext>
            </a:extLst>
          </p:cNvPr>
          <p:cNvSpPr txBox="1"/>
          <p:nvPr/>
        </p:nvSpPr>
        <p:spPr>
          <a:xfrm>
            <a:off x="1016265" y="449696"/>
            <a:ext cx="6093500" cy="461665"/>
          </a:xfrm>
          <a:prstGeom prst="rect">
            <a:avLst/>
          </a:prstGeom>
          <a:noFill/>
        </p:spPr>
        <p:txBody>
          <a:bodyPr wrap="square">
            <a:spAutoFit/>
          </a:bodyPr>
          <a:lstStyle/>
          <a:p>
            <a:r>
              <a:rPr lang="en-GB" sz="2400" b="1" dirty="0">
                <a:solidFill>
                  <a:srgbClr val="C00000"/>
                </a:solidFill>
              </a:rPr>
              <a:t>Recognising emotions</a:t>
            </a:r>
          </a:p>
        </p:txBody>
      </p:sp>
      <p:sp>
        <p:nvSpPr>
          <p:cNvPr id="5" name="TextBox 4">
            <a:extLst>
              <a:ext uri="{FF2B5EF4-FFF2-40B4-BE49-F238E27FC236}">
                <a16:creationId xmlns:a16="http://schemas.microsoft.com/office/drawing/2014/main" id="{8FDF5B93-3091-D058-936B-DA549ACC1C5C}"/>
              </a:ext>
            </a:extLst>
          </p:cNvPr>
          <p:cNvSpPr txBox="1"/>
          <p:nvPr/>
        </p:nvSpPr>
        <p:spPr>
          <a:xfrm>
            <a:off x="1016265" y="1113484"/>
            <a:ext cx="10856187" cy="5509200"/>
          </a:xfrm>
          <a:prstGeom prst="rect">
            <a:avLst/>
          </a:prstGeom>
          <a:noFill/>
        </p:spPr>
        <p:txBody>
          <a:bodyPr wrap="square">
            <a:spAutoFit/>
          </a:bodyPr>
          <a:lstStyle/>
          <a:p>
            <a:pPr>
              <a:buNone/>
            </a:pPr>
            <a:r>
              <a:rPr lang="en-GB" sz="2200" dirty="0"/>
              <a:t>Give them a situation:</a:t>
            </a:r>
          </a:p>
          <a:p>
            <a:pPr>
              <a:buNone/>
            </a:pPr>
            <a:r>
              <a:rPr lang="en-GB" sz="2200" b="1" dirty="0"/>
              <a:t>“I studied for the exam, but I still got 42 marks. I don't know what I'm doing wrong.”</a:t>
            </a:r>
            <a:endParaRPr lang="en-GB" sz="2200" dirty="0"/>
          </a:p>
          <a:p>
            <a:pPr>
              <a:buNone/>
            </a:pPr>
            <a:endParaRPr lang="en-GB" sz="2200" dirty="0"/>
          </a:p>
          <a:p>
            <a:pPr>
              <a:buNone/>
            </a:pPr>
            <a:r>
              <a:rPr lang="en-GB" sz="2200" b="1" dirty="0"/>
              <a:t>What might the person be feeling?</a:t>
            </a:r>
            <a:endParaRPr lang="en-GB" sz="2200" dirty="0"/>
          </a:p>
          <a:p>
            <a:pPr>
              <a:buNone/>
            </a:pPr>
            <a:r>
              <a:rPr lang="en-GB" sz="2200" dirty="0"/>
              <a:t>Possible answers:</a:t>
            </a:r>
          </a:p>
          <a:p>
            <a:pPr marL="342900" lvl="0" indent="-342900">
              <a:buFont typeface="Arial" panose="020B0604020202020204" pitchFamily="34" charset="0"/>
              <a:buChar char="•"/>
            </a:pPr>
            <a:r>
              <a:rPr lang="en-GB" sz="2200" dirty="0"/>
              <a:t>disappointed </a:t>
            </a:r>
          </a:p>
          <a:p>
            <a:pPr marL="342900" lvl="0" indent="-342900">
              <a:buFont typeface="Arial" panose="020B0604020202020204" pitchFamily="34" charset="0"/>
              <a:buChar char="•"/>
            </a:pPr>
            <a:r>
              <a:rPr lang="en-GB" sz="2200" dirty="0"/>
              <a:t>frustrated </a:t>
            </a:r>
          </a:p>
          <a:p>
            <a:pPr marL="342900" lvl="0" indent="-342900">
              <a:buFont typeface="Arial" panose="020B0604020202020204" pitchFamily="34" charset="0"/>
              <a:buChar char="•"/>
            </a:pPr>
            <a:r>
              <a:rPr lang="en-GB" sz="2200" dirty="0"/>
              <a:t>confused </a:t>
            </a:r>
          </a:p>
          <a:p>
            <a:pPr marL="342900" lvl="0" indent="-342900">
              <a:buFont typeface="Arial" panose="020B0604020202020204" pitchFamily="34" charset="0"/>
              <a:buChar char="•"/>
            </a:pPr>
            <a:r>
              <a:rPr lang="en-GB" sz="2200" dirty="0"/>
              <a:t>anxious </a:t>
            </a:r>
          </a:p>
          <a:p>
            <a:pPr marL="342900" lvl="0" indent="-342900">
              <a:buFont typeface="Arial" panose="020B0604020202020204" pitchFamily="34" charset="0"/>
              <a:buChar char="•"/>
            </a:pPr>
            <a:r>
              <a:rPr lang="en-GB" sz="2200" dirty="0"/>
              <a:t>discouraged </a:t>
            </a:r>
          </a:p>
          <a:p>
            <a:pPr marL="342900" lvl="0" indent="-342900">
              <a:buFont typeface="Arial" panose="020B0604020202020204" pitchFamily="34" charset="0"/>
              <a:buChar char="•"/>
            </a:pPr>
            <a:r>
              <a:rPr lang="en-GB" sz="2200" dirty="0"/>
              <a:t>embarrassed </a:t>
            </a:r>
          </a:p>
          <a:p>
            <a:pPr>
              <a:buNone/>
            </a:pPr>
            <a:endParaRPr lang="en-GB" sz="2200" dirty="0"/>
          </a:p>
          <a:p>
            <a:pPr>
              <a:buNone/>
            </a:pPr>
            <a:r>
              <a:rPr lang="en-GB" sz="2200" dirty="0"/>
              <a:t>Then make an important distinction:</a:t>
            </a:r>
          </a:p>
          <a:p>
            <a:pPr>
              <a:buNone/>
            </a:pPr>
            <a:endParaRPr lang="en-GB" sz="2200" b="1" dirty="0"/>
          </a:p>
          <a:p>
            <a:pPr>
              <a:buNone/>
            </a:pPr>
            <a:r>
              <a:rPr lang="en-GB" sz="2200" b="1" dirty="0"/>
              <a:t>Don't say: </a:t>
            </a:r>
            <a:r>
              <a:rPr lang="en-GB" sz="2200" dirty="0"/>
              <a:t>“You are frustrated.”</a:t>
            </a:r>
            <a:endParaRPr lang="en-GB" sz="2200" b="1" dirty="0"/>
          </a:p>
          <a:p>
            <a:pPr>
              <a:buNone/>
            </a:pPr>
            <a:r>
              <a:rPr lang="en-GB" sz="2200" b="1" dirty="0"/>
              <a:t>Better: </a:t>
            </a:r>
            <a:r>
              <a:rPr lang="en-GB" sz="2200" dirty="0"/>
              <a:t>“You </a:t>
            </a:r>
            <a:r>
              <a:rPr lang="en-GB" sz="2200" b="1" dirty="0"/>
              <a:t>seem frustrated</a:t>
            </a:r>
            <a:r>
              <a:rPr lang="en-GB" sz="2200" dirty="0"/>
              <a:t>.”</a:t>
            </a:r>
          </a:p>
        </p:txBody>
      </p:sp>
    </p:spTree>
    <p:extLst>
      <p:ext uri="{BB962C8B-B14F-4D97-AF65-F5344CB8AC3E}">
        <p14:creationId xmlns:p14="http://schemas.microsoft.com/office/powerpoint/2010/main" val="67435785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88820C-07EA-0F47-60B2-638FB62818C8}"/>
              </a:ext>
            </a:extLst>
          </p:cNvPr>
          <p:cNvSpPr txBox="1"/>
          <p:nvPr/>
        </p:nvSpPr>
        <p:spPr>
          <a:xfrm>
            <a:off x="1044426" y="742869"/>
            <a:ext cx="10407943" cy="430887"/>
          </a:xfrm>
          <a:prstGeom prst="rect">
            <a:avLst/>
          </a:prstGeom>
          <a:noFill/>
        </p:spPr>
        <p:txBody>
          <a:bodyPr wrap="square">
            <a:spAutoFit/>
          </a:bodyPr>
          <a:lstStyle/>
          <a:p>
            <a:r>
              <a:rPr lang="en-GB" sz="2200" dirty="0"/>
              <a:t>“I gave my presentation today and completely messed it up.”</a:t>
            </a:r>
          </a:p>
        </p:txBody>
      </p:sp>
      <p:sp>
        <p:nvSpPr>
          <p:cNvPr id="7" name="TextBox 6">
            <a:extLst>
              <a:ext uri="{FF2B5EF4-FFF2-40B4-BE49-F238E27FC236}">
                <a16:creationId xmlns:a16="http://schemas.microsoft.com/office/drawing/2014/main" id="{5465008C-307B-B130-8ED0-AD51B7A6E29C}"/>
              </a:ext>
            </a:extLst>
          </p:cNvPr>
          <p:cNvSpPr txBox="1"/>
          <p:nvPr/>
        </p:nvSpPr>
        <p:spPr>
          <a:xfrm>
            <a:off x="2032559" y="1443822"/>
            <a:ext cx="8431679" cy="1785104"/>
          </a:xfrm>
          <a:prstGeom prst="rect">
            <a:avLst/>
          </a:prstGeom>
          <a:noFill/>
        </p:spPr>
        <p:txBody>
          <a:bodyPr wrap="square">
            <a:spAutoFit/>
          </a:bodyPr>
          <a:lstStyle/>
          <a:p>
            <a:pPr>
              <a:buNone/>
            </a:pPr>
            <a:r>
              <a:rPr lang="en-GB" sz="2200" b="1" dirty="0"/>
              <a:t>Response A: </a:t>
            </a:r>
            <a:r>
              <a:rPr lang="en-GB" sz="2200" dirty="0"/>
              <a:t>“It's not a big deal. You'll get over it.”</a:t>
            </a:r>
          </a:p>
          <a:p>
            <a:pPr>
              <a:buNone/>
            </a:pPr>
            <a:endParaRPr lang="en-GB" sz="2200" dirty="0"/>
          </a:p>
          <a:p>
            <a:pPr>
              <a:buNone/>
            </a:pPr>
            <a:r>
              <a:rPr lang="en-GB" sz="2200" b="1" dirty="0"/>
              <a:t>Response B: </a:t>
            </a:r>
            <a:r>
              <a:rPr lang="en-GB" sz="2200" dirty="0"/>
              <a:t>“You seem disappointed because you had prepared for it.”</a:t>
            </a:r>
          </a:p>
          <a:p>
            <a:pPr>
              <a:buNone/>
            </a:pPr>
            <a:endParaRPr lang="en-GB" sz="2200" dirty="0"/>
          </a:p>
          <a:p>
            <a:pPr>
              <a:buNone/>
            </a:pPr>
            <a:r>
              <a:rPr lang="en-GB" sz="2200" b="1" dirty="0"/>
              <a:t>Which is more empathetic? Why?</a:t>
            </a:r>
            <a:endParaRPr lang="en-GB" sz="2200" dirty="0"/>
          </a:p>
        </p:txBody>
      </p:sp>
      <p:sp>
        <p:nvSpPr>
          <p:cNvPr id="11" name="TextBox 10">
            <a:extLst>
              <a:ext uri="{FF2B5EF4-FFF2-40B4-BE49-F238E27FC236}">
                <a16:creationId xmlns:a16="http://schemas.microsoft.com/office/drawing/2014/main" id="{90A65348-82B9-9B99-A365-92B8EB29B2F8}"/>
              </a:ext>
            </a:extLst>
          </p:cNvPr>
          <p:cNvSpPr txBox="1"/>
          <p:nvPr/>
        </p:nvSpPr>
        <p:spPr>
          <a:xfrm>
            <a:off x="1139732" y="3575936"/>
            <a:ext cx="10519347" cy="2462213"/>
          </a:xfrm>
          <a:prstGeom prst="rect">
            <a:avLst/>
          </a:prstGeom>
          <a:noFill/>
        </p:spPr>
        <p:txBody>
          <a:bodyPr wrap="square">
            <a:spAutoFit/>
          </a:bodyPr>
          <a:lstStyle/>
          <a:p>
            <a:pPr>
              <a:buNone/>
            </a:pPr>
            <a:r>
              <a:rPr lang="en-GB" sz="2200" dirty="0"/>
              <a:t>“Everyone in my group ignores my ideas.”</a:t>
            </a:r>
          </a:p>
          <a:p>
            <a:pPr>
              <a:buNone/>
            </a:pPr>
            <a:endParaRPr lang="en-GB" sz="2200" dirty="0"/>
          </a:p>
          <a:p>
            <a:pPr>
              <a:buNone/>
            </a:pPr>
            <a:r>
              <a:rPr lang="en-GB" sz="2200" b="1" dirty="0"/>
              <a:t>	Response A:</a:t>
            </a:r>
            <a:br>
              <a:rPr lang="en-GB" sz="2200" dirty="0"/>
            </a:br>
            <a:r>
              <a:rPr lang="en-GB" sz="2200" dirty="0"/>
              <a:t>	“You should just speak louder.”</a:t>
            </a:r>
          </a:p>
          <a:p>
            <a:pPr>
              <a:buNone/>
            </a:pPr>
            <a:endParaRPr lang="en-GB" sz="2200" b="1" dirty="0"/>
          </a:p>
          <a:p>
            <a:pPr>
              <a:buNone/>
            </a:pPr>
            <a:r>
              <a:rPr lang="en-GB" sz="2200" b="1" dirty="0"/>
              <a:t>	Response B:</a:t>
            </a:r>
            <a:br>
              <a:rPr lang="en-GB" sz="2200" dirty="0"/>
            </a:br>
            <a:r>
              <a:rPr lang="en-GB" sz="2200" dirty="0"/>
              <a:t>	“That sounds frustrating, especially if you feel that your ideas aren't being heard.”</a:t>
            </a:r>
          </a:p>
        </p:txBody>
      </p:sp>
    </p:spTree>
    <p:extLst>
      <p:ext uri="{BB962C8B-B14F-4D97-AF65-F5344CB8AC3E}">
        <p14:creationId xmlns:p14="http://schemas.microsoft.com/office/powerpoint/2010/main" val="11600482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51C4D2-A6A5-59B8-4087-F3708A931080}"/>
              </a:ext>
            </a:extLst>
          </p:cNvPr>
          <p:cNvSpPr txBox="1"/>
          <p:nvPr/>
        </p:nvSpPr>
        <p:spPr>
          <a:xfrm>
            <a:off x="1195534" y="843677"/>
            <a:ext cx="10760765" cy="5170646"/>
          </a:xfrm>
          <a:prstGeom prst="rect">
            <a:avLst/>
          </a:prstGeom>
          <a:noFill/>
        </p:spPr>
        <p:txBody>
          <a:bodyPr wrap="square">
            <a:spAutoFit/>
          </a:bodyPr>
          <a:lstStyle/>
          <a:p>
            <a:pPr>
              <a:buNone/>
            </a:pPr>
            <a:r>
              <a:rPr lang="en-GB" sz="2200" b="1" dirty="0">
                <a:solidFill>
                  <a:srgbClr val="C00000"/>
                </a:solidFill>
              </a:rPr>
              <a:t>Be Non-Evaluative</a:t>
            </a:r>
            <a:endParaRPr lang="en-GB" sz="2200" dirty="0"/>
          </a:p>
          <a:p>
            <a:pPr marL="342900" lvl="0" indent="-342900">
              <a:buFont typeface="Arial" panose="020B0604020202020204" pitchFamily="34" charset="0"/>
              <a:buChar char="•"/>
            </a:pPr>
            <a:r>
              <a:rPr lang="en-GB" sz="2200" dirty="0"/>
              <a:t>Listen without immediately judging </a:t>
            </a:r>
          </a:p>
          <a:p>
            <a:pPr marL="342900" lvl="0" indent="-342900">
              <a:buFont typeface="Arial" panose="020B0604020202020204" pitchFamily="34" charset="0"/>
              <a:buChar char="•"/>
            </a:pPr>
            <a:r>
              <a:rPr lang="en-GB" sz="2200" dirty="0"/>
              <a:t>Separate the </a:t>
            </a:r>
            <a:r>
              <a:rPr lang="en-GB" sz="2200" b="1" dirty="0"/>
              <a:t>person</a:t>
            </a:r>
            <a:r>
              <a:rPr lang="en-GB" sz="2200" dirty="0"/>
              <a:t> from the </a:t>
            </a:r>
            <a:r>
              <a:rPr lang="en-GB" sz="2200" b="1" dirty="0"/>
              <a:t>idea</a:t>
            </a:r>
            <a:r>
              <a:rPr lang="en-GB" sz="2200" dirty="0"/>
              <a:t> </a:t>
            </a:r>
          </a:p>
          <a:p>
            <a:pPr marL="342900" lvl="0" indent="-342900">
              <a:buFont typeface="Arial" panose="020B0604020202020204" pitchFamily="34" charset="0"/>
              <a:buChar char="•"/>
            </a:pPr>
            <a:r>
              <a:rPr lang="en-GB" sz="2200" dirty="0"/>
              <a:t>Avoid labels: </a:t>
            </a:r>
            <a:r>
              <a:rPr lang="en-GB" sz="2200" i="1" dirty="0"/>
              <a:t>“That’s stupid,” “You’re wrong,” “That makes no sense”</a:t>
            </a:r>
            <a:r>
              <a:rPr lang="en-GB" sz="2200" dirty="0"/>
              <a:t> </a:t>
            </a:r>
          </a:p>
          <a:p>
            <a:pPr marL="342900" lvl="0" indent="-342900">
              <a:buFont typeface="Arial" panose="020B0604020202020204" pitchFamily="34" charset="0"/>
              <a:buChar char="•"/>
            </a:pPr>
            <a:r>
              <a:rPr lang="en-GB" sz="2200" dirty="0"/>
              <a:t>Communicate </a:t>
            </a:r>
            <a:r>
              <a:rPr lang="en-GB" sz="2200" b="1" dirty="0"/>
              <a:t>acceptance, not approval</a:t>
            </a:r>
            <a:r>
              <a:rPr lang="en-GB" sz="2200" dirty="0"/>
              <a:t> </a:t>
            </a:r>
          </a:p>
          <a:p>
            <a:pPr marL="342900" lvl="0" indent="-342900">
              <a:buFont typeface="Arial" panose="020B0604020202020204" pitchFamily="34" charset="0"/>
              <a:buChar char="•"/>
            </a:pPr>
            <a:r>
              <a:rPr lang="en-GB" sz="2200" dirty="0"/>
              <a:t>Be tolerant even when you disagree </a:t>
            </a:r>
          </a:p>
          <a:p>
            <a:pPr>
              <a:buNone/>
            </a:pPr>
            <a:endParaRPr lang="en-GB" sz="2200" b="1" dirty="0"/>
          </a:p>
          <a:p>
            <a:pPr>
              <a:buNone/>
            </a:pPr>
            <a:r>
              <a:rPr lang="en-GB" sz="2200" b="1" dirty="0"/>
              <a:t>Understanding ≠ agreeing</a:t>
            </a:r>
          </a:p>
          <a:p>
            <a:pPr>
              <a:buNone/>
            </a:pPr>
            <a:endParaRPr lang="en-GB" sz="2200" b="1" dirty="0"/>
          </a:p>
          <a:p>
            <a:r>
              <a:rPr lang="en-GB" sz="2200" b="1" dirty="0">
                <a:solidFill>
                  <a:srgbClr val="C00000"/>
                </a:solidFill>
              </a:rPr>
              <a:t>Reflect Implications</a:t>
            </a:r>
            <a:endParaRPr lang="en-GB" sz="2200" dirty="0"/>
          </a:p>
          <a:p>
            <a:pPr marL="342900" lvl="0" indent="-342900">
              <a:buFont typeface="Arial" panose="020B0604020202020204" pitchFamily="34" charset="0"/>
              <a:buChar char="•"/>
            </a:pPr>
            <a:r>
              <a:rPr lang="en-GB" sz="2200" dirty="0"/>
              <a:t>Go beyond repeating the exact words </a:t>
            </a:r>
          </a:p>
          <a:p>
            <a:pPr marL="342900" lvl="0" indent="-342900">
              <a:buFont typeface="Arial" panose="020B0604020202020204" pitchFamily="34" charset="0"/>
              <a:buChar char="•"/>
            </a:pPr>
            <a:r>
              <a:rPr lang="en-GB" sz="2200" dirty="0"/>
              <a:t>Identify what the speaker's idea </a:t>
            </a:r>
            <a:r>
              <a:rPr lang="en-GB" sz="2200" b="1" dirty="0"/>
              <a:t>might lead to</a:t>
            </a:r>
            <a:r>
              <a:rPr lang="en-GB" sz="2200" dirty="0"/>
              <a:t> </a:t>
            </a:r>
          </a:p>
          <a:p>
            <a:pPr marL="342900" lvl="0" indent="-342900">
              <a:buFont typeface="Arial" panose="020B0604020202020204" pitchFamily="34" charset="0"/>
              <a:buChar char="•"/>
            </a:pPr>
            <a:r>
              <a:rPr lang="en-GB" sz="2200" dirty="0"/>
              <a:t>Encourage the speaker to develop their thinking </a:t>
            </a:r>
          </a:p>
          <a:p>
            <a:pPr marL="342900" lvl="0" indent="-342900">
              <a:buFont typeface="Arial" panose="020B0604020202020204" pitchFamily="34" charset="0"/>
              <a:buChar char="•"/>
            </a:pPr>
            <a:r>
              <a:rPr lang="en-GB" sz="2200" dirty="0"/>
              <a:t>Use this to understand, </a:t>
            </a:r>
            <a:r>
              <a:rPr lang="en-GB" sz="2200" b="1" dirty="0"/>
              <a:t>not to show how clever you are</a:t>
            </a:r>
            <a:endParaRPr lang="en-GB" sz="2200" dirty="0"/>
          </a:p>
          <a:p>
            <a:pPr>
              <a:buNone/>
            </a:pPr>
            <a:endParaRPr lang="en-GB" sz="2200" dirty="0"/>
          </a:p>
        </p:txBody>
      </p:sp>
    </p:spTree>
    <p:extLst>
      <p:ext uri="{BB962C8B-B14F-4D97-AF65-F5344CB8AC3E}">
        <p14:creationId xmlns:p14="http://schemas.microsoft.com/office/powerpoint/2010/main" val="16303082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F59060-591A-90A1-7698-7FBFBC9CD9EA}"/>
              </a:ext>
            </a:extLst>
          </p:cNvPr>
          <p:cNvSpPr txBox="1"/>
          <p:nvPr/>
        </p:nvSpPr>
        <p:spPr>
          <a:xfrm>
            <a:off x="1473832" y="859065"/>
            <a:ext cx="10336696" cy="5139869"/>
          </a:xfrm>
          <a:prstGeom prst="rect">
            <a:avLst/>
          </a:prstGeom>
          <a:noFill/>
        </p:spPr>
        <p:txBody>
          <a:bodyPr wrap="square">
            <a:spAutoFit/>
          </a:bodyPr>
          <a:lstStyle/>
          <a:p>
            <a:pPr>
              <a:buNone/>
            </a:pPr>
            <a:r>
              <a:rPr lang="en-GB" sz="2400" b="1" dirty="0">
                <a:solidFill>
                  <a:srgbClr val="C00000"/>
                </a:solidFill>
              </a:rPr>
              <a:t>Invite Further Contributions</a:t>
            </a:r>
          </a:p>
          <a:p>
            <a:pPr>
              <a:buNone/>
            </a:pPr>
            <a:endParaRPr lang="en-GB" sz="2000" dirty="0">
              <a:solidFill>
                <a:srgbClr val="C00000"/>
              </a:solidFill>
            </a:endParaRPr>
          </a:p>
          <a:p>
            <a:pPr marL="342900" lvl="0" indent="-342900">
              <a:buFont typeface="Arial" panose="020B0604020202020204" pitchFamily="34" charset="0"/>
              <a:buChar char="•"/>
            </a:pPr>
            <a:r>
              <a:rPr lang="en-GB" sz="2000" dirty="0"/>
              <a:t>Ask questions when you need more information </a:t>
            </a:r>
          </a:p>
          <a:p>
            <a:pPr marL="342900" lvl="0" indent="-342900">
              <a:buFont typeface="Arial" panose="020B0604020202020204" pitchFamily="34" charset="0"/>
              <a:buChar char="•"/>
            </a:pPr>
            <a:r>
              <a:rPr lang="en-GB" sz="2000" dirty="0"/>
              <a:t>Prefer </a:t>
            </a:r>
            <a:r>
              <a:rPr lang="en-GB" sz="2000" b="1" dirty="0"/>
              <a:t>open-ended questions</a:t>
            </a:r>
            <a:r>
              <a:rPr lang="en-GB" sz="2000" dirty="0"/>
              <a:t> </a:t>
            </a:r>
          </a:p>
          <a:p>
            <a:pPr marL="342900" lvl="0" indent="-342900">
              <a:buFont typeface="Arial" panose="020B0604020202020204" pitchFamily="34" charset="0"/>
              <a:buChar char="•"/>
            </a:pPr>
            <a:r>
              <a:rPr lang="en-GB" sz="2000" dirty="0"/>
              <a:t>Encourage the speaker to explain further </a:t>
            </a:r>
          </a:p>
          <a:p>
            <a:pPr marL="342900" lvl="0" indent="-342900">
              <a:buFont typeface="Arial" panose="020B0604020202020204" pitchFamily="34" charset="0"/>
              <a:buChar char="•"/>
            </a:pPr>
            <a:r>
              <a:rPr lang="en-GB" sz="2000" dirty="0"/>
              <a:t>Don't turn the conversation into an interrogation</a:t>
            </a:r>
          </a:p>
          <a:p>
            <a:pPr marL="342900" lvl="0" indent="-342900">
              <a:buFont typeface="Arial" panose="020B0604020202020204" pitchFamily="34" charset="0"/>
              <a:buChar char="•"/>
            </a:pPr>
            <a:endParaRPr lang="en-GB" sz="2000" dirty="0"/>
          </a:p>
          <a:p>
            <a:pPr marL="342900" lvl="0" indent="-342900">
              <a:buFont typeface="Arial" panose="020B0604020202020204" pitchFamily="34" charset="0"/>
              <a:buChar char="•"/>
            </a:pPr>
            <a:endParaRPr lang="en-GB" sz="2000" dirty="0"/>
          </a:p>
          <a:p>
            <a:pPr>
              <a:buNone/>
            </a:pPr>
            <a:r>
              <a:rPr lang="en-GB" sz="2400" b="1" dirty="0">
                <a:solidFill>
                  <a:srgbClr val="C00000"/>
                </a:solidFill>
              </a:rPr>
              <a:t>Don't Take Over the Conversation</a:t>
            </a:r>
            <a:endParaRPr lang="en-GB" sz="2400" dirty="0">
              <a:solidFill>
                <a:srgbClr val="C00000"/>
              </a:solidFill>
            </a:endParaRPr>
          </a:p>
          <a:p>
            <a:pPr marL="342900" lvl="0" indent="-342900">
              <a:buFont typeface="Arial" panose="020B0604020202020204" pitchFamily="34" charset="0"/>
              <a:buChar char="•"/>
            </a:pPr>
            <a:r>
              <a:rPr lang="en-GB" sz="2000" dirty="0"/>
              <a:t>Keep your responses </a:t>
            </a:r>
            <a:r>
              <a:rPr lang="en-GB" sz="2000" b="1" dirty="0"/>
              <a:t>short and clear</a:t>
            </a:r>
            <a:r>
              <a:rPr lang="en-GB" sz="2000" dirty="0"/>
              <a:t> </a:t>
            </a:r>
          </a:p>
          <a:p>
            <a:pPr marL="342900" lvl="0" indent="-342900">
              <a:buFont typeface="Arial" panose="020B0604020202020204" pitchFamily="34" charset="0"/>
              <a:buChar char="•"/>
            </a:pPr>
            <a:r>
              <a:rPr lang="en-GB" sz="2000" dirty="0"/>
              <a:t>Don't interrupt unnecessarily </a:t>
            </a:r>
          </a:p>
          <a:p>
            <a:pPr marL="342900" lvl="0" indent="-342900">
              <a:buFont typeface="Arial" panose="020B0604020202020204" pitchFamily="34" charset="0"/>
              <a:buChar char="•"/>
            </a:pPr>
            <a:r>
              <a:rPr lang="en-GB" sz="2000" dirty="0"/>
              <a:t>Don't turn every story into </a:t>
            </a:r>
            <a:r>
              <a:rPr lang="en-GB" sz="2000" b="1" dirty="0"/>
              <a:t>your own story</a:t>
            </a:r>
            <a:r>
              <a:rPr lang="en-GB" sz="2000" dirty="0"/>
              <a:t> </a:t>
            </a:r>
          </a:p>
          <a:p>
            <a:pPr marL="342900" lvl="0" indent="-342900">
              <a:buFont typeface="Arial" panose="020B0604020202020204" pitchFamily="34" charset="0"/>
              <a:buChar char="•"/>
            </a:pPr>
            <a:r>
              <a:rPr lang="en-GB" sz="2000" dirty="0"/>
              <a:t>Don't rush to give advice </a:t>
            </a:r>
          </a:p>
          <a:p>
            <a:pPr marL="342900" lvl="0" indent="-342900">
              <a:buFont typeface="Arial" panose="020B0604020202020204" pitchFamily="34" charset="0"/>
              <a:buChar char="•"/>
            </a:pPr>
            <a:r>
              <a:rPr lang="en-GB" sz="2000" dirty="0"/>
              <a:t>Give the speaker space to finish </a:t>
            </a:r>
          </a:p>
          <a:p>
            <a:pPr>
              <a:buNone/>
            </a:pPr>
            <a:r>
              <a:rPr lang="en-GB" sz="2000" b="1" dirty="0"/>
              <a:t>If you are doing most of the talking, you may not be listening.</a:t>
            </a:r>
            <a:endParaRPr lang="en-GB" sz="2000" dirty="0"/>
          </a:p>
          <a:p>
            <a:pPr marL="342900" lvl="0" indent="-342900">
              <a:buFont typeface="Arial" panose="020B0604020202020204" pitchFamily="34" charset="0"/>
              <a:buChar char="•"/>
            </a:pPr>
            <a:endParaRPr lang="en-GB" sz="2000" dirty="0"/>
          </a:p>
        </p:txBody>
      </p:sp>
    </p:spTree>
    <p:extLst>
      <p:ext uri="{BB962C8B-B14F-4D97-AF65-F5344CB8AC3E}">
        <p14:creationId xmlns:p14="http://schemas.microsoft.com/office/powerpoint/2010/main" val="12694353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2E629A-6B4F-278D-FB8E-DA9CAE00ADE0}"/>
              </a:ext>
            </a:extLst>
          </p:cNvPr>
          <p:cNvSpPr txBox="1"/>
          <p:nvPr/>
        </p:nvSpPr>
        <p:spPr>
          <a:xfrm>
            <a:off x="903158" y="197968"/>
            <a:ext cx="6093500" cy="523220"/>
          </a:xfrm>
          <a:prstGeom prst="rect">
            <a:avLst/>
          </a:prstGeom>
          <a:noFill/>
        </p:spPr>
        <p:txBody>
          <a:bodyPr wrap="square">
            <a:spAutoFit/>
          </a:bodyPr>
          <a:lstStyle/>
          <a:p>
            <a:r>
              <a:rPr lang="en-GB" sz="2800" b="1" dirty="0">
                <a:solidFill>
                  <a:srgbClr val="C00000"/>
                </a:solidFill>
              </a:rPr>
              <a:t>Feedback</a:t>
            </a:r>
            <a:endParaRPr lang="en-GB" sz="2800" dirty="0"/>
          </a:p>
        </p:txBody>
      </p:sp>
      <p:sp>
        <p:nvSpPr>
          <p:cNvPr id="5" name="TextBox 4">
            <a:extLst>
              <a:ext uri="{FF2B5EF4-FFF2-40B4-BE49-F238E27FC236}">
                <a16:creationId xmlns:a16="http://schemas.microsoft.com/office/drawing/2014/main" id="{6610ED68-BD42-F2F4-743D-6D0FC34F3828}"/>
              </a:ext>
            </a:extLst>
          </p:cNvPr>
          <p:cNvSpPr txBox="1"/>
          <p:nvPr/>
        </p:nvSpPr>
        <p:spPr>
          <a:xfrm>
            <a:off x="903158" y="812277"/>
            <a:ext cx="9999304" cy="5509200"/>
          </a:xfrm>
          <a:prstGeom prst="rect">
            <a:avLst/>
          </a:prstGeom>
          <a:noFill/>
        </p:spPr>
        <p:txBody>
          <a:bodyPr wrap="square">
            <a:spAutoFit/>
          </a:bodyPr>
          <a:lstStyle/>
          <a:p>
            <a:r>
              <a:rPr lang="en-GB" sz="2200" dirty="0"/>
              <a:t>Judgment and advice</a:t>
            </a:r>
          </a:p>
          <a:p>
            <a:endParaRPr lang="en-GB" sz="2200" dirty="0"/>
          </a:p>
          <a:p>
            <a:r>
              <a:rPr lang="en-GB" sz="2200" dirty="0"/>
              <a:t>“Why might ‘You should practise more’ be a poor first response?”</a:t>
            </a:r>
          </a:p>
          <a:p>
            <a:endParaRPr lang="en-GB" sz="2200" dirty="0"/>
          </a:p>
          <a:p>
            <a:pPr lvl="0"/>
            <a:endParaRPr lang="en-GB" sz="2200" b="1" dirty="0"/>
          </a:p>
          <a:p>
            <a:pPr lvl="0"/>
            <a:r>
              <a:rPr lang="en-GB" sz="2200" b="1" dirty="0"/>
              <a:t>STOP</a:t>
            </a:r>
            <a:r>
              <a:rPr lang="en-GB" sz="2200" dirty="0"/>
              <a:t> — Don't immediately judge. </a:t>
            </a:r>
          </a:p>
          <a:p>
            <a:pPr lvl="0"/>
            <a:endParaRPr lang="en-GB" sz="2200" b="1" dirty="0"/>
          </a:p>
          <a:p>
            <a:pPr lvl="0"/>
            <a:r>
              <a:rPr lang="en-GB" sz="2200" b="1" dirty="0"/>
              <a:t>UNDERSTAND</a:t>
            </a:r>
            <a:r>
              <a:rPr lang="en-GB" sz="2200" dirty="0"/>
              <a:t> — What might this person be feeling? </a:t>
            </a:r>
          </a:p>
          <a:p>
            <a:pPr lvl="0"/>
            <a:endParaRPr lang="en-GB" sz="2200" b="1" dirty="0"/>
          </a:p>
          <a:p>
            <a:pPr lvl="0"/>
            <a:r>
              <a:rPr lang="en-GB" sz="2200" b="1" dirty="0"/>
              <a:t>RESPOND</a:t>
            </a:r>
            <a:r>
              <a:rPr lang="en-GB" sz="2200" dirty="0"/>
              <a:t> — Acknowledge the feeling before giving advice.</a:t>
            </a:r>
          </a:p>
          <a:p>
            <a:endParaRPr lang="en-GB" sz="2200" dirty="0"/>
          </a:p>
          <a:p>
            <a:endParaRPr lang="en-GB" sz="2200" dirty="0"/>
          </a:p>
          <a:p>
            <a:r>
              <a:rPr lang="en-GB" sz="2200" b="1" dirty="0"/>
              <a:t>	Immediate judgment - </a:t>
            </a:r>
            <a:r>
              <a:rPr lang="en-GB" sz="2200" dirty="0"/>
              <a:t>“You should have prepared better.”</a:t>
            </a:r>
          </a:p>
          <a:p>
            <a:endParaRPr lang="en-GB" sz="2200" dirty="0"/>
          </a:p>
          <a:p>
            <a:r>
              <a:rPr lang="en-GB" sz="2200" b="1" dirty="0"/>
              <a:t>	Immediate advice - </a:t>
            </a:r>
            <a:r>
              <a:rPr lang="en-GB" sz="2200" dirty="0"/>
              <a:t>“Just practise more next time.”</a:t>
            </a:r>
          </a:p>
          <a:p>
            <a:endParaRPr lang="en-GB" sz="2200" dirty="0"/>
          </a:p>
        </p:txBody>
      </p:sp>
    </p:spTree>
    <p:extLst>
      <p:ext uri="{BB962C8B-B14F-4D97-AF65-F5344CB8AC3E}">
        <p14:creationId xmlns:p14="http://schemas.microsoft.com/office/powerpoint/2010/main" val="2623100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A77116-7EAE-9A6E-0031-4E9E9AE829C1}"/>
              </a:ext>
            </a:extLst>
          </p:cNvPr>
          <p:cNvSpPr txBox="1"/>
          <p:nvPr/>
        </p:nvSpPr>
        <p:spPr>
          <a:xfrm>
            <a:off x="926123" y="440013"/>
            <a:ext cx="10574216" cy="6278642"/>
          </a:xfrm>
          <a:prstGeom prst="rect">
            <a:avLst/>
          </a:prstGeom>
          <a:noFill/>
        </p:spPr>
        <p:txBody>
          <a:bodyPr wrap="square">
            <a:spAutoFit/>
          </a:bodyPr>
          <a:lstStyle/>
          <a:p>
            <a:pPr>
              <a:buNone/>
            </a:pPr>
            <a:r>
              <a:rPr lang="en-GB" sz="2400" b="1" dirty="0">
                <a:solidFill>
                  <a:srgbClr val="C00000"/>
                </a:solidFill>
              </a:rPr>
              <a:t>Constructive feedback should be:</a:t>
            </a:r>
          </a:p>
          <a:p>
            <a:pPr>
              <a:buNone/>
            </a:pPr>
            <a:endParaRPr lang="en-GB" sz="2200" b="1" dirty="0"/>
          </a:p>
          <a:p>
            <a:pPr>
              <a:buNone/>
            </a:pPr>
            <a:r>
              <a:rPr lang="en-GB" sz="2200" b="1" dirty="0"/>
              <a:t>	Specific</a:t>
            </a:r>
            <a:br>
              <a:rPr lang="en-GB" sz="2200" dirty="0"/>
            </a:br>
            <a:r>
              <a:rPr lang="en-GB" sz="2200" dirty="0"/>
              <a:t>	→ What exactly happened?</a:t>
            </a:r>
          </a:p>
          <a:p>
            <a:pPr>
              <a:buNone/>
            </a:pPr>
            <a:r>
              <a:rPr lang="en-GB" sz="2200" b="1" dirty="0"/>
              <a:t>		Observable</a:t>
            </a:r>
            <a:br>
              <a:rPr lang="en-GB" sz="2200" dirty="0"/>
            </a:br>
            <a:r>
              <a:rPr lang="en-GB" sz="2200" dirty="0"/>
              <a:t>		→ Could another person see/hear the behaviour?</a:t>
            </a:r>
          </a:p>
          <a:p>
            <a:pPr>
              <a:buNone/>
            </a:pPr>
            <a:r>
              <a:rPr lang="en-GB" sz="2200" b="1" dirty="0"/>
              <a:t>			Relevant</a:t>
            </a:r>
            <a:br>
              <a:rPr lang="en-GB" sz="2200" dirty="0"/>
            </a:br>
            <a:r>
              <a:rPr lang="en-GB" sz="2200" dirty="0"/>
              <a:t>			→ Does it matter to the task?</a:t>
            </a:r>
          </a:p>
          <a:p>
            <a:pPr>
              <a:buNone/>
            </a:pPr>
            <a:r>
              <a:rPr lang="en-GB" sz="2200" b="1" dirty="0"/>
              <a:t>				Respectful</a:t>
            </a:r>
            <a:br>
              <a:rPr lang="en-GB" sz="2200" dirty="0"/>
            </a:br>
            <a:r>
              <a:rPr lang="en-GB" sz="2200" dirty="0"/>
              <a:t>				→ Can I say it without attacking the person?</a:t>
            </a:r>
          </a:p>
          <a:p>
            <a:pPr>
              <a:buNone/>
            </a:pPr>
            <a:r>
              <a:rPr lang="en-GB" sz="2200" b="1" dirty="0"/>
              <a:t>					Actionable</a:t>
            </a:r>
            <a:br>
              <a:rPr lang="en-GB" sz="2200" dirty="0"/>
            </a:br>
            <a:r>
              <a:rPr lang="en-GB" sz="2200" dirty="0"/>
              <a:t>					→ Can the person do something with it?</a:t>
            </a:r>
          </a:p>
          <a:p>
            <a:pPr>
              <a:buNone/>
            </a:pPr>
            <a:r>
              <a:rPr lang="en-GB" sz="2200" b="1" dirty="0"/>
              <a:t>						Timely</a:t>
            </a:r>
            <a:br>
              <a:rPr lang="en-GB" sz="2200" dirty="0"/>
            </a:br>
            <a:r>
              <a:rPr lang="en-GB" sz="2200" dirty="0"/>
              <a:t>						→ Is it being given close enough to the 							     event to be useful?</a:t>
            </a:r>
          </a:p>
          <a:p>
            <a:pPr>
              <a:buNone/>
            </a:pPr>
            <a:r>
              <a:rPr lang="en-GB" sz="2200" b="1" dirty="0"/>
              <a:t>							Balanced</a:t>
            </a:r>
            <a:br>
              <a:rPr lang="en-GB" sz="2200" dirty="0"/>
            </a:br>
            <a:r>
              <a:rPr lang="en-GB" sz="2200" dirty="0"/>
              <a:t>							→ Does it recognise what worked 						          as well as what needs improvement?</a:t>
            </a:r>
          </a:p>
        </p:txBody>
      </p:sp>
    </p:spTree>
    <p:extLst>
      <p:ext uri="{BB962C8B-B14F-4D97-AF65-F5344CB8AC3E}">
        <p14:creationId xmlns:p14="http://schemas.microsoft.com/office/powerpoint/2010/main" val="15306322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E8186C-25C8-8D2F-FD21-3EA106381E02}"/>
              </a:ext>
            </a:extLst>
          </p:cNvPr>
          <p:cNvSpPr txBox="1"/>
          <p:nvPr/>
        </p:nvSpPr>
        <p:spPr>
          <a:xfrm>
            <a:off x="844467" y="701747"/>
            <a:ext cx="10264515" cy="3785652"/>
          </a:xfrm>
          <a:prstGeom prst="rect">
            <a:avLst/>
          </a:prstGeom>
          <a:noFill/>
        </p:spPr>
        <p:txBody>
          <a:bodyPr wrap="square">
            <a:spAutoFit/>
          </a:bodyPr>
          <a:lstStyle/>
          <a:p>
            <a:pPr>
              <a:buNone/>
            </a:pPr>
            <a:r>
              <a:rPr lang="en-GB" sz="2000" b="1" dirty="0"/>
              <a:t>“I've been studying so hard, but my marks are still low. Maybe I'm just not good enough.”</a:t>
            </a:r>
          </a:p>
          <a:p>
            <a:pPr>
              <a:buNone/>
            </a:pPr>
            <a:endParaRPr lang="en-GB" sz="2000" dirty="0"/>
          </a:p>
          <a:p>
            <a:pPr>
              <a:buNone/>
            </a:pPr>
            <a:endParaRPr lang="en-GB" sz="2000" dirty="0"/>
          </a:p>
          <a:p>
            <a:pPr>
              <a:buNone/>
            </a:pPr>
            <a:endParaRPr lang="en-GB" sz="2000" dirty="0"/>
          </a:p>
          <a:p>
            <a:pPr>
              <a:buNone/>
            </a:pPr>
            <a:endParaRPr lang="en-GB" sz="2000" dirty="0"/>
          </a:p>
          <a:p>
            <a:pPr>
              <a:buNone/>
            </a:pPr>
            <a:r>
              <a:rPr lang="en-GB" sz="2000" dirty="0"/>
              <a:t>&gt;&gt;&gt;&gt;&gt; “It sounds like you're frustrated because you've been putting in a lot of effort but aren't seeing the results you expected.”</a:t>
            </a:r>
          </a:p>
          <a:p>
            <a:pPr>
              <a:buNone/>
            </a:pPr>
            <a:endParaRPr lang="en-GB" sz="2000" dirty="0"/>
          </a:p>
          <a:p>
            <a:pPr>
              <a:buNone/>
            </a:pPr>
            <a:endParaRPr lang="en-GB" sz="2000" dirty="0"/>
          </a:p>
          <a:p>
            <a:pPr>
              <a:buNone/>
            </a:pPr>
            <a:endParaRPr lang="en-GB" sz="2000" b="1" dirty="0"/>
          </a:p>
          <a:p>
            <a:pPr>
              <a:buNone/>
            </a:pPr>
            <a:endParaRPr lang="en-GB" sz="2000" b="1" dirty="0"/>
          </a:p>
          <a:p>
            <a:pPr>
              <a:buNone/>
            </a:pPr>
            <a:r>
              <a:rPr lang="en-GB" sz="2000" b="1" dirty="0"/>
              <a:t>Recognise emotion + acknowledge experience + avoid judgment/advice</a:t>
            </a:r>
            <a:endParaRPr lang="en-GB" sz="2000" dirty="0"/>
          </a:p>
        </p:txBody>
      </p:sp>
    </p:spTree>
    <p:extLst>
      <p:ext uri="{BB962C8B-B14F-4D97-AF65-F5344CB8AC3E}">
        <p14:creationId xmlns:p14="http://schemas.microsoft.com/office/powerpoint/2010/main" val="1393435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319CCA5-32B3-E0F5-47A7-0656F6F842BA}"/>
              </a:ext>
            </a:extLst>
          </p:cNvPr>
          <p:cNvGraphicFramePr>
            <a:graphicFrameLocks noGrp="1"/>
          </p:cNvGraphicFramePr>
          <p:nvPr>
            <p:extLst>
              <p:ext uri="{D42A27DB-BD31-4B8C-83A1-F6EECF244321}">
                <p14:modId xmlns:p14="http://schemas.microsoft.com/office/powerpoint/2010/main" val="460091430"/>
              </p:ext>
            </p:extLst>
          </p:nvPr>
        </p:nvGraphicFramePr>
        <p:xfrm>
          <a:off x="966315" y="593604"/>
          <a:ext cx="10846866" cy="5308352"/>
        </p:xfrm>
        <a:graphic>
          <a:graphicData uri="http://schemas.openxmlformats.org/drawingml/2006/table">
            <a:tbl>
              <a:tblPr/>
              <a:tblGrid>
                <a:gridCol w="4461470">
                  <a:extLst>
                    <a:ext uri="{9D8B030D-6E8A-4147-A177-3AD203B41FA5}">
                      <a16:colId xmlns:a16="http://schemas.microsoft.com/office/drawing/2014/main" val="2657888651"/>
                    </a:ext>
                  </a:extLst>
                </a:gridCol>
                <a:gridCol w="2074984">
                  <a:extLst>
                    <a:ext uri="{9D8B030D-6E8A-4147-A177-3AD203B41FA5}">
                      <a16:colId xmlns:a16="http://schemas.microsoft.com/office/drawing/2014/main" val="1257454570"/>
                    </a:ext>
                  </a:extLst>
                </a:gridCol>
                <a:gridCol w="4310412">
                  <a:extLst>
                    <a:ext uri="{9D8B030D-6E8A-4147-A177-3AD203B41FA5}">
                      <a16:colId xmlns:a16="http://schemas.microsoft.com/office/drawing/2014/main" val="3863703559"/>
                    </a:ext>
                  </a:extLst>
                </a:gridCol>
              </a:tblGrid>
              <a:tr h="352933">
                <a:tc>
                  <a:txBody>
                    <a:bodyPr/>
                    <a:lstStyle/>
                    <a:p>
                      <a:pPr>
                        <a:buNone/>
                      </a:pPr>
                      <a:r>
                        <a:rPr lang="en-GB" sz="2200" dirty="0">
                          <a:highlight>
                            <a:srgbClr val="C0C0C0"/>
                          </a:highlight>
                        </a:rPr>
                        <a:t>Statement</a:t>
                      </a:r>
                    </a:p>
                  </a:txBody>
                  <a:tcPr marL="88233" marR="88233" marT="44117" marB="44117" anchor="ctr">
                    <a:lnL>
                      <a:noFill/>
                    </a:lnL>
                    <a:lnR>
                      <a:noFill/>
                    </a:lnR>
                    <a:lnT>
                      <a:noFill/>
                    </a:lnT>
                    <a:lnB>
                      <a:noFill/>
                    </a:lnB>
                    <a:noFill/>
                  </a:tcPr>
                </a:tc>
                <a:tc>
                  <a:txBody>
                    <a:bodyPr/>
                    <a:lstStyle/>
                    <a:p>
                      <a:pPr>
                        <a:buNone/>
                      </a:pPr>
                      <a:r>
                        <a:rPr lang="en-GB" sz="2200">
                          <a:highlight>
                            <a:srgbClr val="C0C0C0"/>
                          </a:highlight>
                        </a:rPr>
                        <a:t>Is it feedback?</a:t>
                      </a:r>
                    </a:p>
                  </a:txBody>
                  <a:tcPr marL="88233" marR="88233" marT="44117" marB="44117" anchor="ctr">
                    <a:lnL>
                      <a:noFill/>
                    </a:lnL>
                    <a:lnR>
                      <a:noFill/>
                    </a:lnR>
                    <a:lnT>
                      <a:noFill/>
                    </a:lnT>
                    <a:lnB>
                      <a:noFill/>
                    </a:lnB>
                    <a:noFill/>
                  </a:tcPr>
                </a:tc>
                <a:tc>
                  <a:txBody>
                    <a:bodyPr/>
                    <a:lstStyle/>
                    <a:p>
                      <a:pPr>
                        <a:buNone/>
                      </a:pPr>
                      <a:r>
                        <a:rPr lang="en-GB" sz="2200" dirty="0">
                          <a:highlight>
                            <a:srgbClr val="C0C0C0"/>
                          </a:highlight>
                        </a:rPr>
                        <a:t>Why?</a:t>
                      </a:r>
                    </a:p>
                  </a:txBody>
                  <a:tcPr marL="88233" marR="88233" marT="44117" marB="44117" anchor="ctr">
                    <a:lnL>
                      <a:noFill/>
                    </a:lnL>
                    <a:lnR>
                      <a:noFill/>
                    </a:lnR>
                    <a:lnT>
                      <a:noFill/>
                    </a:lnT>
                    <a:lnB>
                      <a:noFill/>
                    </a:lnB>
                    <a:noFill/>
                  </a:tcPr>
                </a:tc>
                <a:extLst>
                  <a:ext uri="{0D108BD9-81ED-4DB2-BD59-A6C34878D82A}">
                    <a16:rowId xmlns:a16="http://schemas.microsoft.com/office/drawing/2014/main" val="3777634120"/>
                  </a:ext>
                </a:extLst>
              </a:tr>
              <a:tr h="352933">
                <a:tc>
                  <a:txBody>
                    <a:bodyPr/>
                    <a:lstStyle/>
                    <a:p>
                      <a:pPr>
                        <a:buNone/>
                      </a:pPr>
                      <a:r>
                        <a:rPr lang="en-GB" sz="2000"/>
                        <a:t>“Good job!”</a:t>
                      </a:r>
                    </a:p>
                  </a:txBody>
                  <a:tcPr marL="88233" marR="88233" marT="44117" marB="44117" anchor="ctr">
                    <a:lnL>
                      <a:noFill/>
                    </a:lnL>
                    <a:lnR>
                      <a:noFill/>
                    </a:lnR>
                    <a:lnT>
                      <a:noFill/>
                    </a:lnT>
                    <a:lnB>
                      <a:noFill/>
                    </a:lnB>
                    <a:noFill/>
                  </a:tcPr>
                </a:tc>
                <a:tc>
                  <a:txBody>
                    <a:bodyPr/>
                    <a:lstStyle/>
                    <a:p>
                      <a:pPr>
                        <a:buNone/>
                      </a:pPr>
                      <a:r>
                        <a:rPr lang="en-GB" sz="2000" dirty="0"/>
                        <a:t>⚠️ Weak feedback</a:t>
                      </a:r>
                    </a:p>
                  </a:txBody>
                  <a:tcPr marL="88233" marR="88233" marT="44117" marB="44117" anchor="ctr">
                    <a:lnL>
                      <a:noFill/>
                    </a:lnL>
                    <a:lnR>
                      <a:noFill/>
                    </a:lnR>
                    <a:lnT>
                      <a:noFill/>
                    </a:lnT>
                    <a:lnB>
                      <a:noFill/>
                    </a:lnB>
                    <a:noFill/>
                  </a:tcPr>
                </a:tc>
                <a:tc>
                  <a:txBody>
                    <a:bodyPr/>
                    <a:lstStyle/>
                    <a:p>
                      <a:pPr>
                        <a:buNone/>
                      </a:pPr>
                      <a:r>
                        <a:rPr lang="en-GB" sz="2000"/>
                        <a:t>Positive, but not specific</a:t>
                      </a:r>
                    </a:p>
                  </a:txBody>
                  <a:tcPr marL="88233" marR="88233" marT="44117" marB="44117" anchor="ctr">
                    <a:lnL>
                      <a:noFill/>
                    </a:lnL>
                    <a:lnR>
                      <a:noFill/>
                    </a:lnR>
                    <a:lnT>
                      <a:noFill/>
                    </a:lnT>
                    <a:lnB>
                      <a:noFill/>
                    </a:lnB>
                    <a:noFill/>
                  </a:tcPr>
                </a:tc>
                <a:extLst>
                  <a:ext uri="{0D108BD9-81ED-4DB2-BD59-A6C34878D82A}">
                    <a16:rowId xmlns:a16="http://schemas.microsoft.com/office/drawing/2014/main" val="1041579370"/>
                  </a:ext>
                </a:extLst>
              </a:tr>
              <a:tr h="617633">
                <a:tc>
                  <a:txBody>
                    <a:bodyPr/>
                    <a:lstStyle/>
                    <a:p>
                      <a:pPr>
                        <a:buNone/>
                      </a:pPr>
                      <a:r>
                        <a:rPr lang="en-GB" sz="2000" dirty="0"/>
                        <a:t>“Your introduction clearly explained the purpose of your presentation.”</a:t>
                      </a:r>
                    </a:p>
                  </a:txBody>
                  <a:tcPr marL="88233" marR="88233" marT="44117" marB="44117" anchor="ctr">
                    <a:lnL>
                      <a:noFill/>
                    </a:lnL>
                    <a:lnR>
                      <a:noFill/>
                    </a:lnR>
                    <a:lnT>
                      <a:noFill/>
                    </a:lnT>
                    <a:lnB>
                      <a:noFill/>
                    </a:lnB>
                    <a:noFill/>
                  </a:tcPr>
                </a:tc>
                <a:tc>
                  <a:txBody>
                    <a:bodyPr/>
                    <a:lstStyle/>
                    <a:p>
                      <a:pPr>
                        <a:buNone/>
                      </a:pPr>
                      <a:r>
                        <a:rPr lang="en-GB" sz="2000"/>
                        <a:t>✅ Yes</a:t>
                      </a:r>
                    </a:p>
                  </a:txBody>
                  <a:tcPr marL="88233" marR="88233" marT="44117" marB="44117" anchor="ctr">
                    <a:lnL>
                      <a:noFill/>
                    </a:lnL>
                    <a:lnR>
                      <a:noFill/>
                    </a:lnR>
                    <a:lnT>
                      <a:noFill/>
                    </a:lnT>
                    <a:lnB>
                      <a:noFill/>
                    </a:lnB>
                    <a:noFill/>
                  </a:tcPr>
                </a:tc>
                <a:tc>
                  <a:txBody>
                    <a:bodyPr/>
                    <a:lstStyle/>
                    <a:p>
                      <a:pPr>
                        <a:buNone/>
                      </a:pPr>
                      <a:r>
                        <a:rPr lang="en-GB" sz="2000"/>
                        <a:t>Identifies what worked</a:t>
                      </a:r>
                    </a:p>
                  </a:txBody>
                  <a:tcPr marL="88233" marR="88233" marT="44117" marB="44117" anchor="ctr">
                    <a:lnL>
                      <a:noFill/>
                    </a:lnL>
                    <a:lnR>
                      <a:noFill/>
                    </a:lnR>
                    <a:lnT>
                      <a:noFill/>
                    </a:lnT>
                    <a:lnB>
                      <a:noFill/>
                    </a:lnB>
                    <a:noFill/>
                  </a:tcPr>
                </a:tc>
                <a:extLst>
                  <a:ext uri="{0D108BD9-81ED-4DB2-BD59-A6C34878D82A}">
                    <a16:rowId xmlns:a16="http://schemas.microsoft.com/office/drawing/2014/main" val="2538245279"/>
                  </a:ext>
                </a:extLst>
              </a:tr>
              <a:tr h="352933">
                <a:tc>
                  <a:txBody>
                    <a:bodyPr/>
                    <a:lstStyle/>
                    <a:p>
                      <a:pPr>
                        <a:buNone/>
                      </a:pPr>
                      <a:r>
                        <a:rPr lang="en-GB" sz="2000" dirty="0"/>
                        <a:t>“You are careless.”</a:t>
                      </a:r>
                    </a:p>
                  </a:txBody>
                  <a:tcPr marL="88233" marR="88233" marT="44117" marB="44117" anchor="ctr">
                    <a:lnL>
                      <a:noFill/>
                    </a:lnL>
                    <a:lnR>
                      <a:noFill/>
                    </a:lnR>
                    <a:lnT>
                      <a:noFill/>
                    </a:lnT>
                    <a:lnB>
                      <a:noFill/>
                    </a:lnB>
                    <a:noFill/>
                  </a:tcPr>
                </a:tc>
                <a:tc>
                  <a:txBody>
                    <a:bodyPr/>
                    <a:lstStyle/>
                    <a:p>
                      <a:pPr>
                        <a:buNone/>
                      </a:pPr>
                      <a:r>
                        <a:rPr lang="en-GB" sz="2000"/>
                        <a:t>❌ Poor feedback</a:t>
                      </a:r>
                    </a:p>
                  </a:txBody>
                  <a:tcPr marL="88233" marR="88233" marT="44117" marB="44117" anchor="ctr">
                    <a:lnL>
                      <a:noFill/>
                    </a:lnL>
                    <a:lnR>
                      <a:noFill/>
                    </a:lnR>
                    <a:lnT>
                      <a:noFill/>
                    </a:lnT>
                    <a:lnB>
                      <a:noFill/>
                    </a:lnB>
                    <a:noFill/>
                  </a:tcPr>
                </a:tc>
                <a:tc>
                  <a:txBody>
                    <a:bodyPr/>
                    <a:lstStyle/>
                    <a:p>
                      <a:pPr>
                        <a:buNone/>
                      </a:pPr>
                      <a:r>
                        <a:rPr lang="en-GB" sz="2000"/>
                        <a:t>Attacks personality</a:t>
                      </a:r>
                    </a:p>
                  </a:txBody>
                  <a:tcPr marL="88233" marR="88233" marT="44117" marB="44117" anchor="ctr">
                    <a:lnL>
                      <a:noFill/>
                    </a:lnL>
                    <a:lnR>
                      <a:noFill/>
                    </a:lnR>
                    <a:lnT>
                      <a:noFill/>
                    </a:lnT>
                    <a:lnB>
                      <a:noFill/>
                    </a:lnB>
                    <a:noFill/>
                  </a:tcPr>
                </a:tc>
                <a:extLst>
                  <a:ext uri="{0D108BD9-81ED-4DB2-BD59-A6C34878D82A}">
                    <a16:rowId xmlns:a16="http://schemas.microsoft.com/office/drawing/2014/main" val="3797103591"/>
                  </a:ext>
                </a:extLst>
              </a:tr>
              <a:tr h="617633">
                <a:tc>
                  <a:txBody>
                    <a:bodyPr/>
                    <a:lstStyle/>
                    <a:p>
                      <a:pPr>
                        <a:buNone/>
                      </a:pPr>
                      <a:r>
                        <a:rPr lang="en-GB" sz="2000" dirty="0"/>
                        <a:t>“You missed two important points in the second section.”</a:t>
                      </a:r>
                    </a:p>
                  </a:txBody>
                  <a:tcPr marL="88233" marR="88233" marT="44117" marB="44117" anchor="ctr">
                    <a:lnL>
                      <a:noFill/>
                    </a:lnL>
                    <a:lnR>
                      <a:noFill/>
                    </a:lnR>
                    <a:lnT>
                      <a:noFill/>
                    </a:lnT>
                    <a:lnB>
                      <a:noFill/>
                    </a:lnB>
                    <a:noFill/>
                  </a:tcPr>
                </a:tc>
                <a:tc>
                  <a:txBody>
                    <a:bodyPr/>
                    <a:lstStyle/>
                    <a:p>
                      <a:pPr>
                        <a:buNone/>
                      </a:pPr>
                      <a:r>
                        <a:rPr lang="en-GB" sz="2000"/>
                        <a:t>✅ Yes</a:t>
                      </a:r>
                    </a:p>
                  </a:txBody>
                  <a:tcPr marL="88233" marR="88233" marT="44117" marB="44117" anchor="ctr">
                    <a:lnL>
                      <a:noFill/>
                    </a:lnL>
                    <a:lnR>
                      <a:noFill/>
                    </a:lnR>
                    <a:lnT>
                      <a:noFill/>
                    </a:lnT>
                    <a:lnB>
                      <a:noFill/>
                    </a:lnB>
                    <a:noFill/>
                  </a:tcPr>
                </a:tc>
                <a:tc>
                  <a:txBody>
                    <a:bodyPr/>
                    <a:lstStyle/>
                    <a:p>
                      <a:pPr>
                        <a:buNone/>
                      </a:pPr>
                      <a:r>
                        <a:rPr lang="en-GB" sz="2000"/>
                        <a:t>Identifies behaviour/performance</a:t>
                      </a:r>
                    </a:p>
                  </a:txBody>
                  <a:tcPr marL="88233" marR="88233" marT="44117" marB="44117" anchor="ctr">
                    <a:lnL>
                      <a:noFill/>
                    </a:lnL>
                    <a:lnR>
                      <a:noFill/>
                    </a:lnR>
                    <a:lnT>
                      <a:noFill/>
                    </a:lnT>
                    <a:lnB>
                      <a:noFill/>
                    </a:lnB>
                    <a:noFill/>
                  </a:tcPr>
                </a:tc>
                <a:extLst>
                  <a:ext uri="{0D108BD9-81ED-4DB2-BD59-A6C34878D82A}">
                    <a16:rowId xmlns:a16="http://schemas.microsoft.com/office/drawing/2014/main" val="3064683094"/>
                  </a:ext>
                </a:extLst>
              </a:tr>
              <a:tr h="617633">
                <a:tc>
                  <a:txBody>
                    <a:bodyPr/>
                    <a:lstStyle/>
                    <a:p>
                      <a:pPr>
                        <a:buNone/>
                      </a:pPr>
                      <a:r>
                        <a:rPr lang="en-GB" sz="2000"/>
                        <a:t>“You should practise more.”</a:t>
                      </a:r>
                    </a:p>
                  </a:txBody>
                  <a:tcPr marL="88233" marR="88233" marT="44117" marB="44117" anchor="ctr">
                    <a:lnL>
                      <a:noFill/>
                    </a:lnL>
                    <a:lnR>
                      <a:noFill/>
                    </a:lnR>
                    <a:lnT>
                      <a:noFill/>
                    </a:lnT>
                    <a:lnB>
                      <a:noFill/>
                    </a:lnB>
                    <a:noFill/>
                  </a:tcPr>
                </a:tc>
                <a:tc>
                  <a:txBody>
                    <a:bodyPr/>
                    <a:lstStyle/>
                    <a:p>
                      <a:pPr>
                        <a:buNone/>
                      </a:pPr>
                      <a:r>
                        <a:rPr lang="en-GB" sz="2000"/>
                        <a:t>⚠️ Advice</a:t>
                      </a:r>
                    </a:p>
                  </a:txBody>
                  <a:tcPr marL="88233" marR="88233" marT="44117" marB="44117" anchor="ctr">
                    <a:lnL>
                      <a:noFill/>
                    </a:lnL>
                    <a:lnR>
                      <a:noFill/>
                    </a:lnR>
                    <a:lnT>
                      <a:noFill/>
                    </a:lnT>
                    <a:lnB>
                      <a:noFill/>
                    </a:lnB>
                    <a:noFill/>
                  </a:tcPr>
                </a:tc>
                <a:tc>
                  <a:txBody>
                    <a:bodyPr/>
                    <a:lstStyle/>
                    <a:p>
                      <a:pPr>
                        <a:buNone/>
                      </a:pPr>
                      <a:r>
                        <a:rPr lang="en-GB" sz="2000"/>
                        <a:t>Suggests action but gives little information</a:t>
                      </a:r>
                    </a:p>
                  </a:txBody>
                  <a:tcPr marL="88233" marR="88233" marT="44117" marB="44117" anchor="ctr">
                    <a:lnL>
                      <a:noFill/>
                    </a:lnL>
                    <a:lnR>
                      <a:noFill/>
                    </a:lnR>
                    <a:lnT>
                      <a:noFill/>
                    </a:lnT>
                    <a:lnB>
                      <a:noFill/>
                    </a:lnB>
                    <a:noFill/>
                  </a:tcPr>
                </a:tc>
                <a:extLst>
                  <a:ext uri="{0D108BD9-81ED-4DB2-BD59-A6C34878D82A}">
                    <a16:rowId xmlns:a16="http://schemas.microsoft.com/office/drawing/2014/main" val="804742216"/>
                  </a:ext>
                </a:extLst>
              </a:tr>
              <a:tr h="882332">
                <a:tc>
                  <a:txBody>
                    <a:bodyPr/>
                    <a:lstStyle/>
                    <a:p>
                      <a:pPr>
                        <a:buNone/>
                      </a:pPr>
                      <a:r>
                        <a:rPr lang="en-GB" sz="2000"/>
                        <a:t>“Your presentation was difficult to follow because the ideas were not logically ordered.”</a:t>
                      </a:r>
                    </a:p>
                  </a:txBody>
                  <a:tcPr marL="88233" marR="88233" marT="44117" marB="44117" anchor="ctr">
                    <a:lnL>
                      <a:noFill/>
                    </a:lnL>
                    <a:lnR>
                      <a:noFill/>
                    </a:lnR>
                    <a:lnT>
                      <a:noFill/>
                    </a:lnT>
                    <a:lnB>
                      <a:noFill/>
                    </a:lnB>
                    <a:noFill/>
                  </a:tcPr>
                </a:tc>
                <a:tc>
                  <a:txBody>
                    <a:bodyPr/>
                    <a:lstStyle/>
                    <a:p>
                      <a:pPr>
                        <a:buNone/>
                      </a:pPr>
                      <a:r>
                        <a:rPr lang="en-GB" sz="2000"/>
                        <a:t>✅ Yes</a:t>
                      </a:r>
                    </a:p>
                  </a:txBody>
                  <a:tcPr marL="88233" marR="88233" marT="44117" marB="44117" anchor="ctr">
                    <a:lnL>
                      <a:noFill/>
                    </a:lnL>
                    <a:lnR>
                      <a:noFill/>
                    </a:lnR>
                    <a:lnT>
                      <a:noFill/>
                    </a:lnT>
                    <a:lnB>
                      <a:noFill/>
                    </a:lnB>
                    <a:noFill/>
                  </a:tcPr>
                </a:tc>
                <a:tc>
                  <a:txBody>
                    <a:bodyPr/>
                    <a:lstStyle/>
                    <a:p>
                      <a:pPr>
                        <a:buNone/>
                      </a:pPr>
                      <a:r>
                        <a:rPr lang="en-GB" sz="2000"/>
                        <a:t>Specific information about performance</a:t>
                      </a:r>
                    </a:p>
                  </a:txBody>
                  <a:tcPr marL="88233" marR="88233" marT="44117" marB="44117" anchor="ctr">
                    <a:lnL>
                      <a:noFill/>
                    </a:lnL>
                    <a:lnR>
                      <a:noFill/>
                    </a:lnR>
                    <a:lnT>
                      <a:noFill/>
                    </a:lnT>
                    <a:lnB>
                      <a:noFill/>
                    </a:lnB>
                    <a:noFill/>
                  </a:tcPr>
                </a:tc>
                <a:extLst>
                  <a:ext uri="{0D108BD9-81ED-4DB2-BD59-A6C34878D82A}">
                    <a16:rowId xmlns:a16="http://schemas.microsoft.com/office/drawing/2014/main" val="3994600218"/>
                  </a:ext>
                </a:extLst>
              </a:tr>
              <a:tr h="617633">
                <a:tc>
                  <a:txBody>
                    <a:bodyPr/>
                    <a:lstStyle/>
                    <a:p>
                      <a:pPr>
                        <a:buNone/>
                      </a:pPr>
                      <a:r>
                        <a:rPr lang="en-GB" sz="2000"/>
                        <a:t>“Excellent!”</a:t>
                      </a:r>
                    </a:p>
                  </a:txBody>
                  <a:tcPr marL="88233" marR="88233" marT="44117" marB="44117" anchor="ctr">
                    <a:lnL>
                      <a:noFill/>
                    </a:lnL>
                    <a:lnR>
                      <a:noFill/>
                    </a:lnR>
                    <a:lnT>
                      <a:noFill/>
                    </a:lnT>
                    <a:lnB>
                      <a:noFill/>
                    </a:lnB>
                    <a:noFill/>
                  </a:tcPr>
                </a:tc>
                <a:tc>
                  <a:txBody>
                    <a:bodyPr/>
                    <a:lstStyle/>
                    <a:p>
                      <a:pPr>
                        <a:buNone/>
                      </a:pPr>
                      <a:r>
                        <a:rPr lang="en-GB" sz="2000"/>
                        <a:t>⚠️ Praise</a:t>
                      </a:r>
                    </a:p>
                  </a:txBody>
                  <a:tcPr marL="88233" marR="88233" marT="44117" marB="44117" anchor="ctr">
                    <a:lnL>
                      <a:noFill/>
                    </a:lnL>
                    <a:lnR>
                      <a:noFill/>
                    </a:lnR>
                    <a:lnT>
                      <a:noFill/>
                    </a:lnT>
                    <a:lnB>
                      <a:noFill/>
                    </a:lnB>
                    <a:noFill/>
                  </a:tcPr>
                </a:tc>
                <a:tc>
                  <a:txBody>
                    <a:bodyPr/>
                    <a:lstStyle/>
                    <a:p>
                      <a:pPr>
                        <a:buNone/>
                      </a:pPr>
                      <a:r>
                        <a:rPr lang="en-GB" sz="2000" dirty="0"/>
                        <a:t>Positive evaluation, but little useful information</a:t>
                      </a:r>
                    </a:p>
                  </a:txBody>
                  <a:tcPr marL="88233" marR="88233" marT="44117" marB="44117" anchor="ctr">
                    <a:lnL>
                      <a:noFill/>
                    </a:lnL>
                    <a:lnR>
                      <a:noFill/>
                    </a:lnR>
                    <a:lnT>
                      <a:noFill/>
                    </a:lnT>
                    <a:lnB>
                      <a:noFill/>
                    </a:lnB>
                    <a:noFill/>
                  </a:tcPr>
                </a:tc>
                <a:extLst>
                  <a:ext uri="{0D108BD9-81ED-4DB2-BD59-A6C34878D82A}">
                    <a16:rowId xmlns:a16="http://schemas.microsoft.com/office/drawing/2014/main" val="1797729333"/>
                  </a:ext>
                </a:extLst>
              </a:tr>
            </a:tbl>
          </a:graphicData>
        </a:graphic>
      </p:graphicFrame>
    </p:spTree>
    <p:extLst>
      <p:ext uri="{BB962C8B-B14F-4D97-AF65-F5344CB8AC3E}">
        <p14:creationId xmlns:p14="http://schemas.microsoft.com/office/powerpoint/2010/main" val="281110231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06289E-AE71-EAC9-D46D-1616E9FAA9BE}"/>
              </a:ext>
            </a:extLst>
          </p:cNvPr>
          <p:cNvSpPr txBox="1"/>
          <p:nvPr/>
        </p:nvSpPr>
        <p:spPr>
          <a:xfrm>
            <a:off x="649357" y="496383"/>
            <a:ext cx="6096000" cy="461665"/>
          </a:xfrm>
          <a:prstGeom prst="rect">
            <a:avLst/>
          </a:prstGeom>
          <a:noFill/>
        </p:spPr>
        <p:txBody>
          <a:bodyPr wrap="square">
            <a:spAutoFit/>
          </a:bodyPr>
          <a:lstStyle/>
          <a:p>
            <a:r>
              <a:rPr lang="en-US" sz="2400" dirty="0">
                <a:solidFill>
                  <a:srgbClr val="C00000"/>
                </a:solidFill>
              </a:rPr>
              <a:t>Note Taking </a:t>
            </a:r>
          </a:p>
        </p:txBody>
      </p:sp>
      <p:sp>
        <p:nvSpPr>
          <p:cNvPr id="5" name="TextBox 4">
            <a:extLst>
              <a:ext uri="{FF2B5EF4-FFF2-40B4-BE49-F238E27FC236}">
                <a16:creationId xmlns:a16="http://schemas.microsoft.com/office/drawing/2014/main" id="{82C8D3F4-31B9-E920-1D66-69CB207B0572}"/>
              </a:ext>
            </a:extLst>
          </p:cNvPr>
          <p:cNvSpPr txBox="1"/>
          <p:nvPr/>
        </p:nvSpPr>
        <p:spPr>
          <a:xfrm>
            <a:off x="649357" y="1550579"/>
            <a:ext cx="3896139" cy="4493538"/>
          </a:xfrm>
          <a:prstGeom prst="rect">
            <a:avLst/>
          </a:prstGeom>
          <a:noFill/>
        </p:spPr>
        <p:txBody>
          <a:bodyPr wrap="square">
            <a:spAutoFit/>
          </a:bodyPr>
          <a:lstStyle/>
          <a:p>
            <a:pPr>
              <a:buNone/>
            </a:pPr>
            <a:r>
              <a:rPr lang="en-GB" sz="2200" b="1" dirty="0"/>
              <a:t>1. Listen</a:t>
            </a:r>
            <a:br>
              <a:rPr lang="en-GB" sz="2200" dirty="0"/>
            </a:br>
            <a:r>
              <a:rPr lang="en-GB" sz="2200" dirty="0"/>
              <a:t>Pay full attention to the speaker.</a:t>
            </a:r>
          </a:p>
          <a:p>
            <a:pPr>
              <a:buNone/>
            </a:pPr>
            <a:r>
              <a:rPr lang="en-GB" sz="2200" b="1" dirty="0"/>
              <a:t>2. Identify</a:t>
            </a:r>
            <a:br>
              <a:rPr lang="en-GB" sz="2200" dirty="0"/>
            </a:br>
            <a:r>
              <a:rPr lang="en-GB" sz="2200" dirty="0"/>
              <a:t>Recognise the main points.</a:t>
            </a:r>
          </a:p>
          <a:p>
            <a:pPr>
              <a:buNone/>
            </a:pPr>
            <a:r>
              <a:rPr lang="en-GB" sz="2200" b="1" dirty="0"/>
              <a:t>3. Select</a:t>
            </a:r>
            <a:br>
              <a:rPr lang="en-GB" sz="2200" dirty="0"/>
            </a:br>
            <a:r>
              <a:rPr lang="en-GB" sz="2200" dirty="0"/>
              <a:t>Decide what is important enough to record.</a:t>
            </a:r>
          </a:p>
          <a:p>
            <a:pPr>
              <a:buNone/>
            </a:pPr>
            <a:r>
              <a:rPr lang="en-GB" sz="2200" b="1" dirty="0"/>
              <a:t>4. Note</a:t>
            </a:r>
            <a:br>
              <a:rPr lang="en-GB" sz="2200" dirty="0"/>
            </a:br>
            <a:r>
              <a:rPr lang="en-GB" sz="2200" dirty="0"/>
              <a:t>Write keywords and short phrases.</a:t>
            </a:r>
          </a:p>
          <a:p>
            <a:pPr>
              <a:buNone/>
            </a:pPr>
            <a:r>
              <a:rPr lang="en-GB" sz="2200" b="1" dirty="0"/>
              <a:t>5. Review</a:t>
            </a:r>
            <a:br>
              <a:rPr lang="en-GB" sz="2200" dirty="0"/>
            </a:br>
            <a:r>
              <a:rPr lang="en-GB" sz="2200" dirty="0"/>
              <a:t>Complete/correct your notes soon after the lecture.</a:t>
            </a:r>
          </a:p>
        </p:txBody>
      </p:sp>
      <p:sp>
        <p:nvSpPr>
          <p:cNvPr id="7" name="TextBox 6">
            <a:extLst>
              <a:ext uri="{FF2B5EF4-FFF2-40B4-BE49-F238E27FC236}">
                <a16:creationId xmlns:a16="http://schemas.microsoft.com/office/drawing/2014/main" id="{519FB091-490F-256E-DF9B-F5CCF3785981}"/>
              </a:ext>
            </a:extLst>
          </p:cNvPr>
          <p:cNvSpPr txBox="1"/>
          <p:nvPr/>
        </p:nvSpPr>
        <p:spPr>
          <a:xfrm>
            <a:off x="6891130" y="727215"/>
            <a:ext cx="4757530" cy="5509200"/>
          </a:xfrm>
          <a:prstGeom prst="rect">
            <a:avLst/>
          </a:prstGeom>
          <a:noFill/>
        </p:spPr>
        <p:txBody>
          <a:bodyPr wrap="square">
            <a:spAutoFit/>
          </a:bodyPr>
          <a:lstStyle/>
          <a:p>
            <a:pPr>
              <a:buNone/>
            </a:pPr>
            <a:r>
              <a:rPr lang="en-GB" sz="2200" b="1" dirty="0"/>
              <a:t>What should you note?</a:t>
            </a:r>
          </a:p>
          <a:p>
            <a:pPr>
              <a:buNone/>
            </a:pPr>
            <a:r>
              <a:rPr lang="en-GB" sz="2200" b="1" dirty="0"/>
              <a:t>Don't try to write everything!</a:t>
            </a:r>
          </a:p>
          <a:p>
            <a:pPr>
              <a:buNone/>
            </a:pPr>
            <a:r>
              <a:rPr lang="en-GB" sz="2200" b="1" dirty="0"/>
              <a:t>Note:</a:t>
            </a:r>
            <a:endParaRPr lang="en-GB" sz="2200" dirty="0"/>
          </a:p>
          <a:p>
            <a:pPr marL="342900" lvl="0" indent="-342900">
              <a:buFont typeface="Arial" panose="020B0604020202020204" pitchFamily="34" charset="0"/>
              <a:buChar char="•"/>
            </a:pPr>
            <a:r>
              <a:rPr lang="en-GB" sz="2200" dirty="0"/>
              <a:t>Main ideas </a:t>
            </a:r>
          </a:p>
          <a:p>
            <a:pPr marL="342900" lvl="0" indent="-342900">
              <a:buFont typeface="Arial" panose="020B0604020202020204" pitchFamily="34" charset="0"/>
              <a:buChar char="•"/>
            </a:pPr>
            <a:r>
              <a:rPr lang="en-GB" sz="2200" dirty="0"/>
              <a:t>Supporting points </a:t>
            </a:r>
          </a:p>
          <a:p>
            <a:pPr marL="342900" lvl="0" indent="-342900">
              <a:buFont typeface="Arial" panose="020B0604020202020204" pitchFamily="34" charset="0"/>
              <a:buChar char="•"/>
            </a:pPr>
            <a:r>
              <a:rPr lang="en-GB" sz="2200" dirty="0"/>
              <a:t>Important examples </a:t>
            </a:r>
          </a:p>
          <a:p>
            <a:pPr marL="342900" lvl="0" indent="-342900">
              <a:buFont typeface="Arial" panose="020B0604020202020204" pitchFamily="34" charset="0"/>
              <a:buChar char="•"/>
            </a:pPr>
            <a:r>
              <a:rPr lang="en-GB" sz="2200" dirty="0"/>
              <a:t>Definitions </a:t>
            </a:r>
          </a:p>
          <a:p>
            <a:pPr marL="342900" lvl="0" indent="-342900">
              <a:buFont typeface="Arial" panose="020B0604020202020204" pitchFamily="34" charset="0"/>
              <a:buChar char="•"/>
            </a:pPr>
            <a:r>
              <a:rPr lang="en-GB" sz="2200" dirty="0"/>
              <a:t>Evidence </a:t>
            </a:r>
          </a:p>
          <a:p>
            <a:pPr marL="342900" lvl="0" indent="-342900">
              <a:buFont typeface="Arial" panose="020B0604020202020204" pitchFamily="34" charset="0"/>
              <a:buChar char="•"/>
            </a:pPr>
            <a:r>
              <a:rPr lang="en-GB" sz="2200" dirty="0"/>
              <a:t>Important quotations </a:t>
            </a:r>
          </a:p>
          <a:p>
            <a:pPr marL="342900" lvl="0" indent="-342900">
              <a:buFont typeface="Arial" panose="020B0604020202020204" pitchFamily="34" charset="0"/>
              <a:buChar char="•"/>
            </a:pPr>
            <a:r>
              <a:rPr lang="en-GB" sz="2200" dirty="0"/>
              <a:t>Conclusions/summaries </a:t>
            </a:r>
          </a:p>
          <a:p>
            <a:pPr>
              <a:buNone/>
            </a:pPr>
            <a:r>
              <a:rPr lang="en-GB" sz="2200" b="1" dirty="0"/>
              <a:t>Don't automatically copy:</a:t>
            </a:r>
            <a:endParaRPr lang="en-GB" sz="2200" dirty="0"/>
          </a:p>
          <a:p>
            <a:pPr marL="342900" lvl="0" indent="-342900">
              <a:buFont typeface="Arial" panose="020B0604020202020204" pitchFamily="34" charset="0"/>
              <a:buChar char="•"/>
            </a:pPr>
            <a:r>
              <a:rPr lang="en-GB" sz="2200" dirty="0"/>
              <a:t>Every sentence </a:t>
            </a:r>
          </a:p>
          <a:p>
            <a:pPr marL="342900" lvl="0" indent="-342900">
              <a:buFont typeface="Arial" panose="020B0604020202020204" pitchFamily="34" charset="0"/>
              <a:buChar char="•"/>
            </a:pPr>
            <a:r>
              <a:rPr lang="en-GB" sz="2200" dirty="0"/>
              <a:t>Every example </a:t>
            </a:r>
          </a:p>
          <a:p>
            <a:pPr marL="342900" lvl="0" indent="-342900">
              <a:buFont typeface="Arial" panose="020B0604020202020204" pitchFamily="34" charset="0"/>
              <a:buChar char="•"/>
            </a:pPr>
            <a:r>
              <a:rPr lang="en-GB" sz="2200" dirty="0"/>
              <a:t>Every word on a slide </a:t>
            </a:r>
          </a:p>
          <a:p>
            <a:pPr>
              <a:buNone/>
            </a:pPr>
            <a:r>
              <a:rPr lang="en-GB" sz="2200" b="1" dirty="0"/>
              <a:t>Important principle</a:t>
            </a:r>
          </a:p>
          <a:p>
            <a:pPr>
              <a:buNone/>
            </a:pPr>
            <a:r>
              <a:rPr lang="en-GB" sz="2200" b="1" dirty="0"/>
              <a:t>Notes are not a transcript.</a:t>
            </a:r>
            <a:endParaRPr lang="en-GB" sz="2200" dirty="0"/>
          </a:p>
        </p:txBody>
      </p:sp>
    </p:spTree>
    <p:extLst>
      <p:ext uri="{BB962C8B-B14F-4D97-AF65-F5344CB8AC3E}">
        <p14:creationId xmlns:p14="http://schemas.microsoft.com/office/powerpoint/2010/main" val="373315021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we="http://schemas.microsoft.com/office/webextensions/webextension/2010/11" xmlns:pca="http://schemas.microsoft.com/office/powerpoint/2013/contentapp">
        <mc:Choice Requires="we pca">
          <p:graphicFrame>
            <p:nvGraphicFramePr>
              <p:cNvPr id="3" name="Add-in 2" title="Breaktime">
                <a:extLst>
                  <a:ext uri="{FF2B5EF4-FFF2-40B4-BE49-F238E27FC236}">
                    <a16:creationId xmlns:a16="http://schemas.microsoft.com/office/drawing/2014/main" id="{3FCCAE90-0407-1683-BA23-78310942E6A5}"/>
                  </a:ext>
                </a:extLst>
              </p:cNvPr>
              <p:cNvGraphicFramePr>
                <a:graphicFrameLocks noGrp="1"/>
              </p:cNvGraphicFramePr>
              <p:nvPr>
                <p:extLst>
                  <p:ext uri="{D42A27DB-BD31-4B8C-83A1-F6EECF244321}">
                    <p14:modId xmlns:p14="http://schemas.microsoft.com/office/powerpoint/2010/main" val="3956414922"/>
                  </p:ext>
                </p:extLst>
              </p:nvPr>
            </p:nvGraphicFramePr>
            <p:xfrm>
              <a:off x="1758695" y="780287"/>
              <a:ext cx="7971038" cy="4273052"/>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3" name="Add-in 2" title="Breaktime">
                <a:extLst>
                  <a:ext uri="{FF2B5EF4-FFF2-40B4-BE49-F238E27FC236}">
                    <a16:creationId xmlns:a16="http://schemas.microsoft.com/office/drawing/2014/main" id="{3FCCAE90-0407-1683-BA23-78310942E6A5}"/>
                  </a:ext>
                </a:extLst>
              </p:cNvPr>
              <p:cNvPicPr>
                <a:picLocks noGrp="1" noRot="1" noChangeAspect="1" noMove="1" noResize="1" noEditPoints="1" noAdjustHandles="1" noChangeArrowheads="1" noChangeShapeType="1"/>
              </p:cNvPicPr>
              <p:nvPr/>
            </p:nvPicPr>
            <p:blipFill>
              <a:blip r:embed="rId3"/>
              <a:stretch>
                <a:fillRect/>
              </a:stretch>
            </p:blipFill>
            <p:spPr>
              <a:xfrm>
                <a:off x="1758695" y="780287"/>
                <a:ext cx="7971038" cy="4273052"/>
              </a:xfrm>
              <a:prstGeom prst="rect">
                <a:avLst/>
              </a:prstGeom>
            </p:spPr>
          </p:pic>
        </mc:Fallback>
      </mc:AlternateContent>
    </p:spTree>
    <p:extLst>
      <p:ext uri="{BB962C8B-B14F-4D97-AF65-F5344CB8AC3E}">
        <p14:creationId xmlns:p14="http://schemas.microsoft.com/office/powerpoint/2010/main" val="1093315812"/>
      </p:ext>
    </p:extLst>
  </p:cSld>
  <p:clrMapOvr>
    <a:masterClrMapping/>
  </p:clrMapOvr>
</p:sld>
</file>

<file path=ppt/theme/theme1.xml><?xml version="1.0" encoding="utf-8"?>
<a:theme xmlns:a="http://schemas.openxmlformats.org/drawingml/2006/main" name="Lines">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73C0D9B4-D252-4142-B71F-89E39AB3FA27}" vid="{AF756BC4-928A-4ACB-8AC0-2FBFD00AF4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33.png"/></Relationships>
</file>

<file path=ppt/webextensions/webextension1.xml><?xml version="1.0" encoding="utf-8"?>
<we:webextension xmlns:we="http://schemas.microsoft.com/office/webextensions/webextension/2010/11" id="{0E3BC0EA-1D41-47E2-8A79-0C4BE2998044}">
  <we:reference id="wa200001661" version="3.1.2.0" store="en-US" storeType="OMEX"/>
  <we:alternateReferences>
    <we:reference id="wa200001661" version="3.1.2.0" store="wa200001661" storeType="OMEX"/>
  </we:alternateReferences>
  <we:properties>
    <we:property name="breaktime.flosim.com_fontColour" value="null"/>
    <we:property name="breaktime.flosim.com_startMinutes" value="1"/>
    <we:property name="breaktime.flosim.com_time" value="60"/>
    <we:property name="time" value="60"/>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Lines</Template>
  <TotalTime>8156</TotalTime>
  <Words>11686</Words>
  <Application>Microsoft Office PowerPoint</Application>
  <PresentationFormat>Widescreen</PresentationFormat>
  <Paragraphs>1286</Paragraphs>
  <Slides>99</Slides>
  <Notes>58</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99</vt:i4>
      </vt:variant>
    </vt:vector>
  </HeadingPairs>
  <TitlesOfParts>
    <vt:vector size="114" baseType="lpstr">
      <vt:lpstr>ACaslonPro-Bold</vt:lpstr>
      <vt:lpstr>ACaslonPro-Regular</vt:lpstr>
      <vt:lpstr>Aptos</vt:lpstr>
      <vt:lpstr>Arial</vt:lpstr>
      <vt:lpstr>Calibri</vt:lpstr>
      <vt:lpstr>Google Sans</vt:lpstr>
      <vt:lpstr>LiberationSerif</vt:lpstr>
      <vt:lpstr>Perpetua</vt:lpstr>
      <vt:lpstr>times new roman</vt:lpstr>
      <vt:lpstr>times new roman</vt:lpstr>
      <vt:lpstr>times new roman, times, serif</vt:lpstr>
      <vt:lpstr>Times-Roman</vt:lpstr>
      <vt:lpstr>Work Sans</vt:lpstr>
      <vt:lpstr>ZapfDingbats</vt:lpstr>
      <vt:lpstr>Lines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Chaudhari</dc:creator>
  <cp:lastModifiedBy>Akshay Chaudhari</cp:lastModifiedBy>
  <cp:revision>65</cp:revision>
  <dcterms:created xsi:type="dcterms:W3CDTF">2026-08-17T07:29:56Z</dcterms:created>
  <dcterms:modified xsi:type="dcterms:W3CDTF">2026-09-08T05:36:10Z</dcterms:modified>
</cp:coreProperties>
</file>